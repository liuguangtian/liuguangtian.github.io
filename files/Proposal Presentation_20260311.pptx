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69" r:id="rId2"/>
    <p:sldId id="261" r:id="rId3"/>
    <p:sldId id="264" r:id="rId4"/>
    <p:sldId id="265" r:id="rId5"/>
    <p:sldId id="263" r:id="rId6"/>
    <p:sldId id="259" r:id="rId7"/>
    <p:sldId id="266" r:id="rId8"/>
    <p:sldId id="267" r:id="rId9"/>
    <p:sldId id="268" r:id="rId10"/>
    <p:sldId id="273" r:id="rId11"/>
    <p:sldId id="27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E64"/>
    <a:srgbClr val="FFFFFF"/>
    <a:srgbClr val="E8E8E8"/>
    <a:srgbClr val="173F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090" autoAdjust="0"/>
  </p:normalViewPr>
  <p:slideViewPr>
    <p:cSldViewPr snapToGrid="0">
      <p:cViewPr varScale="1">
        <p:scale>
          <a:sx n="55" d="100"/>
          <a:sy n="55" d="100"/>
        </p:scale>
        <p:origin x="1354" y="51"/>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17D0B2-462E-4B72-BAEC-A5D99A1DE591}" type="datetimeFigureOut">
              <a:rPr lang="zh-CN" altLang="en-US" smtClean="0"/>
              <a:t>2026/3/11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7A1E4-B503-4197-BF28-554B36E2F436}" type="slidenum">
              <a:rPr lang="zh-CN" altLang="en-US" smtClean="0"/>
              <a:t>‹#›</a:t>
            </a:fld>
            <a:endParaRPr lang="zh-CN" altLang="en-US"/>
          </a:p>
        </p:txBody>
      </p:sp>
    </p:spTree>
    <p:extLst>
      <p:ext uri="{BB962C8B-B14F-4D97-AF65-F5344CB8AC3E}">
        <p14:creationId xmlns:p14="http://schemas.microsoft.com/office/powerpoint/2010/main" val="2218925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Hello,everyone</a:t>
            </a:r>
            <a:r>
              <a:rPr lang="en-US" altLang="zh-CN" dirty="0"/>
              <a:t>. We are group2, and we focus on dexterous right hand. So our project is about </a:t>
            </a:r>
            <a:r>
              <a:rPr lang="en-US" altLang="zh-CN" sz="1200" b="1" dirty="0">
                <a:solidFill>
                  <a:schemeClr val="accent4">
                    <a:lumMod val="60000"/>
                    <a:lumOff val="40000"/>
                  </a:schemeClr>
                </a:solidFill>
                <a:latin typeface="Eras Demi ITC" panose="020B0805030504020804" pitchFamily="34" charset="0"/>
                <a:ea typeface="阿里巴巴普惠体 2.0 95 ExtraBold" panose="00020600040101010101" pitchFamily="18" charset="-122"/>
              </a:rPr>
              <a:t>Development and Validation of a Dexterous Hand System which designed by the robot studio</a:t>
            </a:r>
          </a:p>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1</a:t>
            </a:fld>
            <a:endParaRPr lang="zh-CN" altLang="en-US"/>
          </a:p>
        </p:txBody>
      </p:sp>
    </p:spTree>
    <p:extLst>
      <p:ext uri="{BB962C8B-B14F-4D97-AF65-F5344CB8AC3E}">
        <p14:creationId xmlns:p14="http://schemas.microsoft.com/office/powerpoint/2010/main" val="3822498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2BED-A2EF-4B6B-BA9E-FB0EA17C01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5F6C36-0101-43EB-40A4-3869EFD8D97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27CD545-6F86-8799-181A-0D00BA079BD9}"/>
              </a:ext>
            </a:extLst>
          </p:cNvPr>
          <p:cNvSpPr>
            <a:spLocks noGrp="1"/>
          </p:cNvSpPr>
          <p:nvPr>
            <p:ph type="body" idx="1"/>
          </p:nvPr>
        </p:nvSpPr>
        <p:spPr/>
        <p:txBody>
          <a:bodyPr/>
          <a:lstStyle/>
          <a:p>
            <a:r>
              <a:rPr lang="en-US" altLang="zh-CN" dirty="0"/>
              <a:t>DexHand is an open-source bionic dexterous hand project with solid hardware, software, and ROS2 simulation support. </a:t>
            </a:r>
          </a:p>
          <a:p>
            <a:r>
              <a:rPr lang="en-US" altLang="zh-CN" dirty="0"/>
              <a:t>It also supports 3D-printed fabrication and offers low cost, good reproducibility, and strong scalability, making it suitable for secondary development. </a:t>
            </a:r>
          </a:p>
          <a:p>
            <a:r>
              <a:rPr lang="en-US" altLang="zh-CN" dirty="0"/>
              <a:t>Therefore, we chose it as our reference project. The physical DexHand prototype is shown on the right.</a:t>
            </a:r>
          </a:p>
          <a:p>
            <a:r>
              <a:rPr lang="en-US" altLang="zh-CN" dirty="0"/>
              <a:t>DexHand </a:t>
            </a:r>
            <a:r>
              <a:rPr lang="zh-CN" altLang="en-US" dirty="0"/>
              <a:t>是一个开源的仿生灵巧手项目，其发展时间较长，具备较完整的硬件基础、软件生态以及 </a:t>
            </a:r>
            <a:r>
              <a:rPr lang="en-US" altLang="zh-CN" dirty="0"/>
              <a:t>ROS </a:t>
            </a:r>
            <a:r>
              <a:rPr lang="zh-CN" altLang="en-US" dirty="0"/>
              <a:t>仿真支持</a:t>
            </a:r>
            <a:r>
              <a:rPr lang="en-US" altLang="zh-CN" dirty="0"/>
              <a:t>.</a:t>
            </a:r>
          </a:p>
          <a:p>
            <a:r>
              <a:rPr lang="zh-CN" altLang="en-US" dirty="0"/>
              <a:t>并支持 </a:t>
            </a:r>
            <a:r>
              <a:rPr lang="en-US" altLang="zh-CN" dirty="0"/>
              <a:t>3D </a:t>
            </a:r>
            <a:r>
              <a:rPr lang="zh-CN" altLang="en-US" dirty="0"/>
              <a:t>打印制造。项目兼顾低成本、可复现性与可扩展性，适用于二次开发，</a:t>
            </a:r>
            <a:endParaRPr lang="en-US" altLang="zh-CN" dirty="0"/>
          </a:p>
          <a:p>
            <a:r>
              <a:rPr lang="zh-CN" altLang="en-US" dirty="0"/>
              <a:t>所以我们选择这个项目作为参考。右侧是</a:t>
            </a:r>
            <a:r>
              <a:rPr lang="en-US" altLang="zh-CN" dirty="0" err="1"/>
              <a:t>dexhand</a:t>
            </a:r>
            <a:r>
              <a:rPr lang="zh-CN" altLang="en-US" dirty="0"/>
              <a:t>灵巧手实物图。</a:t>
            </a:r>
          </a:p>
        </p:txBody>
      </p:sp>
      <p:sp>
        <p:nvSpPr>
          <p:cNvPr id="4" name="灯片编号占位符 3">
            <a:extLst>
              <a:ext uri="{FF2B5EF4-FFF2-40B4-BE49-F238E27FC236}">
                <a16:creationId xmlns:a16="http://schemas.microsoft.com/office/drawing/2014/main" id="{6BDE02BA-2231-947C-79A6-AF2982590F1C}"/>
              </a:ext>
            </a:extLst>
          </p:cNvPr>
          <p:cNvSpPr>
            <a:spLocks noGrp="1"/>
          </p:cNvSpPr>
          <p:nvPr>
            <p:ph type="sldNum" sz="quarter" idx="5"/>
          </p:nvPr>
        </p:nvSpPr>
        <p:spPr/>
        <p:txBody>
          <a:bodyPr/>
          <a:lstStyle/>
          <a:p>
            <a:fld id="{2137A1E4-B503-4197-BF28-554B36E2F436}" type="slidenum">
              <a:rPr lang="zh-CN" altLang="en-US" smtClean="0"/>
              <a:t>2</a:t>
            </a:fld>
            <a:endParaRPr lang="zh-CN" altLang="en-US"/>
          </a:p>
        </p:txBody>
      </p:sp>
    </p:spTree>
    <p:extLst>
      <p:ext uri="{BB962C8B-B14F-4D97-AF65-F5344CB8AC3E}">
        <p14:creationId xmlns:p14="http://schemas.microsoft.com/office/powerpoint/2010/main" val="558265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24C49-2E5A-9F2D-2AEB-D4CBC808D6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D81793-1014-8273-4042-D8D587FFC5F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8635D5-F40E-D73E-C84A-0E4C7E46A8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左图</a:t>
            </a:r>
            <a:r>
              <a:rPr lang="en-US" altLang="zh-CN" dirty="0" err="1"/>
              <a:t>dexhand</a:t>
            </a:r>
            <a:r>
              <a:rPr lang="zh-CN" altLang="en-US" dirty="0"/>
              <a:t>的机械结构，其主要有手指，手掌，手腕，前臂组成。它有五根手指，每根手指有三节，由</a:t>
            </a:r>
            <a:r>
              <a:rPr lang="en-US" altLang="zh-CN" dirty="0"/>
              <a:t>tendon-driven</a:t>
            </a:r>
            <a:r>
              <a:rPr lang="zh-CN" altLang="en-US" dirty="0"/>
              <a:t>；关于</a:t>
            </a:r>
            <a:r>
              <a:rPr lang="en-US" altLang="zh-CN" dirty="0" err="1"/>
              <a:t>dexhand</a:t>
            </a:r>
            <a:r>
              <a:rPr lang="zh-CN" altLang="en-US" dirty="0"/>
              <a:t>自由度，每根手指有 </a:t>
            </a:r>
            <a:r>
              <a:rPr lang="en-US" altLang="zh-CN" dirty="0"/>
              <a:t>3</a:t>
            </a:r>
            <a:r>
              <a:rPr lang="zh-CN" altLang="en-US" dirty="0"/>
              <a:t>个自由组，手腕有</a:t>
            </a:r>
            <a:r>
              <a:rPr lang="en-US" altLang="zh-CN" dirty="0"/>
              <a:t>3</a:t>
            </a:r>
            <a:r>
              <a:rPr lang="zh-CN" altLang="en-US" dirty="0"/>
              <a:t>个自由度；其组件均可通过</a:t>
            </a:r>
            <a:r>
              <a:rPr lang="en-US" altLang="zh-CN" dirty="0"/>
              <a:t>3d</a:t>
            </a:r>
            <a:r>
              <a:rPr lang="zh-CN" altLang="en-US" dirty="0"/>
              <a:t>打印；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left figure shows the mechanical structure of DexHand, which mainly consists of the fingers, palm, wrist, and forearm. It features five fingers, each composed of three segments and driven by a tendon-driven mechanism. Each finger has 3 </a:t>
            </a:r>
            <a:r>
              <a:rPr lang="en-US" altLang="zh-CN" dirty="0" err="1"/>
              <a:t>DoFs</a:t>
            </a:r>
            <a:r>
              <a:rPr lang="en-US" altLang="zh-CN" dirty="0"/>
              <a:t>, and the wrist has 3 </a:t>
            </a:r>
            <a:r>
              <a:rPr lang="en-US" altLang="zh-CN" dirty="0" err="1"/>
              <a:t>DoFs</a:t>
            </a:r>
            <a:r>
              <a:rPr lang="en-US" altLang="zh-CN" dirty="0"/>
              <a:t>. Most components can be fabricated by 3D printing.</a:t>
            </a:r>
          </a:p>
        </p:txBody>
      </p:sp>
      <p:sp>
        <p:nvSpPr>
          <p:cNvPr id="4" name="灯片编号占位符 3">
            <a:extLst>
              <a:ext uri="{FF2B5EF4-FFF2-40B4-BE49-F238E27FC236}">
                <a16:creationId xmlns:a16="http://schemas.microsoft.com/office/drawing/2014/main" id="{09C090ED-4DE3-DAF0-5CDF-04A960B553EC}"/>
              </a:ext>
            </a:extLst>
          </p:cNvPr>
          <p:cNvSpPr>
            <a:spLocks noGrp="1"/>
          </p:cNvSpPr>
          <p:nvPr>
            <p:ph type="sldNum" sz="quarter" idx="5"/>
          </p:nvPr>
        </p:nvSpPr>
        <p:spPr/>
        <p:txBody>
          <a:bodyPr/>
          <a:lstStyle/>
          <a:p>
            <a:fld id="{2137A1E4-B503-4197-BF28-554B36E2F436}" type="slidenum">
              <a:rPr lang="zh-CN" altLang="en-US" smtClean="0"/>
              <a:t>3</a:t>
            </a:fld>
            <a:endParaRPr lang="zh-CN" altLang="en-US"/>
          </a:p>
        </p:txBody>
      </p:sp>
    </p:spTree>
    <p:extLst>
      <p:ext uri="{BB962C8B-B14F-4D97-AF65-F5344CB8AC3E}">
        <p14:creationId xmlns:p14="http://schemas.microsoft.com/office/powerpoint/2010/main" val="3436711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6B06-E31D-091E-99BA-D89A99CAB7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437264-326C-B5B5-64DC-1E75C25B38C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C62E9-FD24-7D46-3C03-CD3235CE197A}"/>
              </a:ext>
            </a:extLst>
          </p:cNvPr>
          <p:cNvSpPr>
            <a:spLocks noGrp="1"/>
          </p:cNvSpPr>
          <p:nvPr>
            <p:ph type="body" idx="1"/>
          </p:nvPr>
        </p:nvSpPr>
        <p:spPr/>
        <p:txBody>
          <a:bodyPr/>
          <a:lstStyle/>
          <a:p>
            <a:r>
              <a:rPr lang="en-US" altLang="zh-CN" dirty="0"/>
              <a:t>This slide presents the cost budget and procurement progress of DexHand.</a:t>
            </a:r>
          </a:p>
          <a:p>
            <a:r>
              <a:rPr lang="en-US" altLang="zh-CN" dirty="0"/>
              <a:t>The total budget is around RMB 2,000. We have purchased the main hardware and the middle finger components, and we are currently assembling fingers. </a:t>
            </a:r>
          </a:p>
          <a:p>
            <a:r>
              <a:rPr lang="en-US" altLang="zh-CN" dirty="0"/>
              <a:t>As shown in the pie chart, the servos  takes the main costs, and the 3D-printed forearm structure make up another largest share of the total cost.</a:t>
            </a:r>
          </a:p>
          <a:p>
            <a:r>
              <a:rPr lang="zh-CN" altLang="en-US" dirty="0"/>
              <a:t>这一页</a:t>
            </a:r>
            <a:r>
              <a:rPr lang="en-US" altLang="zh-CN" dirty="0"/>
              <a:t>ppt</a:t>
            </a:r>
            <a:r>
              <a:rPr lang="zh-CN" altLang="en-US" dirty="0"/>
              <a:t>展示了成本预算和采购进度。</a:t>
            </a:r>
            <a:endParaRPr lang="en-US" altLang="zh-CN" dirty="0"/>
          </a:p>
          <a:p>
            <a:r>
              <a:rPr lang="zh-CN" altLang="en-US" dirty="0"/>
              <a:t>左侧表格展示了该灵巧手的各个部件以及对应的成本，总预算在</a:t>
            </a:r>
            <a:r>
              <a:rPr lang="en-US" altLang="zh-CN" dirty="0"/>
              <a:t>2000</a:t>
            </a:r>
            <a:r>
              <a:rPr lang="zh-CN" altLang="en-US" dirty="0"/>
              <a:t>人民币左右。我们目前已经购买了相关硬件和中指，正在组装一根手指。其他部件后续购买。</a:t>
            </a:r>
            <a:endParaRPr lang="en-US" altLang="zh-CN" dirty="0"/>
          </a:p>
          <a:p>
            <a:r>
              <a:rPr lang="zh-CN" altLang="en-US" dirty="0"/>
              <a:t>右侧是饼图，可以看到用于手指的</a:t>
            </a:r>
            <a:r>
              <a:rPr lang="en-US" altLang="zh-CN" dirty="0"/>
              <a:t>16</a:t>
            </a:r>
            <a:r>
              <a:rPr lang="zh-CN" altLang="en-US" dirty="0"/>
              <a:t>个</a:t>
            </a:r>
            <a:r>
              <a:rPr lang="en-US" altLang="zh-CN" dirty="0"/>
              <a:t>ES3301</a:t>
            </a:r>
            <a:r>
              <a:rPr lang="zh-CN" altLang="en-US" dirty="0"/>
              <a:t>舵机和用于</a:t>
            </a:r>
            <a:r>
              <a:rPr lang="zh-CN" altLang="en-US" sz="1200" b="0" i="0" kern="1200" dirty="0">
                <a:solidFill>
                  <a:schemeClr val="tx1"/>
                </a:solidFill>
                <a:effectLst/>
                <a:latin typeface="+mn-lt"/>
                <a:ea typeface="+mn-ea"/>
                <a:cs typeface="+mn-cs"/>
              </a:rPr>
              <a:t>手腕屈伸的</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a:t>
            </a:r>
            <a:r>
              <a:rPr lang="en-US" altLang="zh-CN" sz="1200" b="0" i="0" kern="1200" dirty="0">
                <a:solidFill>
                  <a:schemeClr val="tx1"/>
                </a:solidFill>
                <a:effectLst/>
                <a:latin typeface="+mn-lt"/>
                <a:ea typeface="+mn-ea"/>
                <a:cs typeface="+mn-cs"/>
              </a:rPr>
              <a:t>SCS2332</a:t>
            </a:r>
            <a:r>
              <a:rPr lang="zh-CN" altLang="en-US" sz="1200" b="0" i="0" kern="1200" dirty="0">
                <a:solidFill>
                  <a:schemeClr val="tx1"/>
                </a:solidFill>
                <a:effectLst/>
                <a:latin typeface="+mn-lt"/>
                <a:ea typeface="+mn-ea"/>
                <a:cs typeface="+mn-cs"/>
              </a:rPr>
              <a:t>舵机和前臂主体的</a:t>
            </a:r>
            <a:r>
              <a:rPr lang="en-US" altLang="zh-CN" sz="1200" b="0" i="0" kern="1200" dirty="0">
                <a:solidFill>
                  <a:schemeClr val="tx1"/>
                </a:solidFill>
                <a:effectLst/>
                <a:latin typeface="+mn-lt"/>
                <a:ea typeface="+mn-ea"/>
                <a:cs typeface="+mn-cs"/>
              </a:rPr>
              <a:t>3d</a:t>
            </a:r>
            <a:r>
              <a:rPr lang="zh-CN" altLang="en-US" sz="1200" b="0" i="0" kern="1200" dirty="0">
                <a:solidFill>
                  <a:schemeClr val="tx1"/>
                </a:solidFill>
                <a:effectLst/>
                <a:latin typeface="+mn-lt"/>
                <a:ea typeface="+mn-ea"/>
                <a:cs typeface="+mn-cs"/>
              </a:rPr>
              <a:t>打印占比较高。</a:t>
            </a:r>
            <a:endParaRPr lang="zh-CN" altLang="en-US" dirty="0"/>
          </a:p>
        </p:txBody>
      </p:sp>
      <p:sp>
        <p:nvSpPr>
          <p:cNvPr id="4" name="灯片编号占位符 3">
            <a:extLst>
              <a:ext uri="{FF2B5EF4-FFF2-40B4-BE49-F238E27FC236}">
                <a16:creationId xmlns:a16="http://schemas.microsoft.com/office/drawing/2014/main" id="{BE4ECB92-E0F5-9115-ED87-01234A974FA8}"/>
              </a:ext>
            </a:extLst>
          </p:cNvPr>
          <p:cNvSpPr>
            <a:spLocks noGrp="1"/>
          </p:cNvSpPr>
          <p:nvPr>
            <p:ph type="sldNum" sz="quarter" idx="5"/>
          </p:nvPr>
        </p:nvSpPr>
        <p:spPr/>
        <p:txBody>
          <a:bodyPr/>
          <a:lstStyle/>
          <a:p>
            <a:fld id="{2137A1E4-B503-4197-BF28-554B36E2F436}" type="slidenum">
              <a:rPr lang="zh-CN" altLang="en-US" smtClean="0"/>
              <a:t>4</a:t>
            </a:fld>
            <a:endParaRPr lang="zh-CN" altLang="en-US"/>
          </a:p>
        </p:txBody>
      </p:sp>
    </p:spTree>
    <p:extLst>
      <p:ext uri="{BB962C8B-B14F-4D97-AF65-F5344CB8AC3E}">
        <p14:creationId xmlns:p14="http://schemas.microsoft.com/office/powerpoint/2010/main" val="353790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0945-B387-EC63-E73F-7A2DACF1D6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E71590-D5D0-1559-3203-2A44D064917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6A3A077-BB7F-8811-1AA4-BEC24427BA27}"/>
              </a:ext>
            </a:extLst>
          </p:cNvPr>
          <p:cNvSpPr>
            <a:spLocks noGrp="1"/>
          </p:cNvSpPr>
          <p:nvPr>
            <p:ph type="body" idx="1"/>
          </p:nvPr>
        </p:nvSpPr>
        <p:spPr/>
        <p:txBody>
          <a:bodyPr/>
          <a:lstStyle/>
          <a:p>
            <a:r>
              <a:rPr lang="en-US" altLang="zh-CN" dirty="0"/>
              <a:t>And We also run simulation in Ubuntu22.04 and ROS2 humble version</a:t>
            </a:r>
            <a:r>
              <a:rPr lang="zh-CN" altLang="en-US" dirty="0"/>
              <a:t> </a:t>
            </a:r>
            <a:r>
              <a:rPr lang="en-US" altLang="zh-CN" dirty="0"/>
              <a:t>for Dexhand. We have completed the simulation environment setup and successfully launched the dexterous hand model. The two figures on the left show the open-hand and closed-hand poses, which verify the basic joint and finger motion in simulation. These results confirm the feasibility of the ROS2-based visualization and control workflow, and provide a validation basis for later hardware integration.</a:t>
            </a:r>
            <a:br>
              <a:rPr lang="en-US" altLang="zh-CN" dirty="0"/>
            </a:br>
            <a:r>
              <a:rPr lang="zh-CN" altLang="en-US" dirty="0"/>
              <a:t>这一页展示的是我们在 </a:t>
            </a:r>
            <a:r>
              <a:rPr lang="en-US" altLang="zh-CN" dirty="0"/>
              <a:t>DexHand </a:t>
            </a:r>
            <a:r>
              <a:rPr lang="zh-CN" altLang="en-US" dirty="0"/>
              <a:t>项目中完成的 </a:t>
            </a:r>
            <a:r>
              <a:rPr lang="en-US" altLang="zh-CN" dirty="0"/>
              <a:t>ROS2 </a:t>
            </a:r>
            <a:r>
              <a:rPr lang="zh-CN" altLang="en-US" dirty="0"/>
              <a:t>仿真初步验证。我们已经完成了仿真环境搭建，并成功运行了灵巧手模型。左侧两张图分别展示了张开和闭合两种典型姿态，说明我们已经完成了基础关节和手指运动的验证。该阶段结果表明，</a:t>
            </a:r>
            <a:r>
              <a:rPr lang="en-US" altLang="zh-CN" dirty="0"/>
              <a:t>DexHand </a:t>
            </a:r>
            <a:r>
              <a:rPr lang="zh-CN" altLang="en-US" dirty="0"/>
              <a:t>的 </a:t>
            </a:r>
            <a:r>
              <a:rPr lang="en-US" altLang="zh-CN" dirty="0"/>
              <a:t>ROS2 </a:t>
            </a:r>
            <a:r>
              <a:rPr lang="zh-CN" altLang="en-US" dirty="0"/>
              <a:t>可视化与控制流程是可行的，并为后续硬件集成提供了验证基础。</a:t>
            </a:r>
          </a:p>
        </p:txBody>
      </p:sp>
      <p:sp>
        <p:nvSpPr>
          <p:cNvPr id="4" name="灯片编号占位符 3">
            <a:extLst>
              <a:ext uri="{FF2B5EF4-FFF2-40B4-BE49-F238E27FC236}">
                <a16:creationId xmlns:a16="http://schemas.microsoft.com/office/drawing/2014/main" id="{707D2E4B-D782-9A6E-A74E-144EC2F1960B}"/>
              </a:ext>
            </a:extLst>
          </p:cNvPr>
          <p:cNvSpPr>
            <a:spLocks noGrp="1"/>
          </p:cNvSpPr>
          <p:nvPr>
            <p:ph type="sldNum" sz="quarter" idx="5"/>
          </p:nvPr>
        </p:nvSpPr>
        <p:spPr/>
        <p:txBody>
          <a:bodyPr/>
          <a:lstStyle/>
          <a:p>
            <a:fld id="{2137A1E4-B503-4197-BF28-554B36E2F436}" type="slidenum">
              <a:rPr lang="zh-CN" altLang="en-US" smtClean="0"/>
              <a:t>5</a:t>
            </a:fld>
            <a:endParaRPr lang="zh-CN" altLang="en-US"/>
          </a:p>
        </p:txBody>
      </p:sp>
    </p:spTree>
    <p:extLst>
      <p:ext uri="{BB962C8B-B14F-4D97-AF65-F5344CB8AC3E}">
        <p14:creationId xmlns:p14="http://schemas.microsoft.com/office/powerpoint/2010/main" val="3109390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34C87-B396-501E-78E1-1331078C84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C92358-244D-60B1-08A2-7BA8AD6A6E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449E38-39A8-8723-C5C4-E6173764B2A5}"/>
              </a:ext>
            </a:extLst>
          </p:cNvPr>
          <p:cNvSpPr>
            <a:spLocks noGrp="1"/>
          </p:cNvSpPr>
          <p:nvPr>
            <p:ph type="body" idx="1"/>
          </p:nvPr>
        </p:nvSpPr>
        <p:spPr/>
        <p:txBody>
          <a:bodyPr/>
          <a:lstStyle/>
          <a:p>
            <a:r>
              <a:rPr lang="en-US" altLang="zh-CN" b="1" dirty="0"/>
              <a:t>This slide presents the ROS2 simulation workflow of DexHand.</a:t>
            </a:r>
            <a:endParaRPr lang="en-US" altLang="zh-CN" dirty="0"/>
          </a:p>
          <a:p>
            <a:r>
              <a:rPr lang="en-US" altLang="zh-CN" dirty="0"/>
              <a:t>The workflow starts from the robot model, then goes through ROS2 launch and packages, visualization and joint control, and finally motion verification.</a:t>
            </a:r>
            <a:br>
              <a:rPr lang="en-US" altLang="zh-CN" dirty="0"/>
            </a:br>
            <a:r>
              <a:rPr lang="en-US" altLang="zh-CN" dirty="0"/>
              <a:t>The figures in the middle show the corresponding hand model, workspace packages, and RViz interface.</a:t>
            </a:r>
          </a:p>
          <a:p>
            <a:r>
              <a:rPr lang="en-US" altLang="zh-CN" dirty="0"/>
              <a:t>Based on this process, we understood the main ROS2 simulation pipeline and verified that the hand model can be correctly loaded, visualized, and controlled in simulation.</a:t>
            </a:r>
            <a:br>
              <a:rPr lang="en-US" altLang="zh-CN" dirty="0"/>
            </a:br>
            <a:r>
              <a:rPr lang="en-US" altLang="zh-CN" dirty="0"/>
              <a:t>This helps reduce uncertainty before hardware implementation and supports later integration and future AI-based extensions.</a:t>
            </a:r>
          </a:p>
        </p:txBody>
      </p:sp>
      <p:sp>
        <p:nvSpPr>
          <p:cNvPr id="4" name="灯片编号占位符 3">
            <a:extLst>
              <a:ext uri="{FF2B5EF4-FFF2-40B4-BE49-F238E27FC236}">
                <a16:creationId xmlns:a16="http://schemas.microsoft.com/office/drawing/2014/main" id="{A18CB2FE-5C8E-CB0C-B465-4915D8861CFB}"/>
              </a:ext>
            </a:extLst>
          </p:cNvPr>
          <p:cNvSpPr>
            <a:spLocks noGrp="1"/>
          </p:cNvSpPr>
          <p:nvPr>
            <p:ph type="sldNum" sz="quarter" idx="5"/>
          </p:nvPr>
        </p:nvSpPr>
        <p:spPr/>
        <p:txBody>
          <a:bodyPr/>
          <a:lstStyle/>
          <a:p>
            <a:fld id="{2137A1E4-B503-4197-BF28-554B36E2F436}" type="slidenum">
              <a:rPr lang="zh-CN" altLang="en-US" smtClean="0"/>
              <a:t>6</a:t>
            </a:fld>
            <a:endParaRPr lang="zh-CN" altLang="en-US"/>
          </a:p>
        </p:txBody>
      </p:sp>
    </p:spTree>
    <p:extLst>
      <p:ext uri="{BB962C8B-B14F-4D97-AF65-F5344CB8AC3E}">
        <p14:creationId xmlns:p14="http://schemas.microsoft.com/office/powerpoint/2010/main" val="3492220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on the left, the main controller is based on the </a:t>
            </a:r>
            <a:r>
              <a:rPr lang="en-US" altLang="zh-CN" b="1" dirty="0"/>
              <a:t>Arduino Nano RP2040 Connect</a:t>
            </a:r>
            <a:r>
              <a:rPr lang="en-US" altLang="zh-CN" dirty="0"/>
              <a:t>.</a:t>
            </a:r>
            <a:br>
              <a:rPr lang="en-US" altLang="zh-CN" dirty="0"/>
            </a:br>
            <a:r>
              <a:rPr lang="en-US" altLang="zh-CN" dirty="0"/>
              <a:t>This board was selected because it is compact enough to fit inside the forearm, while still providing the control and communication capability required for the hand system. It supports both </a:t>
            </a:r>
            <a:r>
              <a:rPr lang="en-US" altLang="zh-CN" b="1" dirty="0"/>
              <a:t>USB serial</a:t>
            </a:r>
            <a:r>
              <a:rPr lang="en-US" altLang="zh-CN" dirty="0"/>
              <a:t> and </a:t>
            </a:r>
            <a:r>
              <a:rPr lang="en-US" altLang="zh-CN" b="1" dirty="0"/>
              <a:t>Bluetooth Low Energy</a:t>
            </a:r>
            <a:r>
              <a:rPr lang="en-US" altLang="zh-CN" dirty="0"/>
              <a:t>, which is useful for later debugging, communication, and future system integration.</a:t>
            </a:r>
          </a:p>
          <a:p>
            <a:r>
              <a:rPr lang="en-US" altLang="zh-CN" dirty="0"/>
              <a:t>In addition to the controller itself, DexHand uses a compact protoboard-based control board design.</a:t>
            </a:r>
            <a:br>
              <a:rPr lang="en-US" altLang="zh-CN" dirty="0"/>
            </a:br>
            <a:r>
              <a:rPr lang="en-US" altLang="zh-CN" dirty="0"/>
              <a:t>As shown in the middle of the slide, the Arduino Nano Connect is integrated into an assembled control board, which helps organize multi-servo wiring and signal distribution in a compact layout. This is important for fitting the electronics into the forearm structure and supporting the full hand assembly.</a:t>
            </a:r>
          </a:p>
          <a:p>
            <a:r>
              <a:rPr lang="en-US" altLang="zh-CN" dirty="0"/>
              <a:t>On the right, the actuation system is divided into </a:t>
            </a:r>
            <a:r>
              <a:rPr lang="en-US" altLang="zh-CN" b="1" dirty="0"/>
              <a:t>three servo groups</a:t>
            </a:r>
            <a:r>
              <a:rPr lang="en-US" altLang="zh-CN" dirty="0"/>
              <a:t> according to different functional requirements.</a:t>
            </a:r>
            <a:br>
              <a:rPr lang="en-US" altLang="zh-CN" dirty="0"/>
            </a:br>
            <a:r>
              <a:rPr lang="en-US" altLang="zh-CN" dirty="0"/>
              <a:t>The first group is the </a:t>
            </a:r>
            <a:r>
              <a:rPr lang="en-US" altLang="zh-CN" b="1" dirty="0"/>
              <a:t>finger and thumb servos</a:t>
            </a:r>
            <a:r>
              <a:rPr lang="en-US" altLang="zh-CN" dirty="0"/>
              <a:t>, which are used in the largest quantity and mainly support finger actuation.</a:t>
            </a:r>
            <a:br>
              <a:rPr lang="en-US" altLang="zh-CN" dirty="0"/>
            </a:br>
            <a:r>
              <a:rPr lang="en-US" altLang="zh-CN" dirty="0"/>
              <a:t>The second group is the </a:t>
            </a:r>
            <a:r>
              <a:rPr lang="en-US" altLang="zh-CN" b="1" dirty="0"/>
              <a:t>wrist flexion and extension servo</a:t>
            </a:r>
            <a:r>
              <a:rPr lang="en-US" altLang="zh-CN" dirty="0"/>
              <a:t>, which is responsible for wrist bending motion.</a:t>
            </a:r>
            <a:br>
              <a:rPr lang="en-US" altLang="zh-CN" dirty="0"/>
            </a:br>
            <a:r>
              <a:rPr lang="en-US" altLang="zh-CN" dirty="0"/>
              <a:t>The third group is the </a:t>
            </a:r>
            <a:r>
              <a:rPr lang="en-US" altLang="zh-CN" b="1" dirty="0"/>
              <a:t>axial wrist rotation servo</a:t>
            </a:r>
            <a:r>
              <a:rPr lang="en-US" altLang="zh-CN" dirty="0"/>
              <a:t>, which supports wrist rotation.</a:t>
            </a:r>
          </a:p>
          <a:p>
            <a:r>
              <a:rPr lang="en-US" altLang="zh-CN" dirty="0"/>
              <a:t>So, instead of using a single servo type for the entire system, DexHand adopts a </a:t>
            </a:r>
            <a:r>
              <a:rPr lang="en-US" altLang="zh-CN" b="1" dirty="0"/>
              <a:t>layered servo allocation strategy</a:t>
            </a:r>
            <a:r>
              <a:rPr lang="en-US" altLang="zh-CN" dirty="0"/>
              <a:t>.</a:t>
            </a:r>
            <a:br>
              <a:rPr lang="en-US" altLang="zh-CN" dirty="0"/>
            </a:br>
            <a:r>
              <a:rPr lang="en-US" altLang="zh-CN" dirty="0"/>
              <a:t>Compact servos are used where actuator density is important, while dedicated wrist servos are used for larger and stronger joint motion.</a:t>
            </a:r>
          </a:p>
          <a:p>
            <a:r>
              <a:rPr lang="en-US" altLang="zh-CN" b="1" dirty="0"/>
              <a:t>Overall, this slide shows that DexHand uses a controller-centered electronic architecture with function-based servo allocation, which supports compact integration and later hardware implementation.</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7</a:t>
            </a:fld>
            <a:endParaRPr lang="zh-CN" altLang="en-US"/>
          </a:p>
        </p:txBody>
      </p:sp>
    </p:spTree>
    <p:extLst>
      <p:ext uri="{BB962C8B-B14F-4D97-AF65-F5344CB8AC3E}">
        <p14:creationId xmlns:p14="http://schemas.microsoft.com/office/powerpoint/2010/main" val="3525741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6B06-E31D-091E-99BA-D89A99CAB7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437264-326C-B5B5-64DC-1E75C25B38C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C62E9-FD24-7D46-3C03-CD3235CE197A}"/>
              </a:ext>
            </a:extLst>
          </p:cNvPr>
          <p:cNvSpPr>
            <a:spLocks noGrp="1"/>
          </p:cNvSpPr>
          <p:nvPr>
            <p:ph type="body" idx="1"/>
          </p:nvPr>
        </p:nvSpPr>
        <p:spPr/>
        <p:txBody>
          <a:bodyPr/>
          <a:lstStyle/>
          <a:p>
            <a:r>
              <a:rPr lang="en-US" altLang="zh-CN" dirty="0"/>
              <a:t>On this slide, we focus on the high-level intelligence layer of the DexHand project. By establishing a bridge between GPT-4 and ROS 2, enabled the robotic hand to function as an embodied output device.</a:t>
            </a:r>
          </a:p>
          <a:p>
            <a:r>
              <a:rPr lang="en-US" altLang="zh-CN" dirty="0"/>
              <a:t>As you can see in the accompanying video, the system interprets natural language to perform complex actions—ranging from mathematical interactions to specific gesture synthesis like the ‘Devil Horns’. Our current proposal is to replicate this hardware-software integration and implement the seamless communication link for the control system.“</a:t>
            </a:r>
            <a:r>
              <a:rPr lang="zh-CN" altLang="en-US" dirty="0"/>
              <a:t>本页我们展示了项目通过建立了</a:t>
            </a:r>
            <a:r>
              <a:rPr lang="en-US" altLang="zh-CN" dirty="0"/>
              <a:t>GPT4</a:t>
            </a:r>
            <a:r>
              <a:rPr lang="zh-CN" altLang="en-US" dirty="0"/>
              <a:t>和</a:t>
            </a:r>
            <a:r>
              <a:rPr lang="en-US" altLang="zh-CN" dirty="0"/>
              <a:t>ROS2</a:t>
            </a:r>
            <a:r>
              <a:rPr lang="zh-CN" altLang="en-US" dirty="0"/>
              <a:t>直接的桥接，</a:t>
            </a:r>
            <a:endParaRPr lang="en-US" altLang="zh-CN" dirty="0"/>
          </a:p>
          <a:p>
            <a:r>
              <a:rPr lang="zh-CN" altLang="en-US" dirty="0"/>
              <a:t>使机械手能够作为具身智能的输出设备来运行。如演示视频所示，系统能够解析自然语言并执行复杂动作：包括处理数学交互任务，以及根据指令执行特定手势合成。我们目前的提案旨在复现这一软硬件集成方案，并实现用于系统控制的无缝通信链路</a:t>
            </a:r>
          </a:p>
        </p:txBody>
      </p:sp>
      <p:sp>
        <p:nvSpPr>
          <p:cNvPr id="4" name="灯片编号占位符 3">
            <a:extLst>
              <a:ext uri="{FF2B5EF4-FFF2-40B4-BE49-F238E27FC236}">
                <a16:creationId xmlns:a16="http://schemas.microsoft.com/office/drawing/2014/main" id="{BE4ECB92-E0F5-9115-ED87-01234A974FA8}"/>
              </a:ext>
            </a:extLst>
          </p:cNvPr>
          <p:cNvSpPr>
            <a:spLocks noGrp="1"/>
          </p:cNvSpPr>
          <p:nvPr>
            <p:ph type="sldNum" sz="quarter" idx="5"/>
          </p:nvPr>
        </p:nvSpPr>
        <p:spPr/>
        <p:txBody>
          <a:bodyPr/>
          <a:lstStyle/>
          <a:p>
            <a:fld id="{2137A1E4-B503-4197-BF28-554B36E2F436}" type="slidenum">
              <a:rPr lang="zh-CN" altLang="en-US" smtClean="0"/>
              <a:t>8</a:t>
            </a:fld>
            <a:endParaRPr lang="zh-CN" altLang="en-US"/>
          </a:p>
        </p:txBody>
      </p:sp>
    </p:spTree>
    <p:extLst>
      <p:ext uri="{BB962C8B-B14F-4D97-AF65-F5344CB8AC3E}">
        <p14:creationId xmlns:p14="http://schemas.microsoft.com/office/powerpoint/2010/main" val="3537906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6B06-E31D-091E-99BA-D89A99CAB7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437264-326C-B5B5-64DC-1E75C25B38C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C62E9-FD24-7D46-3C03-CD3235CE197A}"/>
              </a:ext>
            </a:extLst>
          </p:cNvPr>
          <p:cNvSpPr>
            <a:spLocks noGrp="1"/>
          </p:cNvSpPr>
          <p:nvPr>
            <p:ph type="body" idx="1"/>
          </p:nvPr>
        </p:nvSpPr>
        <p:spPr/>
        <p:txBody>
          <a:bodyPr/>
          <a:lstStyle/>
          <a:p>
            <a:r>
              <a:rPr lang="en-US" altLang="zh-CN" sz="1200" dirty="0">
                <a:latin typeface="Times New Roman" panose="02020603050405020304" pitchFamily="18" charset="0"/>
                <a:cs typeface="Times New Roman" panose="02020603050405020304" pitchFamily="18" charset="0"/>
              </a:rPr>
              <a:t>DexHand provides a viable framework for LLM control. The workflow is straightforward: First, project uses the </a:t>
            </a:r>
            <a:r>
              <a:rPr lang="en-US" altLang="zh-CN" sz="1200" dirty="0" err="1">
                <a:latin typeface="Times New Roman" panose="02020603050405020304" pitchFamily="18" charset="0"/>
                <a:cs typeface="Times New Roman" panose="02020603050405020304" pitchFamily="18" charset="0"/>
              </a:rPr>
              <a:t>SpeechRecognition</a:t>
            </a:r>
            <a:r>
              <a:rPr lang="en-US" altLang="zh-CN" sz="1200" dirty="0">
                <a:latin typeface="Times New Roman" panose="02020603050405020304" pitchFamily="18" charset="0"/>
                <a:cs typeface="Times New Roman" panose="02020603050405020304" pitchFamily="18" charset="0"/>
              </a:rPr>
              <a:t> package with Google Speech Recognition to turn voice commands into text. Next, this text is sent to the LLM Intelligence Layer via API. The model parses the user‘s intent and identifies the specific hand gesture needed. Finally, the system dispatches the validated pose to the DexHand Gesture Controller to move the actual hardware. As an optional future goal, if time allows, we want to try Dynamic Motion Synthesis. The idea is to achieve Generalizable Motion Synthesis so we can move past just using built-in firmware actions. This would let the hand perform more flexible, custom movements instead of just playing back pre-set animations.  DexHand</a:t>
            </a:r>
            <a:r>
              <a:rPr lang="zh-CN" altLang="en-US" sz="1200" dirty="0">
                <a:latin typeface="Times New Roman" panose="02020603050405020304" pitchFamily="18" charset="0"/>
                <a:cs typeface="Times New Roman" panose="02020603050405020304" pitchFamily="18" charset="0"/>
              </a:rPr>
              <a:t>提供了一个可行的</a:t>
            </a:r>
            <a:r>
              <a:rPr lang="en-US" altLang="zh-CN" sz="1200" dirty="0" err="1">
                <a:latin typeface="Times New Roman" panose="02020603050405020304" pitchFamily="18" charset="0"/>
                <a:cs typeface="Times New Roman" panose="02020603050405020304" pitchFamily="18" charset="0"/>
              </a:rPr>
              <a:t>llm</a:t>
            </a:r>
            <a:r>
              <a:rPr lang="zh-CN" altLang="en-US" sz="1200" dirty="0">
                <a:latin typeface="Times New Roman" panose="02020603050405020304" pitchFamily="18" charset="0"/>
                <a:cs typeface="Times New Roman" panose="02020603050405020304" pitchFamily="18" charset="0"/>
              </a:rPr>
              <a:t>控制架构，首先，我们利用 </a:t>
            </a:r>
            <a:r>
              <a:rPr lang="en-US" altLang="zh-CN" sz="1200" dirty="0" err="1">
                <a:latin typeface="Times New Roman" panose="02020603050405020304" pitchFamily="18" charset="0"/>
                <a:cs typeface="Times New Roman" panose="02020603050405020304" pitchFamily="18" charset="0"/>
              </a:rPr>
              <a:t>SpeechRecognition</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软件包配合 </a:t>
            </a:r>
            <a:r>
              <a:rPr lang="en-US" altLang="zh-CN" sz="1200" dirty="0">
                <a:latin typeface="Times New Roman" panose="02020603050405020304" pitchFamily="18" charset="0"/>
                <a:cs typeface="Times New Roman" panose="02020603050405020304" pitchFamily="18" charset="0"/>
              </a:rPr>
              <a:t>Google </a:t>
            </a:r>
            <a:r>
              <a:rPr lang="zh-CN" altLang="en-US" sz="1200" dirty="0">
                <a:latin typeface="Times New Roman" panose="02020603050405020304" pitchFamily="18" charset="0"/>
                <a:cs typeface="Times New Roman" panose="02020603050405020304" pitchFamily="18" charset="0"/>
              </a:rPr>
              <a:t>语音识别，把语音指令转成文本。接着，文本会通过 </a:t>
            </a:r>
            <a:r>
              <a:rPr lang="en-US" altLang="zh-CN" sz="1200" dirty="0">
                <a:latin typeface="Times New Roman" panose="02020603050405020304" pitchFamily="18" charset="0"/>
                <a:cs typeface="Times New Roman" panose="02020603050405020304" pitchFamily="18" charset="0"/>
              </a:rPr>
              <a:t>API </a:t>
            </a:r>
            <a:r>
              <a:rPr lang="zh-CN" altLang="en-US" sz="1200" dirty="0">
                <a:latin typeface="Times New Roman" panose="02020603050405020304" pitchFamily="18" charset="0"/>
                <a:cs typeface="Times New Roman" panose="02020603050405020304" pitchFamily="18" charset="0"/>
              </a:rPr>
              <a:t>传给 </a:t>
            </a:r>
            <a:r>
              <a:rPr lang="en-US" altLang="zh-CN" sz="1200" dirty="0">
                <a:latin typeface="Times New Roman" panose="02020603050405020304" pitchFamily="18" charset="0"/>
                <a:cs typeface="Times New Roman" panose="02020603050405020304" pitchFamily="18" charset="0"/>
              </a:rPr>
              <a:t>LLM </a:t>
            </a:r>
            <a:r>
              <a:rPr lang="zh-CN" altLang="en-US" sz="1200" dirty="0">
                <a:latin typeface="Times New Roman" panose="02020603050405020304" pitchFamily="18" charset="0"/>
                <a:cs typeface="Times New Roman" panose="02020603050405020304" pitchFamily="18" charset="0"/>
              </a:rPr>
              <a:t>智能层。大模型会解析用户的意图，并匹配对应的手势指令。最后，系统把验证后的姿态下发给 </a:t>
            </a:r>
            <a:r>
              <a:rPr lang="en-US" altLang="zh-CN" sz="1200" dirty="0">
                <a:latin typeface="Times New Roman" panose="02020603050405020304" pitchFamily="18" charset="0"/>
                <a:cs typeface="Times New Roman" panose="02020603050405020304" pitchFamily="18" charset="0"/>
              </a:rPr>
              <a:t>DexHand </a:t>
            </a:r>
            <a:r>
              <a:rPr lang="zh-CN" altLang="en-US" sz="1200" dirty="0">
                <a:latin typeface="Times New Roman" panose="02020603050405020304" pitchFamily="18" charset="0"/>
                <a:cs typeface="Times New Roman" panose="02020603050405020304" pitchFamily="18" charset="0"/>
              </a:rPr>
              <a:t>手势控制器，驱动硬件做出动作。另外作为一个未来的可选目标，如果进度快的话，我们打算尝试动态运动合成。我们希望实现一种通用化的运动合成方案，从而突破固件内置动作的限制。这样机械手就能做出更灵活的自定义动作，而不仅仅是播放预设好的动画</a:t>
            </a:r>
            <a:endParaRPr lang="zh-CN" altLang="en-US" dirty="0"/>
          </a:p>
        </p:txBody>
      </p:sp>
      <p:sp>
        <p:nvSpPr>
          <p:cNvPr id="4" name="灯片编号占位符 3">
            <a:extLst>
              <a:ext uri="{FF2B5EF4-FFF2-40B4-BE49-F238E27FC236}">
                <a16:creationId xmlns:a16="http://schemas.microsoft.com/office/drawing/2014/main" id="{BE4ECB92-E0F5-9115-ED87-01234A974FA8}"/>
              </a:ext>
            </a:extLst>
          </p:cNvPr>
          <p:cNvSpPr>
            <a:spLocks noGrp="1"/>
          </p:cNvSpPr>
          <p:nvPr>
            <p:ph type="sldNum" sz="quarter" idx="5"/>
          </p:nvPr>
        </p:nvSpPr>
        <p:spPr/>
        <p:txBody>
          <a:bodyPr/>
          <a:lstStyle/>
          <a:p>
            <a:fld id="{2137A1E4-B503-4197-BF28-554B36E2F436}" type="slidenum">
              <a:rPr lang="zh-CN" altLang="en-US" smtClean="0"/>
              <a:t>9</a:t>
            </a:fld>
            <a:endParaRPr lang="zh-CN" altLang="en-US"/>
          </a:p>
        </p:txBody>
      </p:sp>
    </p:spTree>
    <p:extLst>
      <p:ext uri="{BB962C8B-B14F-4D97-AF65-F5344CB8AC3E}">
        <p14:creationId xmlns:p14="http://schemas.microsoft.com/office/powerpoint/2010/main" val="292313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F867-AD56-BF3C-C2DF-961A8A5E70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868458-0FD6-5A13-68B1-7EAF6A3C8DD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95A7A18-40CC-7CE9-23DB-E5FE5F206AFD}"/>
              </a:ext>
            </a:extLst>
          </p:cNvPr>
          <p:cNvSpPr>
            <a:spLocks noGrp="1"/>
          </p:cNvSpPr>
          <p:nvPr>
            <p:ph type="body" idx="1"/>
          </p:nvPr>
        </p:nvSpPr>
        <p:spPr/>
        <p:txBody>
          <a:bodyPr/>
          <a:lstStyle/>
          <a:p>
            <a:r>
              <a:rPr lang="en-US" altLang="zh-CN" sz="2800" dirty="0"/>
              <a:t>We divide the project into three work packages: </a:t>
            </a:r>
            <a:r>
              <a:rPr lang="en-US" altLang="zh-CN" sz="2800" b="1" dirty="0"/>
              <a:t>mechanical assembly</a:t>
            </a:r>
            <a:r>
              <a:rPr lang="en-US" altLang="zh-CN" sz="2800" dirty="0"/>
              <a:t>, </a:t>
            </a:r>
            <a:r>
              <a:rPr lang="en-US" altLang="zh-CN" sz="2800" b="1" dirty="0"/>
              <a:t>electronics and embedded testing</a:t>
            </a:r>
            <a:r>
              <a:rPr lang="en-US" altLang="zh-CN" sz="2800" dirty="0"/>
              <a:t>, and </a:t>
            </a:r>
            <a:r>
              <a:rPr lang="en-US" altLang="zh-CN" sz="2800" b="1" dirty="0"/>
              <a:t>LLM integration</a:t>
            </a:r>
            <a:r>
              <a:rPr lang="en-US" altLang="zh-CN" sz="2800" dirty="0"/>
              <a:t>.</a:t>
            </a:r>
            <a:br>
              <a:rPr lang="en-US" altLang="zh-CN" sz="2800" dirty="0"/>
            </a:br>
            <a:r>
              <a:rPr lang="en-US" altLang="zh-CN" sz="2800" dirty="0"/>
              <a:t>Each part has a clear task focus and expected output.</a:t>
            </a:r>
          </a:p>
          <a:p>
            <a:r>
              <a:rPr lang="en-US" altLang="zh-CN" sz="2800" dirty="0"/>
              <a:t>In terms of schedule, the project begins with ROS2 simulation and hardware planning, then moves into assembly and PCB preparation, followed by testing, integration, and final optimization.</a:t>
            </a:r>
            <a:br>
              <a:rPr lang="en-US" altLang="zh-CN" sz="2800" dirty="0"/>
            </a:br>
            <a:r>
              <a:rPr lang="en-US" altLang="zh-CN" sz="2800" dirty="0"/>
              <a:t>The key milestones are the </a:t>
            </a:r>
            <a:r>
              <a:rPr lang="en-US" altLang="zh-CN" sz="2800" b="1" dirty="0"/>
              <a:t>interim presentation on April 10</a:t>
            </a:r>
            <a:r>
              <a:rPr lang="en-US" altLang="zh-CN" sz="2800" dirty="0"/>
              <a:t>, the </a:t>
            </a:r>
            <a:r>
              <a:rPr lang="en-US" altLang="zh-CN" sz="2800" b="1" dirty="0"/>
              <a:t>final presentation on May 14</a:t>
            </a:r>
            <a:r>
              <a:rPr lang="en-US" altLang="zh-CN" sz="2800" dirty="0"/>
              <a:t>, and the </a:t>
            </a:r>
            <a:r>
              <a:rPr lang="en-US" altLang="zh-CN" sz="2800" b="1" dirty="0"/>
              <a:t>final report submission on May 16</a:t>
            </a:r>
            <a:r>
              <a:rPr lang="en-US" altLang="zh-CN" sz="2800" dirty="0"/>
              <a:t>.</a:t>
            </a:r>
          </a:p>
          <a:p>
            <a:r>
              <a:rPr lang="en-US" altLang="zh-CN" sz="2800" b="1" dirty="0"/>
              <a:t>This plan helps us organize the work clearly and keep the project progressing on time.</a:t>
            </a:r>
            <a:endParaRPr lang="en-US" altLang="zh-CN" sz="2800" dirty="0"/>
          </a:p>
        </p:txBody>
      </p:sp>
      <p:sp>
        <p:nvSpPr>
          <p:cNvPr id="4" name="灯片编号占位符 3">
            <a:extLst>
              <a:ext uri="{FF2B5EF4-FFF2-40B4-BE49-F238E27FC236}">
                <a16:creationId xmlns:a16="http://schemas.microsoft.com/office/drawing/2014/main" id="{32933EC4-7F1A-536C-81B4-34F7FC715AF9}"/>
              </a:ext>
            </a:extLst>
          </p:cNvPr>
          <p:cNvSpPr>
            <a:spLocks noGrp="1"/>
          </p:cNvSpPr>
          <p:nvPr>
            <p:ph type="sldNum" sz="quarter" idx="5"/>
          </p:nvPr>
        </p:nvSpPr>
        <p:spPr/>
        <p:txBody>
          <a:bodyPr/>
          <a:lstStyle/>
          <a:p>
            <a:fld id="{2137A1E4-B503-4197-BF28-554B36E2F436}" type="slidenum">
              <a:rPr lang="zh-CN" altLang="en-US" smtClean="0"/>
              <a:t>10</a:t>
            </a:fld>
            <a:endParaRPr lang="zh-CN" altLang="en-US"/>
          </a:p>
        </p:txBody>
      </p:sp>
    </p:spTree>
    <p:extLst>
      <p:ext uri="{BB962C8B-B14F-4D97-AF65-F5344CB8AC3E}">
        <p14:creationId xmlns:p14="http://schemas.microsoft.com/office/powerpoint/2010/main" val="173234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11</a:t>
            </a:fld>
            <a:endParaRPr lang="zh-CN" altLang="en-US"/>
          </a:p>
        </p:txBody>
      </p:sp>
    </p:spTree>
    <p:extLst>
      <p:ext uri="{BB962C8B-B14F-4D97-AF65-F5344CB8AC3E}">
        <p14:creationId xmlns:p14="http://schemas.microsoft.com/office/powerpoint/2010/main" val="276158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D908D-8F0B-E5EB-BE33-FC96E0EA47F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310B83E-FCCE-DF55-F2DA-9875CC3AC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0A36AB4-DD73-C516-B32F-5EC4167AD22C}"/>
              </a:ext>
            </a:extLst>
          </p:cNvPr>
          <p:cNvSpPr>
            <a:spLocks noGrp="1"/>
          </p:cNvSpPr>
          <p:nvPr>
            <p:ph type="dt" sz="half" idx="10"/>
          </p:nvPr>
        </p:nvSpPr>
        <p:spPr/>
        <p:txBody>
          <a:bodyPr/>
          <a:lstStyle/>
          <a:p>
            <a:fld id="{EB029B04-D4FC-4F2F-B905-D2D63592B3C5}" type="datetime1">
              <a:rPr lang="zh-CN" altLang="en-US" smtClean="0"/>
              <a:t>2026/3/11</a:t>
            </a:fld>
            <a:endParaRPr lang="zh-CN" altLang="en-US"/>
          </a:p>
        </p:txBody>
      </p:sp>
      <p:sp>
        <p:nvSpPr>
          <p:cNvPr id="5" name="页脚占位符 4">
            <a:extLst>
              <a:ext uri="{FF2B5EF4-FFF2-40B4-BE49-F238E27FC236}">
                <a16:creationId xmlns:a16="http://schemas.microsoft.com/office/drawing/2014/main" id="{46392224-EB33-5CD2-B7B9-BC9A6FC64F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94D77D-D2A5-FCE2-510E-0BA5728B8CFA}"/>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255558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A1333B-07B7-BE0F-66CA-0E4D2478572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59AD57-BFE7-D362-4561-014B6E24796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FEF261-9111-DC4C-AC49-C78FA7C833EB}"/>
              </a:ext>
            </a:extLst>
          </p:cNvPr>
          <p:cNvSpPr>
            <a:spLocks noGrp="1"/>
          </p:cNvSpPr>
          <p:nvPr>
            <p:ph type="dt" sz="half" idx="10"/>
          </p:nvPr>
        </p:nvSpPr>
        <p:spPr/>
        <p:txBody>
          <a:bodyPr/>
          <a:lstStyle/>
          <a:p>
            <a:fld id="{20C44A4C-F64F-47AA-9319-52B701710606}" type="datetime1">
              <a:rPr lang="zh-CN" altLang="en-US" smtClean="0"/>
              <a:t>2026/3/11</a:t>
            </a:fld>
            <a:endParaRPr lang="zh-CN" altLang="en-US"/>
          </a:p>
        </p:txBody>
      </p:sp>
      <p:sp>
        <p:nvSpPr>
          <p:cNvPr id="5" name="页脚占位符 4">
            <a:extLst>
              <a:ext uri="{FF2B5EF4-FFF2-40B4-BE49-F238E27FC236}">
                <a16:creationId xmlns:a16="http://schemas.microsoft.com/office/drawing/2014/main" id="{5018E937-8D58-9082-C7D8-8F2DCADE7A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ABA0F2-516A-9327-5088-AD486C46BB77}"/>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1540209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0157AD-DEC5-F478-5F43-8CCB00229AA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0DE791F-2766-A4BC-F503-736B078DA7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1C3A2EB-4CFD-C9E4-CF1D-625CFE013958}"/>
              </a:ext>
            </a:extLst>
          </p:cNvPr>
          <p:cNvSpPr>
            <a:spLocks noGrp="1"/>
          </p:cNvSpPr>
          <p:nvPr>
            <p:ph type="dt" sz="half" idx="10"/>
          </p:nvPr>
        </p:nvSpPr>
        <p:spPr/>
        <p:txBody>
          <a:bodyPr/>
          <a:lstStyle/>
          <a:p>
            <a:fld id="{C25DF08C-67CB-4A7C-919F-BD9126CEC090}" type="datetime1">
              <a:rPr lang="zh-CN" altLang="en-US" smtClean="0"/>
              <a:t>2026/3/11</a:t>
            </a:fld>
            <a:endParaRPr lang="zh-CN" altLang="en-US"/>
          </a:p>
        </p:txBody>
      </p:sp>
      <p:sp>
        <p:nvSpPr>
          <p:cNvPr id="5" name="页脚占位符 4">
            <a:extLst>
              <a:ext uri="{FF2B5EF4-FFF2-40B4-BE49-F238E27FC236}">
                <a16:creationId xmlns:a16="http://schemas.microsoft.com/office/drawing/2014/main" id="{E95D07CA-8BF3-2B2B-5F4B-8A62ACE0596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7E0AD-281D-EF39-E44E-754FD2B80812}"/>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1305566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63070-7627-DD42-2029-1B82BE4453D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F22F3EE-9F6F-47CA-A584-BBEE2769D2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031646-B849-70F0-3B03-705B769ACFF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0B17CA8-AEA4-B135-32F7-8BC1D97A82D5}"/>
              </a:ext>
            </a:extLst>
          </p:cNvPr>
          <p:cNvSpPr>
            <a:spLocks noGrp="1"/>
          </p:cNvSpPr>
          <p:nvPr>
            <p:ph type="dt" sz="half" idx="10"/>
          </p:nvPr>
        </p:nvSpPr>
        <p:spPr/>
        <p:txBody>
          <a:bodyPr/>
          <a:lstStyle/>
          <a:p>
            <a:fld id="{F66D20A3-3DBD-47A4-89F9-BCC2F384AE27}" type="datetime1">
              <a:rPr lang="zh-CN" altLang="en-US" smtClean="0"/>
              <a:t>2026/3/11</a:t>
            </a:fld>
            <a:endParaRPr lang="zh-CN" altLang="en-US"/>
          </a:p>
        </p:txBody>
      </p:sp>
      <p:sp>
        <p:nvSpPr>
          <p:cNvPr id="6" name="页脚占位符 5">
            <a:extLst>
              <a:ext uri="{FF2B5EF4-FFF2-40B4-BE49-F238E27FC236}">
                <a16:creationId xmlns:a16="http://schemas.microsoft.com/office/drawing/2014/main" id="{0043C148-F953-FABD-0B90-BC37B55D788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888A04-0A41-1ECF-D827-D32E9E5C85AE}"/>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256934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2B5074-A1EA-FE7F-9EA1-575574C3614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BEE5B7B-C2C1-BBAD-044A-368C4403A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F2F3195-CB61-D7F3-D6B9-4CF9C682E63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15E9A43-2B0A-92C7-7E1B-16EB8A6BB8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240C796-38FA-B800-245A-D67CEF668A2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510E42-C10A-3CF8-8330-02513C36CA9D}"/>
              </a:ext>
            </a:extLst>
          </p:cNvPr>
          <p:cNvSpPr>
            <a:spLocks noGrp="1"/>
          </p:cNvSpPr>
          <p:nvPr>
            <p:ph type="dt" sz="half" idx="10"/>
          </p:nvPr>
        </p:nvSpPr>
        <p:spPr/>
        <p:txBody>
          <a:bodyPr/>
          <a:lstStyle/>
          <a:p>
            <a:fld id="{F8B4A7B2-537D-4011-BD8C-DDA8888ABD44}" type="datetime1">
              <a:rPr lang="zh-CN" altLang="en-US" smtClean="0"/>
              <a:t>2026/3/11</a:t>
            </a:fld>
            <a:endParaRPr lang="zh-CN" altLang="en-US"/>
          </a:p>
        </p:txBody>
      </p:sp>
      <p:sp>
        <p:nvSpPr>
          <p:cNvPr id="8" name="页脚占位符 7">
            <a:extLst>
              <a:ext uri="{FF2B5EF4-FFF2-40B4-BE49-F238E27FC236}">
                <a16:creationId xmlns:a16="http://schemas.microsoft.com/office/drawing/2014/main" id="{08A61166-2613-B995-532B-24EE2AC2DF4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5EEA79C-DA17-8819-63AB-52479145D725}"/>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724071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B2FBCF-3493-EECD-B12E-7AEED3FA48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381DE83-27FD-407B-CB16-A4B0DAF1254F}"/>
              </a:ext>
            </a:extLst>
          </p:cNvPr>
          <p:cNvSpPr>
            <a:spLocks noGrp="1"/>
          </p:cNvSpPr>
          <p:nvPr>
            <p:ph type="dt" sz="half" idx="10"/>
          </p:nvPr>
        </p:nvSpPr>
        <p:spPr/>
        <p:txBody>
          <a:bodyPr/>
          <a:lstStyle/>
          <a:p>
            <a:fld id="{52344200-B68F-4BC5-B449-611F39A1FF0A}" type="datetime1">
              <a:rPr lang="zh-CN" altLang="en-US" smtClean="0"/>
              <a:t>2026/3/11</a:t>
            </a:fld>
            <a:endParaRPr lang="zh-CN" altLang="en-US"/>
          </a:p>
        </p:txBody>
      </p:sp>
      <p:sp>
        <p:nvSpPr>
          <p:cNvPr id="4" name="页脚占位符 3">
            <a:extLst>
              <a:ext uri="{FF2B5EF4-FFF2-40B4-BE49-F238E27FC236}">
                <a16:creationId xmlns:a16="http://schemas.microsoft.com/office/drawing/2014/main" id="{CAB829B4-76B1-9FF0-DB92-94BFC98CEB5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963A98C-A715-A6DD-F6BF-9B36ACDFC140}"/>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1293977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F4B881-3918-3299-3879-EC894E1B4476}"/>
              </a:ext>
            </a:extLst>
          </p:cNvPr>
          <p:cNvSpPr>
            <a:spLocks noGrp="1"/>
          </p:cNvSpPr>
          <p:nvPr>
            <p:ph type="dt" sz="half" idx="10"/>
          </p:nvPr>
        </p:nvSpPr>
        <p:spPr/>
        <p:txBody>
          <a:bodyPr/>
          <a:lstStyle/>
          <a:p>
            <a:fld id="{B6A02667-EDE2-42A2-92DE-14721ABB6FC7}" type="datetime1">
              <a:rPr lang="zh-CN" altLang="en-US" smtClean="0"/>
              <a:t>2026/3/11</a:t>
            </a:fld>
            <a:endParaRPr lang="zh-CN" altLang="en-US"/>
          </a:p>
        </p:txBody>
      </p:sp>
      <p:sp>
        <p:nvSpPr>
          <p:cNvPr id="3" name="页脚占位符 2">
            <a:extLst>
              <a:ext uri="{FF2B5EF4-FFF2-40B4-BE49-F238E27FC236}">
                <a16:creationId xmlns:a16="http://schemas.microsoft.com/office/drawing/2014/main" id="{A880D81E-AB1D-75F5-2F3E-E869FA0D079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01B769A-08B6-9C22-83A8-C45C43E04467}"/>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3835296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653D6-4674-84BE-B55F-6D5CCAFF9F8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28C1359-D7E6-B76A-A297-828C989393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E5DEA7C-8F99-5B8D-4CE6-805459385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BDBA988-66DC-DF60-A6A9-1A0743763578}"/>
              </a:ext>
            </a:extLst>
          </p:cNvPr>
          <p:cNvSpPr>
            <a:spLocks noGrp="1"/>
          </p:cNvSpPr>
          <p:nvPr>
            <p:ph type="dt" sz="half" idx="10"/>
          </p:nvPr>
        </p:nvSpPr>
        <p:spPr/>
        <p:txBody>
          <a:bodyPr/>
          <a:lstStyle/>
          <a:p>
            <a:fld id="{DBDA3BB7-2A5B-4BE2-8668-3D3E50D4C04B}" type="datetime1">
              <a:rPr lang="zh-CN" altLang="en-US" smtClean="0"/>
              <a:t>2026/3/11</a:t>
            </a:fld>
            <a:endParaRPr lang="zh-CN" altLang="en-US"/>
          </a:p>
        </p:txBody>
      </p:sp>
      <p:sp>
        <p:nvSpPr>
          <p:cNvPr id="6" name="页脚占位符 5">
            <a:extLst>
              <a:ext uri="{FF2B5EF4-FFF2-40B4-BE49-F238E27FC236}">
                <a16:creationId xmlns:a16="http://schemas.microsoft.com/office/drawing/2014/main" id="{57FC80C5-9ABF-2BC2-29E2-13A2E279905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CF67B1-FF07-C7C7-D3AC-01A175402E39}"/>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247965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9CE22-1963-C42C-4BD1-ADB6C057BBE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28EA0EA-FB05-DE73-6B6B-8CDB8AFBB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A1747F2-C03E-AF9B-2E9B-3E36D0132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21662AE-C272-A534-95C3-C1EB2256DA99}"/>
              </a:ext>
            </a:extLst>
          </p:cNvPr>
          <p:cNvSpPr>
            <a:spLocks noGrp="1"/>
          </p:cNvSpPr>
          <p:nvPr>
            <p:ph type="dt" sz="half" idx="10"/>
          </p:nvPr>
        </p:nvSpPr>
        <p:spPr/>
        <p:txBody>
          <a:bodyPr/>
          <a:lstStyle/>
          <a:p>
            <a:fld id="{8E74D1EC-093D-466E-ACC1-0714C1B67D68}" type="datetime1">
              <a:rPr lang="zh-CN" altLang="en-US" smtClean="0"/>
              <a:t>2026/3/11</a:t>
            </a:fld>
            <a:endParaRPr lang="zh-CN" altLang="en-US"/>
          </a:p>
        </p:txBody>
      </p:sp>
      <p:sp>
        <p:nvSpPr>
          <p:cNvPr id="6" name="页脚占位符 5">
            <a:extLst>
              <a:ext uri="{FF2B5EF4-FFF2-40B4-BE49-F238E27FC236}">
                <a16:creationId xmlns:a16="http://schemas.microsoft.com/office/drawing/2014/main" id="{B118D2FC-EBA3-BD9B-E03F-DDC87F85B8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634F86-E9BB-7F16-B9F0-FE575ED42BC9}"/>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4037899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512922-F55B-08CF-24F0-8FD0168A537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030BEED-18F3-3BBF-C058-8DFD24883D7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EB596B-1B5C-4167-F7DA-2F1D74856F2B}"/>
              </a:ext>
            </a:extLst>
          </p:cNvPr>
          <p:cNvSpPr>
            <a:spLocks noGrp="1"/>
          </p:cNvSpPr>
          <p:nvPr>
            <p:ph type="dt" sz="half" idx="10"/>
          </p:nvPr>
        </p:nvSpPr>
        <p:spPr/>
        <p:txBody>
          <a:bodyPr/>
          <a:lstStyle/>
          <a:p>
            <a:fld id="{490CAC60-FB05-437F-8D6B-6AFE7CA934E9}" type="datetime1">
              <a:rPr lang="zh-CN" altLang="en-US" smtClean="0"/>
              <a:t>2026/3/11</a:t>
            </a:fld>
            <a:endParaRPr lang="zh-CN" altLang="en-US"/>
          </a:p>
        </p:txBody>
      </p:sp>
      <p:sp>
        <p:nvSpPr>
          <p:cNvPr id="5" name="页脚占位符 4">
            <a:extLst>
              <a:ext uri="{FF2B5EF4-FFF2-40B4-BE49-F238E27FC236}">
                <a16:creationId xmlns:a16="http://schemas.microsoft.com/office/drawing/2014/main" id="{B7B12D5B-C09A-F4C4-8670-676870F04C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0219E7-F6A4-1A92-1571-A6C8EF8162CB}"/>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2741467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F07FC6E-9A01-B755-933A-38D046C484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89E94BA-4D56-9B3E-27A8-A25DC57CDDA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937BE4-920F-11DE-AAC0-E5A9B57CE47A}"/>
              </a:ext>
            </a:extLst>
          </p:cNvPr>
          <p:cNvSpPr>
            <a:spLocks noGrp="1"/>
          </p:cNvSpPr>
          <p:nvPr>
            <p:ph type="dt" sz="half" idx="10"/>
          </p:nvPr>
        </p:nvSpPr>
        <p:spPr/>
        <p:txBody>
          <a:bodyPr/>
          <a:lstStyle/>
          <a:p>
            <a:fld id="{7E81079F-6D57-4FDE-A263-705D9CCD8E12}" type="datetime1">
              <a:rPr lang="zh-CN" altLang="en-US" smtClean="0"/>
              <a:t>2026/3/11</a:t>
            </a:fld>
            <a:endParaRPr lang="zh-CN" altLang="en-US"/>
          </a:p>
        </p:txBody>
      </p:sp>
      <p:sp>
        <p:nvSpPr>
          <p:cNvPr id="5" name="页脚占位符 4">
            <a:extLst>
              <a:ext uri="{FF2B5EF4-FFF2-40B4-BE49-F238E27FC236}">
                <a16:creationId xmlns:a16="http://schemas.microsoft.com/office/drawing/2014/main" id="{F9991CC8-6F63-922B-95B2-65CAFCC576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732EA9-51B9-4D2C-1D4A-97B6260B7DE7}"/>
              </a:ext>
            </a:extLst>
          </p:cNvPr>
          <p:cNvSpPr>
            <a:spLocks noGrp="1"/>
          </p:cNvSpPr>
          <p:nvPr>
            <p:ph type="sldNum" sz="quarter" idx="12"/>
          </p:nvPr>
        </p:nvSpPr>
        <p:spPr/>
        <p:txBody>
          <a:body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289456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2BA8862-D853-29C5-7F77-3CC944C914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FDE0BB4-69C2-0D70-C6B8-CC9824F449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AF5F82C-101F-6F84-101E-54047665F1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488843-3CE1-48ED-87B4-9AEC8635EBF1}" type="datetime1">
              <a:rPr lang="zh-CN" altLang="en-US" smtClean="0"/>
              <a:t>2026/3/11</a:t>
            </a:fld>
            <a:endParaRPr lang="zh-CN" altLang="en-US"/>
          </a:p>
        </p:txBody>
      </p:sp>
      <p:sp>
        <p:nvSpPr>
          <p:cNvPr id="5" name="页脚占位符 4">
            <a:extLst>
              <a:ext uri="{FF2B5EF4-FFF2-40B4-BE49-F238E27FC236}">
                <a16:creationId xmlns:a16="http://schemas.microsoft.com/office/drawing/2014/main" id="{75A3D2A0-0B40-36F2-D1B2-552BB65338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80C8E40-3CC9-25B2-8DE5-45543B006A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02579E-E4E5-4A9F-9BB8-B4A9B8D6FEA4}" type="slidenum">
              <a:rPr lang="zh-CN" altLang="en-US" smtClean="0"/>
              <a:t>‹#›</a:t>
            </a:fld>
            <a:endParaRPr lang="zh-CN" altLang="en-US"/>
          </a:p>
        </p:txBody>
      </p:sp>
    </p:spTree>
    <p:extLst>
      <p:ext uri="{BB962C8B-B14F-4D97-AF65-F5344CB8AC3E}">
        <p14:creationId xmlns:p14="http://schemas.microsoft.com/office/powerpoint/2010/main" val="3557149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png"/><Relationship Id="rId10" Type="http://schemas.openxmlformats.org/officeDocument/2006/relationships/image" Target="../media/image18.svg"/><Relationship Id="rId4" Type="http://schemas.openxmlformats.org/officeDocument/2006/relationships/image" Target="../media/image14.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59B4DD59-BD5A-B827-13ED-04FBEDD14983}"/>
              </a:ext>
            </a:extLst>
          </p:cNvPr>
          <p:cNvSpPr/>
          <p:nvPr/>
        </p:nvSpPr>
        <p:spPr>
          <a:xfrm>
            <a:off x="0" y="0"/>
            <a:ext cx="12192000" cy="6858000"/>
          </a:xfrm>
          <a:prstGeom prst="rect">
            <a:avLst/>
          </a:prstGeom>
          <a:solidFill>
            <a:srgbClr val="0F1C45">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TextBox 3"/>
          <p:cNvSpPr txBox="1"/>
          <p:nvPr/>
        </p:nvSpPr>
        <p:spPr>
          <a:xfrm>
            <a:off x="418055" y="1894778"/>
            <a:ext cx="11373472" cy="1920526"/>
          </a:xfrm>
          <a:prstGeom prst="rect">
            <a:avLst/>
          </a:prstGeom>
          <a:noFill/>
        </p:spPr>
        <p:txBody>
          <a:bodyPr wrap="square" lIns="36576" tIns="36576" rIns="36576" bIns="36576" anchor="t">
            <a:spAutoFit/>
          </a:bodyPr>
          <a:lstStyle/>
          <a:p>
            <a:pPr algn="ctr">
              <a:defRPr/>
            </a:pPr>
            <a:r>
              <a:rPr lang="en-US" sz="6000" b="1" dirty="0">
                <a:solidFill>
                  <a:schemeClr val="accent4">
                    <a:lumMod val="60000"/>
                    <a:lumOff val="40000"/>
                  </a:schemeClr>
                </a:solidFill>
                <a:latin typeface="Eras Demi ITC" panose="020B0805030504020804" pitchFamily="34" charset="0"/>
                <a:ea typeface="阿里巴巴普惠体 2.0 95 ExtraBold" panose="00020600040101010101" pitchFamily="18" charset="-122"/>
              </a:rPr>
              <a:t>Development and Validation of a Dexterous Hand System</a:t>
            </a:r>
            <a:endParaRPr sz="6000" b="1" dirty="0">
              <a:solidFill>
                <a:schemeClr val="accent4">
                  <a:lumMod val="60000"/>
                  <a:lumOff val="40000"/>
                </a:schemeClr>
              </a:solidFill>
              <a:latin typeface="Eras Demi ITC" panose="020B0805030504020804" pitchFamily="34" charset="0"/>
              <a:ea typeface="阿里巴巴普惠体 2.0 95 ExtraBold" panose="00020600040101010101" pitchFamily="18" charset="-122"/>
            </a:endParaRPr>
          </a:p>
        </p:txBody>
      </p:sp>
      <p:sp>
        <p:nvSpPr>
          <p:cNvPr id="5" name="灯片编号占位符 4">
            <a:extLst>
              <a:ext uri="{FF2B5EF4-FFF2-40B4-BE49-F238E27FC236}">
                <a16:creationId xmlns:a16="http://schemas.microsoft.com/office/drawing/2014/main" id="{E8DC393A-8132-20BE-68B9-BE3E8DE3D007}"/>
              </a:ext>
            </a:extLst>
          </p:cNvPr>
          <p:cNvSpPr>
            <a:spLocks noGrp="1"/>
          </p:cNvSpPr>
          <p:nvPr>
            <p:ph type="sldNum" sz="quarter" idx="12"/>
          </p:nvPr>
        </p:nvSpPr>
        <p:spPr>
          <a:xfrm>
            <a:off x="9448800" y="6474308"/>
            <a:ext cx="2743200" cy="365125"/>
          </a:xfrm>
        </p:spPr>
        <p:txBody>
          <a:bodyPr/>
          <a:lstStyle/>
          <a:p>
            <a:fld id="{B902579E-E4E5-4A9F-9BB8-B4A9B8D6FEA4}" type="slidenum">
              <a:rPr lang="zh-CN" altLang="en-US" smtClean="0"/>
              <a:t>1</a:t>
            </a:fld>
            <a:endParaRPr lang="zh-CN" altLang="en-US" dirty="0"/>
          </a:p>
        </p:txBody>
      </p:sp>
      <p:pic>
        <p:nvPicPr>
          <p:cNvPr id="1028" name="Picture 4" descr="院长寄语 | 香港中文大学(深圳)金融EMBA">
            <a:extLst>
              <a:ext uri="{FF2B5EF4-FFF2-40B4-BE49-F238E27FC236}">
                <a16:creationId xmlns:a16="http://schemas.microsoft.com/office/drawing/2014/main" id="{19E4CC00-B42F-6E7C-EA2B-CBB3D3C3E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组合 7">
            <a:extLst>
              <a:ext uri="{FF2B5EF4-FFF2-40B4-BE49-F238E27FC236}">
                <a16:creationId xmlns:a16="http://schemas.microsoft.com/office/drawing/2014/main" id="{C9E682DC-5797-1324-2B14-E979A9339D74}"/>
              </a:ext>
            </a:extLst>
          </p:cNvPr>
          <p:cNvGrpSpPr/>
          <p:nvPr/>
        </p:nvGrpSpPr>
        <p:grpSpPr>
          <a:xfrm>
            <a:off x="2314330" y="1514108"/>
            <a:ext cx="7556172" cy="400110"/>
            <a:chOff x="2043212" y="1514003"/>
            <a:chExt cx="7556172" cy="400110"/>
          </a:xfrm>
        </p:grpSpPr>
        <p:sp>
          <p:nvSpPr>
            <p:cNvPr id="9" name="文本框 8">
              <a:extLst>
                <a:ext uri="{FF2B5EF4-FFF2-40B4-BE49-F238E27FC236}">
                  <a16:creationId xmlns:a16="http://schemas.microsoft.com/office/drawing/2014/main" id="{B6FE3FD2-CB17-1C4B-37A4-0EC394BD928B}"/>
                </a:ext>
              </a:extLst>
            </p:cNvPr>
            <p:cNvSpPr txBox="1"/>
            <p:nvPr/>
          </p:nvSpPr>
          <p:spPr>
            <a:xfrm>
              <a:off x="2442224" y="1514003"/>
              <a:ext cx="680524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Times New Roman" panose="02020603050405020304" pitchFamily="18" charset="0"/>
                  <a:ea typeface="阿里巴巴普惠体 2.0 55 Regular" panose="00020600040101010101" pitchFamily="18" charset="-122"/>
                  <a:cs typeface="Times New Roman" panose="02020603050405020304" pitchFamily="18" charset="0"/>
                </a:rPr>
                <a:t>Proposal Presentation</a:t>
              </a:r>
              <a:endParaRPr kumimoji="0" lang="zh-CN" altLang="en-US" i="0" u="none" strike="noStrike" kern="1200" cap="none" spc="0" normalizeH="0" baseline="0" noProof="0" dirty="0">
                <a:ln>
                  <a:noFill/>
                </a:ln>
                <a:solidFill>
                  <a:schemeClr val="bg1"/>
                </a:solidFill>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C1F14671-D448-6E07-2EAF-180D54BA3ADA}"/>
                </a:ext>
              </a:extLst>
            </p:cNvPr>
            <p:cNvCxnSpPr>
              <a:cxnSpLocks/>
            </p:cNvCxnSpPr>
            <p:nvPr/>
          </p:nvCxnSpPr>
          <p:spPr>
            <a:xfrm flipV="1">
              <a:off x="2043212" y="1690062"/>
              <a:ext cx="2552292" cy="507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F9D318-5292-A5BB-D893-E0234B9B9B28}"/>
                </a:ext>
              </a:extLst>
            </p:cNvPr>
            <p:cNvCxnSpPr>
              <a:cxnSpLocks/>
            </p:cNvCxnSpPr>
            <p:nvPr/>
          </p:nvCxnSpPr>
          <p:spPr>
            <a:xfrm flipV="1">
              <a:off x="7047092" y="1690062"/>
              <a:ext cx="2552292" cy="507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2" name="文本框 21">
            <a:extLst>
              <a:ext uri="{FF2B5EF4-FFF2-40B4-BE49-F238E27FC236}">
                <a16:creationId xmlns:a16="http://schemas.microsoft.com/office/drawing/2014/main" id="{A6FB110F-EA38-0715-5BAF-A6F4270AF0CE}"/>
              </a:ext>
            </a:extLst>
          </p:cNvPr>
          <p:cNvSpPr txBox="1"/>
          <p:nvPr/>
        </p:nvSpPr>
        <p:spPr>
          <a:xfrm>
            <a:off x="1994039" y="4568141"/>
            <a:ext cx="85612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chemeClr val="accent4">
                    <a:lumMod val="60000"/>
                    <a:lumOff val="40000"/>
                  </a:schemeClr>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Team Members</a:t>
            </a:r>
            <a:r>
              <a:rPr kumimoji="0" lang="en-US" altLang="zh-CN" sz="1800" b="1" i="0" u="none" strike="noStrike" kern="1200" cap="none" spc="0" normalizeH="0" baseline="0" noProof="0" dirty="0">
                <a:ln>
                  <a:noFill/>
                </a:ln>
                <a:solidFill>
                  <a:srgbClr val="FFC000"/>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Jincheng Tian,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GuangTian</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Liu,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ZhongHao</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Zhao</a:t>
            </a:r>
            <a:endParaRPr lang="en-US" altLang="zh-CN" sz="1800"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endParaRPr>
          </a:p>
        </p:txBody>
      </p:sp>
      <p:sp>
        <p:nvSpPr>
          <p:cNvPr id="24" name="文本框 23">
            <a:extLst>
              <a:ext uri="{FF2B5EF4-FFF2-40B4-BE49-F238E27FC236}">
                <a16:creationId xmlns:a16="http://schemas.microsoft.com/office/drawing/2014/main" id="{DCA729F3-96E6-0B28-1244-0743874B19D1}"/>
              </a:ext>
            </a:extLst>
          </p:cNvPr>
          <p:cNvSpPr txBox="1"/>
          <p:nvPr/>
        </p:nvSpPr>
        <p:spPr>
          <a:xfrm>
            <a:off x="2838334" y="6328433"/>
            <a:ext cx="6111024" cy="369332"/>
          </a:xfrm>
          <a:prstGeom prst="rect">
            <a:avLst/>
          </a:prstGeom>
          <a:noFill/>
        </p:spPr>
        <p:txBody>
          <a:bodyPr wrap="square">
            <a:spAutoFit/>
          </a:bodyPr>
          <a:lstStyle/>
          <a:p>
            <a:pPr lvl="0" algn="ctr">
              <a:defRPr/>
            </a:pPr>
            <a:r>
              <a:rPr lang="en-US" altLang="zh-CN" dirty="0">
                <a:solidFill>
                  <a:schemeClr val="bg1"/>
                </a:solidFill>
                <a:latin typeface="Times New Roman" panose="02020603050405020304" pitchFamily="18" charset="0"/>
                <a:cs typeface="Times New Roman" panose="02020603050405020304" pitchFamily="18" charset="0"/>
              </a:rPr>
              <a:t>2026/3/11</a:t>
            </a:r>
            <a:endParaRPr kumimoji="0" lang="zh-CN" altLang="en-US" i="0" u="none" strike="noStrike" kern="1200" cap="none" spc="0" normalizeH="0" baseline="0" noProof="0" dirty="0">
              <a:ln>
                <a:noFill/>
              </a:ln>
              <a:solidFill>
                <a:schemeClr val="bg1"/>
              </a:solidFill>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sp>
        <p:nvSpPr>
          <p:cNvPr id="25" name="文本框 24">
            <a:extLst>
              <a:ext uri="{FF2B5EF4-FFF2-40B4-BE49-F238E27FC236}">
                <a16:creationId xmlns:a16="http://schemas.microsoft.com/office/drawing/2014/main" id="{96AD25A8-4FA7-4C2B-8453-A9569C9B7470}"/>
              </a:ext>
            </a:extLst>
          </p:cNvPr>
          <p:cNvSpPr txBox="1"/>
          <p:nvPr/>
        </p:nvSpPr>
        <p:spPr>
          <a:xfrm>
            <a:off x="1701194" y="3722449"/>
            <a:ext cx="878961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dirty="0">
                <a:solidFill>
                  <a:prstClr val="white"/>
                </a:solidFill>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a:t>
            </a:r>
            <a:r>
              <a:rPr lang="en-US" altLang="zh-CN" sz="2800" dirty="0">
                <a:solidFill>
                  <a:prstClr val="white"/>
                </a:solidFill>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 </a:t>
            </a:r>
            <a:r>
              <a:rPr lang="en-US" altLang="zh-CN" sz="2400" dirty="0">
                <a:solidFill>
                  <a:schemeClr val="bg1"/>
                </a:solidFill>
                <a:latin typeface="Times New Roman" panose="02020603050405020304" pitchFamily="18" charset="0"/>
                <a:ea typeface="阿里巴巴普惠体 2.0 55 Regular" panose="00020600040101010101" pitchFamily="18" charset="-122"/>
                <a:cs typeface="Times New Roman" panose="02020603050405020304" pitchFamily="18" charset="0"/>
              </a:rPr>
              <a:t>Dexhand Designed by The Robot Studio</a:t>
            </a:r>
            <a:r>
              <a:rPr kumimoji="0" lang="en-US" altLang="zh-CN" sz="3200" b="0" i="0" u="none" strike="noStrike" kern="1200" cap="none" spc="0" normalizeH="0" baseline="0" noProof="0" dirty="0">
                <a:ln>
                  <a:noFill/>
                </a:ln>
                <a:solidFill>
                  <a:prstClr val="white"/>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a:t>
            </a:r>
            <a:endParaRPr kumimoji="0" lang="zh-CN" altLang="en-US" sz="2800" b="0" i="0" u="none" strike="noStrike" kern="1200" cap="none" spc="0" normalizeH="0" baseline="0" noProof="0" dirty="0">
              <a:ln>
                <a:noFill/>
              </a:ln>
              <a:solidFill>
                <a:prstClr val="white"/>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347D-3A15-C472-BAB8-152237CF7116}"/>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08643A4-395D-1F76-BBFB-5409DB960A68}"/>
              </a:ext>
            </a:extLst>
          </p:cNvPr>
          <p:cNvSpPr txBox="1"/>
          <p:nvPr/>
        </p:nvSpPr>
        <p:spPr>
          <a:xfrm>
            <a:off x="336736" y="867154"/>
            <a:ext cx="11389477" cy="523220"/>
          </a:xfrm>
          <a:prstGeom prst="rect">
            <a:avLst/>
          </a:prstGeom>
          <a:noFill/>
        </p:spPr>
        <p:txBody>
          <a:bodyPr wrap="square">
            <a:spAutoFit/>
          </a:bodyPr>
          <a:lstStyle/>
          <a:p>
            <a:r>
              <a:rPr lang="en-US" altLang="zh-CN" sz="1400" dirty="0">
                <a:latin typeface="Eras Demi ITC" panose="020B0805030504020804" pitchFamily="34" charset="0"/>
                <a:ea typeface="微软雅黑" panose="020B0503020204020204" pitchFamily="34" charset="-122"/>
              </a:rPr>
              <a:t>DexHand is an </a:t>
            </a:r>
            <a:r>
              <a:rPr lang="en-US" altLang="zh-CN" sz="1400" b="1" dirty="0">
                <a:solidFill>
                  <a:srgbClr val="0070C0"/>
                </a:solidFill>
                <a:latin typeface="Eras Demi ITC" panose="020B0805030504020804" pitchFamily="34" charset="0"/>
                <a:ea typeface="微软雅黑" panose="020B0503020204020204" pitchFamily="34" charset="-122"/>
              </a:rPr>
              <a:t>open-source </a:t>
            </a:r>
            <a:r>
              <a:rPr lang="en-US" altLang="zh-CN" sz="1400" dirty="0">
                <a:latin typeface="Eras Demi ITC" panose="020B0805030504020804" pitchFamily="34" charset="0"/>
                <a:ea typeface="微软雅黑" panose="020B0503020204020204" pitchFamily="34" charset="-122"/>
              </a:rPr>
              <a:t>dexterous hand for humanoid robotics research, balancing </a:t>
            </a:r>
            <a:r>
              <a:rPr lang="en-US" altLang="zh-CN" sz="1400" b="1" dirty="0">
                <a:solidFill>
                  <a:srgbClr val="0070C0"/>
                </a:solidFill>
                <a:latin typeface="Eras Demi ITC" panose="020B0805030504020804" pitchFamily="34" charset="0"/>
                <a:ea typeface="微软雅黑" panose="020B0503020204020204" pitchFamily="34" charset="-122"/>
              </a:rPr>
              <a:t>low cost</a:t>
            </a:r>
            <a:r>
              <a:rPr lang="en-US" altLang="zh-CN" sz="1400" dirty="0">
                <a:latin typeface="Eras Demi ITC" panose="020B0805030504020804" pitchFamily="34" charset="0"/>
                <a:ea typeface="微软雅黑" panose="020B0503020204020204" pitchFamily="34" charset="-122"/>
              </a:rPr>
              <a:t>, </a:t>
            </a:r>
            <a:r>
              <a:rPr lang="en-US" altLang="zh-CN" sz="1400" b="1" dirty="0">
                <a:solidFill>
                  <a:srgbClr val="0070C0"/>
                </a:solidFill>
                <a:latin typeface="Eras Demi ITC" panose="020B0805030504020804" pitchFamily="34" charset="0"/>
                <a:ea typeface="微软雅黑" panose="020B0503020204020204" pitchFamily="34" charset="-122"/>
              </a:rPr>
              <a:t>reproducibility</a:t>
            </a:r>
            <a:r>
              <a:rPr lang="en-US" altLang="zh-CN" sz="1400" dirty="0">
                <a:latin typeface="Eras Demi ITC" panose="020B0805030504020804" pitchFamily="34" charset="0"/>
                <a:ea typeface="微软雅黑" panose="020B0503020204020204" pitchFamily="34" charset="-122"/>
              </a:rPr>
              <a:t>, and </a:t>
            </a:r>
            <a:r>
              <a:rPr lang="en-US" altLang="zh-CN" sz="1400" b="1" dirty="0">
                <a:solidFill>
                  <a:srgbClr val="0070C0"/>
                </a:solidFill>
                <a:latin typeface="Eras Demi ITC" panose="020B0805030504020804" pitchFamily="34" charset="0"/>
                <a:ea typeface="微软雅黑" panose="020B0503020204020204" pitchFamily="34" charset="-122"/>
              </a:rPr>
              <a:t>extensibility</a:t>
            </a:r>
            <a:r>
              <a:rPr lang="en-US" altLang="zh-CN" sz="1400" dirty="0">
                <a:latin typeface="Eras Demi ITC" panose="020B0805030504020804" pitchFamily="34" charset="0"/>
                <a:ea typeface="微软雅黑" panose="020B0503020204020204" pitchFamily="34" charset="-122"/>
              </a:rPr>
              <a:t> across mechanical design, control, and simulation.</a:t>
            </a:r>
          </a:p>
        </p:txBody>
      </p:sp>
      <p:sp>
        <p:nvSpPr>
          <p:cNvPr id="6" name="Text 2"/>
          <p:cNvSpPr/>
          <p:nvPr/>
        </p:nvSpPr>
        <p:spPr>
          <a:xfrm>
            <a:off x="555674" y="1623207"/>
            <a:ext cx="2082741" cy="228600"/>
          </a:xfrm>
          <a:prstGeom prst="rect">
            <a:avLst/>
          </a:prstGeom>
          <a:noFill/>
          <a:ln/>
        </p:spPr>
        <p:txBody>
          <a:bodyPr wrap="square" lIns="0" tIns="0" rIns="0" bIns="0" rtlCol="0" anchor="ctr"/>
          <a:lstStyle/>
          <a:p>
            <a:r>
              <a:rPr lang="en-US" altLang="zh-CN" sz="1600" b="1" dirty="0">
                <a:solidFill>
                  <a:srgbClr val="173F67"/>
                </a:solidFill>
                <a:latin typeface="Times New Roman" panose="02020603050405020304" pitchFamily="18" charset="0"/>
                <a:cs typeface="Times New Roman" panose="02020603050405020304" pitchFamily="18" charset="0"/>
              </a:rPr>
              <a:t>Project Development</a:t>
            </a:r>
            <a:endParaRPr lang="en-US" sz="1700" b="1" dirty="0">
              <a:solidFill>
                <a:srgbClr val="173F67"/>
              </a:solidFill>
              <a:latin typeface="Times New Roman" panose="02020603050405020304" pitchFamily="18" charset="0"/>
              <a:cs typeface="Times New Roman" panose="02020603050405020304" pitchFamily="18" charset="0"/>
            </a:endParaRPr>
          </a:p>
        </p:txBody>
      </p:sp>
      <p:sp>
        <p:nvSpPr>
          <p:cNvPr id="7" name="Shape 3"/>
          <p:cNvSpPr/>
          <p:nvPr/>
        </p:nvSpPr>
        <p:spPr>
          <a:xfrm>
            <a:off x="894004" y="2076548"/>
            <a:ext cx="0" cy="4160520"/>
          </a:xfrm>
          <a:prstGeom prst="line">
            <a:avLst/>
          </a:prstGeom>
          <a:noFill/>
          <a:ln w="2794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9" name="Shape 4"/>
          <p:cNvSpPr/>
          <p:nvPr/>
        </p:nvSpPr>
        <p:spPr>
          <a:xfrm>
            <a:off x="784276" y="2103980"/>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2" name="组合 1">
            <a:extLst>
              <a:ext uri="{FF2B5EF4-FFF2-40B4-BE49-F238E27FC236}">
                <a16:creationId xmlns:a16="http://schemas.microsoft.com/office/drawing/2014/main" id="{D8BEE8F1-B6E0-08E4-2AF4-E8E334C6AB66}"/>
              </a:ext>
            </a:extLst>
          </p:cNvPr>
          <p:cNvGrpSpPr/>
          <p:nvPr/>
        </p:nvGrpSpPr>
        <p:grpSpPr>
          <a:xfrm>
            <a:off x="1104316" y="2030828"/>
            <a:ext cx="4572584" cy="822960"/>
            <a:chOff x="1104316" y="2165653"/>
            <a:chExt cx="4572584" cy="822960"/>
          </a:xfrm>
        </p:grpSpPr>
        <p:sp>
          <p:nvSpPr>
            <p:cNvPr id="10" name="Shape 5"/>
            <p:cNvSpPr/>
            <p:nvPr/>
          </p:nvSpPr>
          <p:spPr>
            <a:xfrm>
              <a:off x="1104316" y="2165653"/>
              <a:ext cx="4572584" cy="822960"/>
            </a:xfrm>
            <a:prstGeom prst="roundRect">
              <a:avLst>
                <a:gd name="adj" fmla="val 5556"/>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 name="Shape 6"/>
            <p:cNvSpPr/>
            <p:nvPr/>
          </p:nvSpPr>
          <p:spPr>
            <a:xfrm>
              <a:off x="1104316" y="2165653"/>
              <a:ext cx="87560" cy="822960"/>
            </a:xfrm>
            <a:prstGeom prst="rect">
              <a:avLst/>
            </a:prstGeom>
            <a:solidFill>
              <a:srgbClr val="D9E8F5"/>
            </a:solidFill>
            <a:ln w="12700">
              <a:solidFill>
                <a:srgbClr val="D9E8F5"/>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2" name="Text 7"/>
            <p:cNvSpPr/>
            <p:nvPr/>
          </p:nvSpPr>
          <p:spPr>
            <a:xfrm>
              <a:off x="1268907" y="2257093"/>
              <a:ext cx="4280717" cy="182880"/>
            </a:xfrm>
            <a:prstGeom prst="rect">
              <a:avLst/>
            </a:prstGeom>
            <a:noFill/>
            <a:ln/>
          </p:spPr>
          <p:txBody>
            <a:bodyPr wrap="square" lIns="0" tIns="0" rIns="0" bIns="0" rtlCol="0" anchor="ctr"/>
            <a:lstStyle/>
            <a:p>
              <a:pPr marL="0" indent="0">
                <a:buNone/>
              </a:pPr>
              <a:r>
                <a:rPr lang="en-US" sz="1280" b="1" dirty="0">
                  <a:solidFill>
                    <a:srgbClr val="173F67"/>
                  </a:solidFill>
                  <a:latin typeface="Times New Roman" panose="02020603050405020304" pitchFamily="18" charset="0"/>
                  <a:cs typeface="Times New Roman" panose="02020603050405020304" pitchFamily="18" charset="0"/>
                </a:rPr>
                <a:t>Project </a:t>
              </a:r>
              <a:r>
                <a:rPr lang="en-US" sz="1400" b="1" dirty="0">
                  <a:solidFill>
                    <a:srgbClr val="173F67"/>
                  </a:solidFill>
                  <a:latin typeface="Times New Roman" panose="02020603050405020304" pitchFamily="18" charset="0"/>
                  <a:cs typeface="Times New Roman" panose="02020603050405020304" pitchFamily="18" charset="0"/>
                </a:rPr>
                <a:t>Origin</a:t>
              </a:r>
            </a:p>
          </p:txBody>
        </p:sp>
        <p:sp>
          <p:nvSpPr>
            <p:cNvPr id="13" name="Text 8"/>
            <p:cNvSpPr/>
            <p:nvPr/>
          </p:nvSpPr>
          <p:spPr>
            <a:xfrm>
              <a:off x="1268908" y="2476549"/>
              <a:ext cx="4319633" cy="457200"/>
            </a:xfrm>
            <a:prstGeom prst="rect">
              <a:avLst/>
            </a:prstGeom>
            <a:noFill/>
            <a:ln/>
          </p:spPr>
          <p:txBody>
            <a:bodyPr wrap="square" lIns="0" tIns="0" rIns="0" bIns="0" rtlCol="0" anchor="ctr">
              <a:normAutofit/>
            </a:bodyPr>
            <a:lstStyle/>
            <a:p>
              <a:r>
                <a:rPr lang="en-US" altLang="zh-CN" sz="1200" dirty="0">
                  <a:latin typeface="Times New Roman" panose="02020603050405020304" pitchFamily="18" charset="0"/>
                  <a:cs typeface="Times New Roman" panose="02020603050405020304" pitchFamily="18" charset="0"/>
                </a:rPr>
                <a:t>Proposed and released as an open-source V1 design by Rob Knight</a:t>
              </a:r>
              <a:endParaRPr lang="en-US" sz="1120" dirty="0">
                <a:latin typeface="Times New Roman" panose="02020603050405020304" pitchFamily="18" charset="0"/>
                <a:cs typeface="Times New Roman" panose="02020603050405020304" pitchFamily="18" charset="0"/>
              </a:endParaRPr>
            </a:p>
          </p:txBody>
        </p:sp>
      </p:grpSp>
      <p:sp>
        <p:nvSpPr>
          <p:cNvPr id="14" name="Shape 9"/>
          <p:cNvSpPr/>
          <p:nvPr/>
        </p:nvSpPr>
        <p:spPr>
          <a:xfrm>
            <a:off x="784276" y="3234154"/>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3" name="组合 2">
            <a:extLst>
              <a:ext uri="{FF2B5EF4-FFF2-40B4-BE49-F238E27FC236}">
                <a16:creationId xmlns:a16="http://schemas.microsoft.com/office/drawing/2014/main" id="{847DF951-4E2B-092A-85D7-52E0B6CCE229}"/>
              </a:ext>
            </a:extLst>
          </p:cNvPr>
          <p:cNvGrpSpPr/>
          <p:nvPr/>
        </p:nvGrpSpPr>
        <p:grpSpPr>
          <a:xfrm>
            <a:off x="1104316" y="3130558"/>
            <a:ext cx="4572584" cy="870532"/>
            <a:chOff x="1104316" y="3325945"/>
            <a:chExt cx="4572584" cy="870532"/>
          </a:xfrm>
        </p:grpSpPr>
        <p:sp>
          <p:nvSpPr>
            <p:cNvPr id="15" name="Shape 10"/>
            <p:cNvSpPr/>
            <p:nvPr/>
          </p:nvSpPr>
          <p:spPr>
            <a:xfrm>
              <a:off x="1104316" y="3325945"/>
              <a:ext cx="4572584" cy="870532"/>
            </a:xfrm>
            <a:prstGeom prst="roundRect">
              <a:avLst>
                <a:gd name="adj" fmla="val 5556"/>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6" name="Shape 11"/>
            <p:cNvSpPr/>
            <p:nvPr/>
          </p:nvSpPr>
          <p:spPr>
            <a:xfrm>
              <a:off x="1104316" y="3325945"/>
              <a:ext cx="87560" cy="822960"/>
            </a:xfrm>
            <a:prstGeom prst="rect">
              <a:avLst/>
            </a:prstGeom>
            <a:solidFill>
              <a:srgbClr val="EDE7D6"/>
            </a:solidFill>
            <a:ln w="12700">
              <a:solidFill>
                <a:srgbClr val="EDE7D6"/>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7" name="Text 12"/>
            <p:cNvSpPr/>
            <p:nvPr/>
          </p:nvSpPr>
          <p:spPr>
            <a:xfrm>
              <a:off x="1268907" y="3417385"/>
              <a:ext cx="4280717" cy="182880"/>
            </a:xfrm>
            <a:prstGeom prst="rect">
              <a:avLst/>
            </a:prstGeom>
            <a:noFill/>
            <a:ln/>
          </p:spPr>
          <p:txBody>
            <a:bodyPr wrap="square" lIns="0" tIns="0" rIns="0" bIns="0" rtlCol="0" anchor="ctr"/>
            <a:lstStyle/>
            <a:p>
              <a:r>
                <a:rPr lang="en-US" altLang="zh-CN" sz="1400" b="1" dirty="0">
                  <a:solidFill>
                    <a:srgbClr val="173F67"/>
                  </a:solidFill>
                  <a:latin typeface="Times New Roman" panose="02020603050405020304" pitchFamily="18" charset="0"/>
                  <a:cs typeface="Times New Roman" panose="02020603050405020304" pitchFamily="18" charset="0"/>
                </a:rPr>
                <a:t>Hardware Maturity</a:t>
              </a:r>
              <a:endParaRPr lang="en-US" sz="1280" b="1" dirty="0">
                <a:solidFill>
                  <a:srgbClr val="173F67"/>
                </a:solidFill>
                <a:latin typeface="Times New Roman" panose="02020603050405020304" pitchFamily="18" charset="0"/>
                <a:cs typeface="Times New Roman" panose="02020603050405020304" pitchFamily="18" charset="0"/>
              </a:endParaRPr>
            </a:p>
          </p:txBody>
        </p:sp>
        <p:sp>
          <p:nvSpPr>
            <p:cNvPr id="18" name="Text 13"/>
            <p:cNvSpPr/>
            <p:nvPr/>
          </p:nvSpPr>
          <p:spPr>
            <a:xfrm>
              <a:off x="1268908" y="3636841"/>
              <a:ext cx="4319633" cy="457200"/>
            </a:xfrm>
            <a:prstGeom prst="rect">
              <a:avLst/>
            </a:prstGeom>
            <a:noFill/>
            <a:ln/>
          </p:spPr>
          <p:txBody>
            <a:bodyPr wrap="square" lIns="0" tIns="0" rIns="0" bIns="0" rtlCol="0" anchor="ctr">
              <a:noAutofit/>
            </a:bodyPr>
            <a:lstStyle/>
            <a:p>
              <a:r>
                <a:rPr lang="en-US" altLang="zh-CN" sz="1200" dirty="0">
                  <a:latin typeface="Times New Roman" panose="02020603050405020304" pitchFamily="18" charset="0"/>
                  <a:cs typeface="Times New Roman" panose="02020603050405020304" pitchFamily="18" charset="0"/>
                </a:rPr>
                <a:t>The IoT Design Shop continuously improved the BOM, assembly wiki, and design iterations, making the robotic hand easier to replicate, wire, and debug.</a:t>
              </a:r>
              <a:endParaRPr lang="en-US" sz="1200" dirty="0">
                <a:latin typeface="Times New Roman" panose="02020603050405020304" pitchFamily="18" charset="0"/>
                <a:cs typeface="Times New Roman" panose="02020603050405020304" pitchFamily="18" charset="0"/>
              </a:endParaRPr>
            </a:p>
          </p:txBody>
        </p:sp>
      </p:grpSp>
      <p:sp>
        <p:nvSpPr>
          <p:cNvPr id="19" name="Shape 14"/>
          <p:cNvSpPr/>
          <p:nvPr/>
        </p:nvSpPr>
        <p:spPr>
          <a:xfrm>
            <a:off x="784276" y="4424564"/>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4" name="组合 3">
            <a:extLst>
              <a:ext uri="{FF2B5EF4-FFF2-40B4-BE49-F238E27FC236}">
                <a16:creationId xmlns:a16="http://schemas.microsoft.com/office/drawing/2014/main" id="{873355ED-EC64-6709-8D45-770F745917E2}"/>
              </a:ext>
            </a:extLst>
          </p:cNvPr>
          <p:cNvGrpSpPr/>
          <p:nvPr/>
        </p:nvGrpSpPr>
        <p:grpSpPr>
          <a:xfrm>
            <a:off x="1104316" y="4277860"/>
            <a:ext cx="4572584" cy="874977"/>
            <a:chOff x="1104316" y="4486236"/>
            <a:chExt cx="4572584" cy="874977"/>
          </a:xfrm>
        </p:grpSpPr>
        <p:sp>
          <p:nvSpPr>
            <p:cNvPr id="20" name="Shape 15"/>
            <p:cNvSpPr/>
            <p:nvPr/>
          </p:nvSpPr>
          <p:spPr>
            <a:xfrm>
              <a:off x="1104316" y="4486236"/>
              <a:ext cx="4572584" cy="874977"/>
            </a:xfrm>
            <a:prstGeom prst="roundRect">
              <a:avLst>
                <a:gd name="adj" fmla="val 5556"/>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1" name="Shape 16"/>
            <p:cNvSpPr/>
            <p:nvPr/>
          </p:nvSpPr>
          <p:spPr>
            <a:xfrm>
              <a:off x="1104316" y="4486237"/>
              <a:ext cx="87560" cy="822960"/>
            </a:xfrm>
            <a:prstGeom prst="rect">
              <a:avLst/>
            </a:prstGeom>
            <a:solidFill>
              <a:srgbClr val="D9E8F5"/>
            </a:solidFill>
            <a:ln w="12700">
              <a:solidFill>
                <a:srgbClr val="D9E8F5"/>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22" name="Text 17"/>
            <p:cNvSpPr/>
            <p:nvPr/>
          </p:nvSpPr>
          <p:spPr>
            <a:xfrm>
              <a:off x="1268907" y="4577677"/>
              <a:ext cx="4280717" cy="182880"/>
            </a:xfrm>
            <a:prstGeom prst="rect">
              <a:avLst/>
            </a:prstGeom>
            <a:noFill/>
            <a:ln/>
          </p:spPr>
          <p:txBody>
            <a:bodyPr wrap="square" lIns="0" tIns="0" rIns="0" bIns="0" rtlCol="0" anchor="ctr"/>
            <a:lstStyle/>
            <a:p>
              <a:r>
                <a:rPr lang="en-US" altLang="zh-CN" sz="1400" b="1" dirty="0">
                  <a:solidFill>
                    <a:srgbClr val="173F67"/>
                  </a:solidFill>
                  <a:latin typeface="Times New Roman" panose="02020603050405020304" pitchFamily="18" charset="0"/>
                  <a:cs typeface="Times New Roman" panose="02020603050405020304" pitchFamily="18" charset="0"/>
                </a:rPr>
                <a:t>Control Expansion</a:t>
              </a:r>
              <a:endParaRPr lang="en-US" sz="1280" b="1" dirty="0">
                <a:solidFill>
                  <a:srgbClr val="173F67"/>
                </a:solidFill>
                <a:latin typeface="Times New Roman" panose="02020603050405020304" pitchFamily="18" charset="0"/>
                <a:cs typeface="Times New Roman" panose="02020603050405020304" pitchFamily="18" charset="0"/>
              </a:endParaRPr>
            </a:p>
          </p:txBody>
        </p:sp>
        <p:sp>
          <p:nvSpPr>
            <p:cNvPr id="23" name="Text 18"/>
            <p:cNvSpPr/>
            <p:nvPr/>
          </p:nvSpPr>
          <p:spPr>
            <a:xfrm>
              <a:off x="1268908" y="4797133"/>
              <a:ext cx="4319633" cy="512064"/>
            </a:xfrm>
            <a:prstGeom prst="rect">
              <a:avLst/>
            </a:prstGeom>
            <a:noFill/>
            <a:ln/>
          </p:spPr>
          <p:txBody>
            <a:bodyPr wrap="square" lIns="0" tIns="0" rIns="0" bIns="0" rtlCol="0" anchor="ctr">
              <a:noAutofit/>
            </a:bodyPr>
            <a:lstStyle/>
            <a:p>
              <a:r>
                <a:rPr lang="en-US" altLang="zh-CN" sz="1200" dirty="0">
                  <a:latin typeface="Times New Roman" panose="02020603050405020304" pitchFamily="18" charset="0"/>
                  <a:cs typeface="Times New Roman" panose="02020603050405020304" pitchFamily="18" charset="0"/>
                </a:rPr>
                <a:t>In August 2023, BLE firmware and electronics setup documentation were released, supporting the Arduino Nano RP2040 Connect-based control architecture.</a:t>
              </a:r>
              <a:endParaRPr lang="en-US" sz="1200" dirty="0">
                <a:latin typeface="Times New Roman" panose="02020603050405020304" pitchFamily="18" charset="0"/>
                <a:cs typeface="Times New Roman" panose="02020603050405020304" pitchFamily="18" charset="0"/>
              </a:endParaRPr>
            </a:p>
          </p:txBody>
        </p:sp>
      </p:grpSp>
      <p:sp>
        <p:nvSpPr>
          <p:cNvPr id="24" name="Shape 19"/>
          <p:cNvSpPr/>
          <p:nvPr/>
        </p:nvSpPr>
        <p:spPr>
          <a:xfrm>
            <a:off x="784276" y="5576708"/>
            <a:ext cx="219456" cy="219456"/>
          </a:xfrm>
          <a:prstGeom prst="ellipse">
            <a:avLst/>
          </a:prstGeom>
          <a:solidFill>
            <a:srgbClr val="FFFFFF"/>
          </a:solidFill>
          <a:ln w="25400">
            <a:solidFill>
              <a:srgbClr val="245A8D"/>
            </a:solidFill>
            <a:prstDash val="solid"/>
          </a:ln>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30" name="组合 29">
            <a:extLst>
              <a:ext uri="{FF2B5EF4-FFF2-40B4-BE49-F238E27FC236}">
                <a16:creationId xmlns:a16="http://schemas.microsoft.com/office/drawing/2014/main" id="{ED8BD911-77DE-0817-4B56-623BAFE32452}"/>
              </a:ext>
            </a:extLst>
          </p:cNvPr>
          <p:cNvGrpSpPr/>
          <p:nvPr/>
        </p:nvGrpSpPr>
        <p:grpSpPr>
          <a:xfrm>
            <a:off x="1104316" y="5429608"/>
            <a:ext cx="4572584" cy="874977"/>
            <a:chOff x="1104316" y="5620092"/>
            <a:chExt cx="4572584" cy="874977"/>
          </a:xfrm>
        </p:grpSpPr>
        <p:sp>
          <p:nvSpPr>
            <p:cNvPr id="25" name="Shape 20"/>
            <p:cNvSpPr/>
            <p:nvPr/>
          </p:nvSpPr>
          <p:spPr>
            <a:xfrm>
              <a:off x="1104316" y="5620092"/>
              <a:ext cx="4572584" cy="874977"/>
            </a:xfrm>
            <a:prstGeom prst="roundRect">
              <a:avLst>
                <a:gd name="adj" fmla="val 5556"/>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6" name="Shape 21"/>
            <p:cNvSpPr/>
            <p:nvPr/>
          </p:nvSpPr>
          <p:spPr>
            <a:xfrm>
              <a:off x="1104316" y="5620093"/>
              <a:ext cx="87560" cy="822960"/>
            </a:xfrm>
            <a:prstGeom prst="rect">
              <a:avLst/>
            </a:prstGeom>
            <a:solidFill>
              <a:srgbClr val="EDE7D6"/>
            </a:solidFill>
            <a:ln w="12700">
              <a:solidFill>
                <a:srgbClr val="EDE7D6"/>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27" name="Text 22"/>
            <p:cNvSpPr/>
            <p:nvPr/>
          </p:nvSpPr>
          <p:spPr>
            <a:xfrm>
              <a:off x="1268907" y="5711533"/>
              <a:ext cx="4280717" cy="182880"/>
            </a:xfrm>
            <a:prstGeom prst="rect">
              <a:avLst/>
            </a:prstGeom>
            <a:noFill/>
            <a:ln/>
          </p:spPr>
          <p:txBody>
            <a:bodyPr wrap="square" lIns="0" tIns="0" rIns="0" bIns="0" rtlCol="0" anchor="ctr"/>
            <a:lstStyle/>
            <a:p>
              <a:r>
                <a:rPr lang="en-US" altLang="zh-CN" sz="1400" b="1" dirty="0">
                  <a:solidFill>
                    <a:srgbClr val="173F67"/>
                  </a:solidFill>
                  <a:latin typeface="Times New Roman" panose="02020603050405020304" pitchFamily="18" charset="0"/>
                  <a:cs typeface="Times New Roman" panose="02020603050405020304" pitchFamily="18" charset="0"/>
                </a:rPr>
                <a:t>Software Ecosystem</a:t>
              </a:r>
              <a:endParaRPr lang="en-US" sz="1280" b="1" dirty="0">
                <a:solidFill>
                  <a:srgbClr val="173F67"/>
                </a:solidFill>
                <a:latin typeface="Times New Roman" panose="02020603050405020304" pitchFamily="18" charset="0"/>
                <a:cs typeface="Times New Roman" panose="02020603050405020304" pitchFamily="18" charset="0"/>
              </a:endParaRPr>
            </a:p>
          </p:txBody>
        </p:sp>
        <p:sp>
          <p:nvSpPr>
            <p:cNvPr id="28" name="Text 23"/>
            <p:cNvSpPr/>
            <p:nvPr/>
          </p:nvSpPr>
          <p:spPr>
            <a:xfrm>
              <a:off x="1268908" y="5930989"/>
              <a:ext cx="4319633" cy="457200"/>
            </a:xfrm>
            <a:prstGeom prst="rect">
              <a:avLst/>
            </a:prstGeom>
            <a:noFill/>
            <a:ln/>
          </p:spPr>
          <p:txBody>
            <a:bodyPr wrap="square" lIns="0" tIns="0" rIns="0" bIns="0" rtlCol="0" anchor="ctr">
              <a:noAutofit/>
            </a:bodyPr>
            <a:lstStyle/>
            <a:p>
              <a:r>
                <a:rPr lang="en-US" altLang="zh-CN" sz="1200" dirty="0">
                  <a:latin typeface="Times New Roman" panose="02020603050405020304" pitchFamily="18" charset="0"/>
                  <a:cs typeface="Times New Roman" panose="02020603050405020304" pitchFamily="18" charset="0"/>
                </a:rPr>
                <a:t>In October 2023, ROS 2 support was introduced, together with URDF and RViz visualization/demo packages, facilitating simulation and secondary development.</a:t>
              </a:r>
              <a:endParaRPr lang="en-US" sz="1200" dirty="0">
                <a:latin typeface="Times New Roman" panose="02020603050405020304" pitchFamily="18" charset="0"/>
                <a:cs typeface="Times New Roman" panose="02020603050405020304" pitchFamily="18" charset="0"/>
              </a:endParaRPr>
            </a:p>
          </p:txBody>
        </p:sp>
      </p:grpSp>
      <p:pic>
        <p:nvPicPr>
          <p:cNvPr id="1026" name="Picture 2" descr="DEXHAND-ROS">
            <a:extLst>
              <a:ext uri="{FF2B5EF4-FFF2-40B4-BE49-F238E27FC236}">
                <a16:creationId xmlns:a16="http://schemas.microsoft.com/office/drawing/2014/main" id="{5B65A486-2148-7712-64E6-C5B15100FA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4588"/>
          <a:stretch>
            <a:fillRect/>
          </a:stretch>
        </p:blipFill>
        <p:spPr bwMode="auto">
          <a:xfrm>
            <a:off x="6811563" y="2176174"/>
            <a:ext cx="3954000" cy="4145438"/>
          </a:xfrm>
          <a:prstGeom prst="rect">
            <a:avLst/>
          </a:prstGeom>
          <a:noFill/>
          <a:extLst>
            <a:ext uri="{909E8E84-426E-40DD-AFC4-6F175D3DCCD1}">
              <a14:hiddenFill xmlns:a14="http://schemas.microsoft.com/office/drawing/2010/main">
                <a:solidFill>
                  <a:srgbClr val="FFFFFF"/>
                </a:solidFill>
              </a14:hiddenFill>
            </a:ext>
          </a:extLst>
        </p:spPr>
      </p:pic>
      <p:sp>
        <p:nvSpPr>
          <p:cNvPr id="31" name="灯片编号占位符 30">
            <a:extLst>
              <a:ext uri="{FF2B5EF4-FFF2-40B4-BE49-F238E27FC236}">
                <a16:creationId xmlns:a16="http://schemas.microsoft.com/office/drawing/2014/main" id="{C305DB6D-6062-C097-ABC6-71A17CB84BB8}"/>
              </a:ext>
            </a:extLst>
          </p:cNvPr>
          <p:cNvSpPr>
            <a:spLocks noGrp="1"/>
          </p:cNvSpPr>
          <p:nvPr>
            <p:ph type="sldNum" sz="quarter" idx="12"/>
          </p:nvPr>
        </p:nvSpPr>
        <p:spPr>
          <a:xfrm>
            <a:off x="9448800" y="6492875"/>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2</a:t>
            </a:fld>
            <a:endParaRPr lang="zh-CN" altLang="en-US" dirty="0">
              <a:latin typeface="Times New Roman" panose="02020603050405020304" pitchFamily="18" charset="0"/>
              <a:cs typeface="Times New Roman" panose="02020603050405020304" pitchFamily="18" charset="0"/>
            </a:endParaRPr>
          </a:p>
        </p:txBody>
      </p:sp>
      <p:pic>
        <p:nvPicPr>
          <p:cNvPr id="33" name="Picture 4" descr="院长寄语 | 香港中文大学(深圳)金融EMBA">
            <a:extLst>
              <a:ext uri="{FF2B5EF4-FFF2-40B4-BE49-F238E27FC236}">
                <a16:creationId xmlns:a16="http://schemas.microsoft.com/office/drawing/2014/main" id="{1FA7111C-4A8A-D27D-AFD2-D70C264486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33">
            <a:extLst>
              <a:ext uri="{FF2B5EF4-FFF2-40B4-BE49-F238E27FC236}">
                <a16:creationId xmlns:a16="http://schemas.microsoft.com/office/drawing/2014/main" id="{54C3E1DF-4E46-08F9-D296-89814EFA7736}"/>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What is Dexhand</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35" name="矩形 34">
            <a:extLst>
              <a:ext uri="{FF2B5EF4-FFF2-40B4-BE49-F238E27FC236}">
                <a16:creationId xmlns:a16="http://schemas.microsoft.com/office/drawing/2014/main" id="{3F271C95-6AF5-B06E-3C21-AA2CCDEECF9E}"/>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rPr>
              <a:t>Introduction</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sp>
        <p:nvSpPr>
          <p:cNvPr id="36" name="矩形 35">
            <a:extLst>
              <a:ext uri="{FF2B5EF4-FFF2-40B4-BE49-F238E27FC236}">
                <a16:creationId xmlns:a16="http://schemas.microsoft.com/office/drawing/2014/main" id="{AA2B3D2C-E56C-F5D5-F75A-F8A71BE03D7C}"/>
              </a:ext>
            </a:extLst>
          </p:cNvPr>
          <p:cNvSpPr/>
          <p:nvPr/>
        </p:nvSpPr>
        <p:spPr>
          <a:xfrm>
            <a:off x="449943" y="1546474"/>
            <a:ext cx="5536154" cy="4961332"/>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Eras Demi ITC" panose="020B0805030504020804" pitchFamily="34" charset="0"/>
            </a:endParaRPr>
          </a:p>
        </p:txBody>
      </p:sp>
      <p:sp>
        <p:nvSpPr>
          <p:cNvPr id="37" name="矩形 36">
            <a:extLst>
              <a:ext uri="{FF2B5EF4-FFF2-40B4-BE49-F238E27FC236}">
                <a16:creationId xmlns:a16="http://schemas.microsoft.com/office/drawing/2014/main" id="{DE82651C-3EDF-8991-4188-537E27A01C79}"/>
              </a:ext>
            </a:extLst>
          </p:cNvPr>
          <p:cNvSpPr/>
          <p:nvPr/>
        </p:nvSpPr>
        <p:spPr>
          <a:xfrm>
            <a:off x="6618051" y="1950025"/>
            <a:ext cx="4341021" cy="4557782"/>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Eras Demi ITC" panose="020B0805030504020804" pitchFamily="34" charset="0"/>
            </a:endParaRPr>
          </a:p>
        </p:txBody>
      </p:sp>
      <p:sp>
        <p:nvSpPr>
          <p:cNvPr id="38" name="矩形 37">
            <a:extLst>
              <a:ext uri="{FF2B5EF4-FFF2-40B4-BE49-F238E27FC236}">
                <a16:creationId xmlns:a16="http://schemas.microsoft.com/office/drawing/2014/main" id="{7618CE89-0C8C-E2F3-3C3B-E5AFE2787F97}"/>
              </a:ext>
            </a:extLst>
          </p:cNvPr>
          <p:cNvSpPr/>
          <p:nvPr/>
        </p:nvSpPr>
        <p:spPr>
          <a:xfrm>
            <a:off x="6595634" y="1524989"/>
            <a:ext cx="4385857" cy="425035"/>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C000"/>
                </a:solidFill>
                <a:latin typeface="Eras Demi ITC" panose="020B0805030504020804" pitchFamily="34" charset="0"/>
                <a:ea typeface="微软雅黑" panose="020B0503020204020204" pitchFamily="34" charset="-122"/>
              </a:rPr>
              <a:t>Dexhand Whole Body</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sp>
        <p:nvSpPr>
          <p:cNvPr id="39" name="文本框 38">
            <a:extLst>
              <a:ext uri="{FF2B5EF4-FFF2-40B4-BE49-F238E27FC236}">
                <a16:creationId xmlns:a16="http://schemas.microsoft.com/office/drawing/2014/main" id="{59017DCD-2E38-2480-C6BD-6B512BB2E55B}"/>
              </a:ext>
            </a:extLst>
          </p:cNvPr>
          <p:cNvSpPr txBox="1"/>
          <p:nvPr/>
        </p:nvSpPr>
        <p:spPr>
          <a:xfrm>
            <a:off x="336737" y="6567586"/>
            <a:ext cx="2638351" cy="307777"/>
          </a:xfrm>
          <a:prstGeom prst="rect">
            <a:avLst/>
          </a:prstGeom>
          <a:noFill/>
        </p:spPr>
        <p:txBody>
          <a:bodyPr wrap="none" rtlCol="0">
            <a:spAutoFit/>
          </a:bodyPr>
          <a:lstStyle/>
          <a:p>
            <a:r>
              <a:rPr lang="en-US" altLang="zh-CN" sz="1400" dirty="0">
                <a:latin typeface="Times New Roman" panose="02020603050405020304" pitchFamily="18" charset="0"/>
                <a:cs typeface="Times New Roman" panose="02020603050405020304" pitchFamily="18" charset="0"/>
              </a:rPr>
              <a:t>Source:</a:t>
            </a:r>
            <a:r>
              <a:rPr lang="zh-CN" altLang="en-US" sz="1400" dirty="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https://www.dexhand.org/</a:t>
            </a:r>
            <a:endParaRPr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022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9A65C-C035-0221-7D4D-4E28A777528B}"/>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DD5B274D-25C0-66D9-8116-A72E196DBD54}"/>
              </a:ext>
            </a:extLst>
          </p:cNvPr>
          <p:cNvSpPr txBox="1">
            <a:spLocks/>
          </p:cNvSpPr>
          <p:nvPr/>
        </p:nvSpPr>
        <p:spPr>
          <a:xfrm>
            <a:off x="76246" y="0"/>
            <a:ext cx="3532193" cy="6975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solidFill>
                  <a:schemeClr val="bg1"/>
                </a:solidFill>
                <a:latin typeface="Times New Roman" panose="02020603050405020304" pitchFamily="18" charset="0"/>
                <a:cs typeface="Times New Roman" panose="02020603050405020304" pitchFamily="18" charset="0"/>
              </a:rPr>
              <a:t>1 Introduction to Dexhand</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grpSp>
        <p:nvGrpSpPr>
          <p:cNvPr id="36" name="组合 35">
            <a:extLst>
              <a:ext uri="{FF2B5EF4-FFF2-40B4-BE49-F238E27FC236}">
                <a16:creationId xmlns:a16="http://schemas.microsoft.com/office/drawing/2014/main" id="{D0BF8E2A-5D50-0717-60FD-1E2F2B904EA0}"/>
              </a:ext>
            </a:extLst>
          </p:cNvPr>
          <p:cNvGrpSpPr/>
          <p:nvPr/>
        </p:nvGrpSpPr>
        <p:grpSpPr>
          <a:xfrm>
            <a:off x="4238885" y="1429052"/>
            <a:ext cx="2500903" cy="935217"/>
            <a:chOff x="4976247" y="1427862"/>
            <a:chExt cx="2500903" cy="935217"/>
          </a:xfrm>
        </p:grpSpPr>
        <p:sp>
          <p:nvSpPr>
            <p:cNvPr id="7" name="Shape 24">
              <a:extLst>
                <a:ext uri="{FF2B5EF4-FFF2-40B4-BE49-F238E27FC236}">
                  <a16:creationId xmlns:a16="http://schemas.microsoft.com/office/drawing/2014/main" id="{BF3ABBD1-75EB-DEA0-36DF-9444472DEABF}"/>
                </a:ext>
              </a:extLst>
            </p:cNvPr>
            <p:cNvSpPr>
              <a:spLocks/>
            </p:cNvSpPr>
            <p:nvPr/>
          </p:nvSpPr>
          <p:spPr>
            <a:xfrm>
              <a:off x="5003680" y="1427862"/>
              <a:ext cx="2473470" cy="914400"/>
            </a:xfrm>
            <a:prstGeom prst="roundRect">
              <a:avLst>
                <a:gd name="adj" fmla="val 5000"/>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8" name="Shape 25">
              <a:extLst>
                <a:ext uri="{FF2B5EF4-FFF2-40B4-BE49-F238E27FC236}">
                  <a16:creationId xmlns:a16="http://schemas.microsoft.com/office/drawing/2014/main" id="{286E0621-70C0-A262-4FD0-2002CCA3C67E}"/>
                </a:ext>
              </a:extLst>
            </p:cNvPr>
            <p:cNvSpPr>
              <a:spLocks/>
            </p:cNvSpPr>
            <p:nvPr/>
          </p:nvSpPr>
          <p:spPr>
            <a:xfrm>
              <a:off x="4976247" y="1448679"/>
              <a:ext cx="153525" cy="914400"/>
            </a:xfrm>
            <a:prstGeom prst="rect">
              <a:avLst/>
            </a:prstGeom>
            <a:solidFill>
              <a:srgbClr val="EAF1F8"/>
            </a:solidFill>
            <a:ln w="12700">
              <a:solidFill>
                <a:srgbClr val="EAF1F8"/>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9" name="Text 26">
              <a:extLst>
                <a:ext uri="{FF2B5EF4-FFF2-40B4-BE49-F238E27FC236}">
                  <a16:creationId xmlns:a16="http://schemas.microsoft.com/office/drawing/2014/main" id="{11C550D0-7D34-D094-6688-6E597BB6222E}"/>
                </a:ext>
              </a:extLst>
            </p:cNvPr>
            <p:cNvSpPr>
              <a:spLocks/>
            </p:cNvSpPr>
            <p:nvPr/>
          </p:nvSpPr>
          <p:spPr>
            <a:xfrm>
              <a:off x="5140840" y="1540119"/>
              <a:ext cx="1961718" cy="182880"/>
            </a:xfrm>
            <a:prstGeom prst="rect">
              <a:avLst/>
            </a:prstGeom>
            <a:noFill/>
            <a:ln/>
          </p:spPr>
          <p:txBody>
            <a:bodyPr wrap="square" lIns="0" tIns="0" rIns="0" bIns="0" rtlCol="0" anchor="ctr"/>
            <a:lstStyle/>
            <a:p>
              <a:pPr marL="0" indent="0">
                <a:buNone/>
              </a:pPr>
              <a:r>
                <a:rPr lang="en-US" sz="1280" b="1" dirty="0">
                  <a:solidFill>
                    <a:srgbClr val="173F67"/>
                  </a:solidFill>
                  <a:latin typeface="Times New Roman" panose="02020603050405020304" pitchFamily="18" charset="0"/>
                  <a:cs typeface="Times New Roman" panose="02020603050405020304" pitchFamily="18" charset="0"/>
                </a:rPr>
                <a:t>Finger</a:t>
              </a:r>
              <a:endParaRPr lang="en-US" sz="1280" dirty="0">
                <a:latin typeface="Times New Roman" panose="02020603050405020304" pitchFamily="18" charset="0"/>
                <a:cs typeface="Times New Roman" panose="02020603050405020304" pitchFamily="18" charset="0"/>
              </a:endParaRPr>
            </a:p>
          </p:txBody>
        </p:sp>
        <p:sp>
          <p:nvSpPr>
            <p:cNvPr id="10" name="Text 27">
              <a:extLst>
                <a:ext uri="{FF2B5EF4-FFF2-40B4-BE49-F238E27FC236}">
                  <a16:creationId xmlns:a16="http://schemas.microsoft.com/office/drawing/2014/main" id="{96EAEDF5-423B-C42B-4616-A0A46FDC2AF8}"/>
                </a:ext>
              </a:extLst>
            </p:cNvPr>
            <p:cNvSpPr>
              <a:spLocks/>
            </p:cNvSpPr>
            <p:nvPr/>
          </p:nvSpPr>
          <p:spPr>
            <a:xfrm>
              <a:off x="5140839" y="1759575"/>
              <a:ext cx="2231511" cy="548640"/>
            </a:xfrm>
            <a:prstGeom prst="rect">
              <a:avLst/>
            </a:prstGeom>
            <a:noFill/>
            <a:ln/>
          </p:spPr>
          <p:txBody>
            <a:bodyPr wrap="square" lIns="0" tIns="0" rIns="0" bIns="0" rtlCol="0" anchor="ctr">
              <a:normAutofit fontScale="92500" lnSpcReduction="10000"/>
            </a:bodyPr>
            <a:lstStyle/>
            <a:p>
              <a:r>
                <a:rPr lang="en-US" altLang="zh-CN" sz="1400" dirty="0">
                  <a:latin typeface="Times New Roman" panose="02020603050405020304" pitchFamily="18" charset="0"/>
                  <a:cs typeface="Times New Roman" panose="02020603050405020304" pitchFamily="18" charset="0"/>
                </a:rPr>
                <a:t>Five-finger biomimetic design with three phalanges: TIP, MLP, and PLP.</a:t>
              </a:r>
              <a:endParaRPr lang="en-US" sz="1200" dirty="0">
                <a:latin typeface="Times New Roman" panose="02020603050405020304" pitchFamily="18" charset="0"/>
                <a:cs typeface="Times New Roman" panose="02020603050405020304" pitchFamily="18" charset="0"/>
              </a:endParaRPr>
            </a:p>
          </p:txBody>
        </p:sp>
      </p:grpSp>
      <p:grpSp>
        <p:nvGrpSpPr>
          <p:cNvPr id="33" name="组合 32">
            <a:extLst>
              <a:ext uri="{FF2B5EF4-FFF2-40B4-BE49-F238E27FC236}">
                <a16:creationId xmlns:a16="http://schemas.microsoft.com/office/drawing/2014/main" id="{7A8DF6AC-FB92-EE52-AA07-A0A2ABDFFBF1}"/>
              </a:ext>
            </a:extLst>
          </p:cNvPr>
          <p:cNvGrpSpPr/>
          <p:nvPr/>
        </p:nvGrpSpPr>
        <p:grpSpPr>
          <a:xfrm>
            <a:off x="4238886" y="5343949"/>
            <a:ext cx="2513153" cy="914400"/>
            <a:chOff x="4976248" y="5342759"/>
            <a:chExt cx="2513153" cy="914400"/>
          </a:xfrm>
        </p:grpSpPr>
        <p:sp>
          <p:nvSpPr>
            <p:cNvPr id="11" name="Shape 28">
              <a:extLst>
                <a:ext uri="{FF2B5EF4-FFF2-40B4-BE49-F238E27FC236}">
                  <a16:creationId xmlns:a16="http://schemas.microsoft.com/office/drawing/2014/main" id="{8969C6B3-8575-CFB3-B4F5-9FBD36BA9C69}"/>
                </a:ext>
              </a:extLst>
            </p:cNvPr>
            <p:cNvSpPr>
              <a:spLocks/>
            </p:cNvSpPr>
            <p:nvPr/>
          </p:nvSpPr>
          <p:spPr>
            <a:xfrm>
              <a:off x="4976248" y="5342759"/>
              <a:ext cx="2513153" cy="914400"/>
            </a:xfrm>
            <a:prstGeom prst="roundRect">
              <a:avLst>
                <a:gd name="adj" fmla="val 4464"/>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2" name="Shape 29">
              <a:extLst>
                <a:ext uri="{FF2B5EF4-FFF2-40B4-BE49-F238E27FC236}">
                  <a16:creationId xmlns:a16="http://schemas.microsoft.com/office/drawing/2014/main" id="{63C874A0-312B-FA88-6CCD-4A070F42788E}"/>
                </a:ext>
              </a:extLst>
            </p:cNvPr>
            <p:cNvSpPr>
              <a:spLocks/>
            </p:cNvSpPr>
            <p:nvPr/>
          </p:nvSpPr>
          <p:spPr>
            <a:xfrm>
              <a:off x="4976248" y="5342759"/>
              <a:ext cx="155989" cy="914400"/>
            </a:xfrm>
            <a:prstGeom prst="rect">
              <a:avLst/>
            </a:prstGeom>
            <a:solidFill>
              <a:srgbClr val="F4ECDD"/>
            </a:solidFill>
            <a:ln w="12700">
              <a:solidFill>
                <a:srgbClr val="F4ECD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3" name="Text 30">
              <a:extLst>
                <a:ext uri="{FF2B5EF4-FFF2-40B4-BE49-F238E27FC236}">
                  <a16:creationId xmlns:a16="http://schemas.microsoft.com/office/drawing/2014/main" id="{A27C29F0-1C78-35CA-3A5F-D3B847DBC45E}"/>
                </a:ext>
              </a:extLst>
            </p:cNvPr>
            <p:cNvSpPr>
              <a:spLocks/>
            </p:cNvSpPr>
            <p:nvPr/>
          </p:nvSpPr>
          <p:spPr>
            <a:xfrm>
              <a:off x="5140840" y="5434199"/>
              <a:ext cx="1993190" cy="182880"/>
            </a:xfrm>
            <a:prstGeom prst="rect">
              <a:avLst/>
            </a:prstGeom>
            <a:noFill/>
            <a:ln/>
          </p:spPr>
          <p:txBody>
            <a:bodyPr wrap="square" lIns="0" tIns="0" rIns="0" bIns="0" rtlCol="0" anchor="ctr"/>
            <a:lstStyle/>
            <a:p>
              <a:pPr marL="0" indent="0">
                <a:buNone/>
              </a:pPr>
              <a:r>
                <a:rPr lang="en-US" sz="1280" b="1" dirty="0">
                  <a:solidFill>
                    <a:srgbClr val="173F67"/>
                  </a:solidFill>
                  <a:latin typeface="Times New Roman" panose="02020603050405020304" pitchFamily="18" charset="0"/>
                  <a:cs typeface="Times New Roman" panose="02020603050405020304" pitchFamily="18" charset="0"/>
                </a:rPr>
                <a:t>Servo</a:t>
              </a:r>
              <a:endParaRPr lang="en-US" sz="1280" dirty="0">
                <a:latin typeface="Times New Roman" panose="02020603050405020304" pitchFamily="18" charset="0"/>
                <a:cs typeface="Times New Roman" panose="02020603050405020304" pitchFamily="18" charset="0"/>
              </a:endParaRPr>
            </a:p>
          </p:txBody>
        </p:sp>
        <p:sp>
          <p:nvSpPr>
            <p:cNvPr id="14" name="Text 31">
              <a:extLst>
                <a:ext uri="{FF2B5EF4-FFF2-40B4-BE49-F238E27FC236}">
                  <a16:creationId xmlns:a16="http://schemas.microsoft.com/office/drawing/2014/main" id="{C19C3347-39BA-A20B-999E-5B0AF2893F87}"/>
                </a:ext>
              </a:extLst>
            </p:cNvPr>
            <p:cNvSpPr>
              <a:spLocks/>
            </p:cNvSpPr>
            <p:nvPr/>
          </p:nvSpPr>
          <p:spPr>
            <a:xfrm>
              <a:off x="5140840" y="5654919"/>
              <a:ext cx="2326477" cy="399807"/>
            </a:xfrm>
            <a:prstGeom prst="rect">
              <a:avLst/>
            </a:prstGeom>
            <a:noFill/>
            <a:ln/>
          </p:spPr>
          <p:txBody>
            <a:bodyPr wrap="square" lIns="0" tIns="0" rIns="0" bIns="0" rtlCol="0" anchor="ctr">
              <a:normAutofit lnSpcReduction="10000"/>
            </a:bodyPr>
            <a:lstStyle/>
            <a:p>
              <a:r>
                <a:rPr lang="en-US" altLang="zh-CN" sz="1400" dirty="0">
                  <a:latin typeface="Times New Roman" panose="02020603050405020304" pitchFamily="18" charset="0"/>
                  <a:cs typeface="Times New Roman" panose="02020603050405020304" pitchFamily="18" charset="0"/>
                </a:rPr>
                <a:t>Tendon-driven servos enable coordinated multi-joint motion.</a:t>
              </a:r>
              <a:endParaRPr lang="en-US" sz="1200" dirty="0">
                <a:latin typeface="Times New Roman" panose="02020603050405020304" pitchFamily="18" charset="0"/>
                <a:cs typeface="Times New Roman" panose="02020603050405020304" pitchFamily="18" charset="0"/>
              </a:endParaRPr>
            </a:p>
          </p:txBody>
        </p:sp>
      </p:grpSp>
      <p:grpSp>
        <p:nvGrpSpPr>
          <p:cNvPr id="37" name="组合 36">
            <a:extLst>
              <a:ext uri="{FF2B5EF4-FFF2-40B4-BE49-F238E27FC236}">
                <a16:creationId xmlns:a16="http://schemas.microsoft.com/office/drawing/2014/main" id="{6D4BCEBB-56AC-07C1-97C2-C2519201B4EB}"/>
              </a:ext>
            </a:extLst>
          </p:cNvPr>
          <p:cNvGrpSpPr/>
          <p:nvPr/>
        </p:nvGrpSpPr>
        <p:grpSpPr>
          <a:xfrm>
            <a:off x="4238883" y="2760047"/>
            <a:ext cx="2513151" cy="914400"/>
            <a:chOff x="4976245" y="2758857"/>
            <a:chExt cx="2513151" cy="914400"/>
          </a:xfrm>
        </p:grpSpPr>
        <p:sp>
          <p:nvSpPr>
            <p:cNvPr id="15" name="Shape 32">
              <a:extLst>
                <a:ext uri="{FF2B5EF4-FFF2-40B4-BE49-F238E27FC236}">
                  <a16:creationId xmlns:a16="http://schemas.microsoft.com/office/drawing/2014/main" id="{5EAFED5A-9758-F248-C22D-CF97EA823465}"/>
                </a:ext>
              </a:extLst>
            </p:cNvPr>
            <p:cNvSpPr>
              <a:spLocks/>
            </p:cNvSpPr>
            <p:nvPr/>
          </p:nvSpPr>
          <p:spPr>
            <a:xfrm>
              <a:off x="4976245" y="2758857"/>
              <a:ext cx="2513151" cy="914400"/>
            </a:xfrm>
            <a:prstGeom prst="roundRect">
              <a:avLst>
                <a:gd name="adj" fmla="val 5000"/>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6" name="Shape 33">
              <a:extLst>
                <a:ext uri="{FF2B5EF4-FFF2-40B4-BE49-F238E27FC236}">
                  <a16:creationId xmlns:a16="http://schemas.microsoft.com/office/drawing/2014/main" id="{7FF4FED3-6CF1-BA4E-B431-A0E1A6D013C4}"/>
                </a:ext>
              </a:extLst>
            </p:cNvPr>
            <p:cNvSpPr>
              <a:spLocks/>
            </p:cNvSpPr>
            <p:nvPr/>
          </p:nvSpPr>
          <p:spPr>
            <a:xfrm>
              <a:off x="4976245" y="2758857"/>
              <a:ext cx="155989" cy="914400"/>
            </a:xfrm>
            <a:prstGeom prst="rect">
              <a:avLst/>
            </a:prstGeom>
            <a:solidFill>
              <a:srgbClr val="E8F2EA"/>
            </a:solidFill>
            <a:ln w="12700">
              <a:solidFill>
                <a:srgbClr val="E8F2EA"/>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7" name="Text 34">
              <a:extLst>
                <a:ext uri="{FF2B5EF4-FFF2-40B4-BE49-F238E27FC236}">
                  <a16:creationId xmlns:a16="http://schemas.microsoft.com/office/drawing/2014/main" id="{74F30274-8CE5-F730-E61B-A99A7CFA8D33}"/>
                </a:ext>
              </a:extLst>
            </p:cNvPr>
            <p:cNvSpPr>
              <a:spLocks/>
            </p:cNvSpPr>
            <p:nvPr/>
          </p:nvSpPr>
          <p:spPr>
            <a:xfrm>
              <a:off x="5140837" y="2850297"/>
              <a:ext cx="1993189" cy="182880"/>
            </a:xfrm>
            <a:prstGeom prst="rect">
              <a:avLst/>
            </a:prstGeom>
            <a:noFill/>
            <a:ln/>
          </p:spPr>
          <p:txBody>
            <a:bodyPr wrap="square" lIns="0" tIns="0" rIns="0" bIns="0" rtlCol="0" anchor="ctr"/>
            <a:lstStyle/>
            <a:p>
              <a:pPr marL="0" indent="0">
                <a:buNone/>
              </a:pPr>
              <a:r>
                <a:rPr lang="en-US" sz="1280" b="1" dirty="0">
                  <a:solidFill>
                    <a:srgbClr val="173F67"/>
                  </a:solidFill>
                  <a:latin typeface="Times New Roman" panose="02020603050405020304" pitchFamily="18" charset="0"/>
                  <a:cs typeface="Times New Roman" panose="02020603050405020304" pitchFamily="18" charset="0"/>
                </a:rPr>
                <a:t>Wrist</a:t>
              </a:r>
              <a:endParaRPr lang="en-US" sz="1280" dirty="0">
                <a:latin typeface="Times New Roman" panose="02020603050405020304" pitchFamily="18" charset="0"/>
                <a:cs typeface="Times New Roman" panose="02020603050405020304" pitchFamily="18" charset="0"/>
              </a:endParaRPr>
            </a:p>
          </p:txBody>
        </p:sp>
        <p:sp>
          <p:nvSpPr>
            <p:cNvPr id="18" name="Text 35">
              <a:extLst>
                <a:ext uri="{FF2B5EF4-FFF2-40B4-BE49-F238E27FC236}">
                  <a16:creationId xmlns:a16="http://schemas.microsoft.com/office/drawing/2014/main" id="{3DF3B16D-CE95-E7EB-F253-567337B06837}"/>
                </a:ext>
              </a:extLst>
            </p:cNvPr>
            <p:cNvSpPr>
              <a:spLocks/>
            </p:cNvSpPr>
            <p:nvPr/>
          </p:nvSpPr>
          <p:spPr>
            <a:xfrm>
              <a:off x="5140837" y="3069753"/>
              <a:ext cx="2267311" cy="548640"/>
            </a:xfrm>
            <a:prstGeom prst="rect">
              <a:avLst/>
            </a:prstGeom>
            <a:noFill/>
            <a:ln/>
          </p:spPr>
          <p:txBody>
            <a:bodyPr wrap="square" lIns="0" tIns="0" rIns="0" bIns="0" rtlCol="0" anchor="ctr">
              <a:normAutofit/>
            </a:bodyPr>
            <a:lstStyle/>
            <a:p>
              <a:r>
                <a:rPr lang="en-US" altLang="zh-CN" sz="1400" dirty="0">
                  <a:latin typeface="Times New Roman" panose="02020603050405020304" pitchFamily="18" charset="0"/>
                  <a:cs typeface="Times New Roman" panose="02020603050405020304" pitchFamily="18" charset="0"/>
                </a:rPr>
                <a:t>Provides pitch and yaw for more natural motion.</a:t>
              </a:r>
              <a:endParaRPr lang="en-US" sz="1200" dirty="0">
                <a:latin typeface="Times New Roman" panose="02020603050405020304" pitchFamily="18" charset="0"/>
                <a:cs typeface="Times New Roman" panose="02020603050405020304" pitchFamily="18" charset="0"/>
              </a:endParaRPr>
            </a:p>
          </p:txBody>
        </p:sp>
      </p:grpSp>
      <p:grpSp>
        <p:nvGrpSpPr>
          <p:cNvPr id="38" name="组合 37">
            <a:extLst>
              <a:ext uri="{FF2B5EF4-FFF2-40B4-BE49-F238E27FC236}">
                <a16:creationId xmlns:a16="http://schemas.microsoft.com/office/drawing/2014/main" id="{4E14D459-393A-6ADE-1E46-B0D70257D811}"/>
              </a:ext>
            </a:extLst>
          </p:cNvPr>
          <p:cNvGrpSpPr/>
          <p:nvPr/>
        </p:nvGrpSpPr>
        <p:grpSpPr>
          <a:xfrm>
            <a:off x="4238885" y="4088574"/>
            <a:ext cx="2513150" cy="841248"/>
            <a:chOff x="4976247" y="4087384"/>
            <a:chExt cx="2513150" cy="841248"/>
          </a:xfrm>
        </p:grpSpPr>
        <p:sp>
          <p:nvSpPr>
            <p:cNvPr id="19" name="Shape 36">
              <a:extLst>
                <a:ext uri="{FF2B5EF4-FFF2-40B4-BE49-F238E27FC236}">
                  <a16:creationId xmlns:a16="http://schemas.microsoft.com/office/drawing/2014/main" id="{E3674C66-0822-FDD7-67CE-52C30D51DD6D}"/>
                </a:ext>
              </a:extLst>
            </p:cNvPr>
            <p:cNvSpPr>
              <a:spLocks/>
            </p:cNvSpPr>
            <p:nvPr/>
          </p:nvSpPr>
          <p:spPr>
            <a:xfrm>
              <a:off x="4976247" y="4087384"/>
              <a:ext cx="2513150" cy="841248"/>
            </a:xfrm>
            <a:prstGeom prst="roundRect">
              <a:avLst>
                <a:gd name="adj" fmla="val 5435"/>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0" name="Shape 37">
              <a:extLst>
                <a:ext uri="{FF2B5EF4-FFF2-40B4-BE49-F238E27FC236}">
                  <a16:creationId xmlns:a16="http://schemas.microsoft.com/office/drawing/2014/main" id="{FAFF9A4C-484E-4DE0-793A-DE1B28A91A17}"/>
                </a:ext>
              </a:extLst>
            </p:cNvPr>
            <p:cNvSpPr>
              <a:spLocks/>
            </p:cNvSpPr>
            <p:nvPr/>
          </p:nvSpPr>
          <p:spPr>
            <a:xfrm>
              <a:off x="4976247" y="4087384"/>
              <a:ext cx="155989" cy="841248"/>
            </a:xfrm>
            <a:prstGeom prst="rect">
              <a:avLst/>
            </a:prstGeom>
            <a:solidFill>
              <a:srgbClr val="EAECEF"/>
            </a:solidFill>
            <a:ln w="12700">
              <a:solidFill>
                <a:srgbClr val="EAECEF"/>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21" name="Text 38">
              <a:extLst>
                <a:ext uri="{FF2B5EF4-FFF2-40B4-BE49-F238E27FC236}">
                  <a16:creationId xmlns:a16="http://schemas.microsoft.com/office/drawing/2014/main" id="{B86DA461-9F3B-233D-2C80-CD96F2566EDF}"/>
                </a:ext>
              </a:extLst>
            </p:cNvPr>
            <p:cNvSpPr>
              <a:spLocks/>
            </p:cNvSpPr>
            <p:nvPr/>
          </p:nvSpPr>
          <p:spPr>
            <a:xfrm>
              <a:off x="5140839" y="4178824"/>
              <a:ext cx="1993187" cy="182880"/>
            </a:xfrm>
            <a:prstGeom prst="rect">
              <a:avLst/>
            </a:prstGeom>
            <a:noFill/>
            <a:ln/>
          </p:spPr>
          <p:txBody>
            <a:bodyPr wrap="square" lIns="0" tIns="0" rIns="0" bIns="0" rtlCol="0" anchor="ctr"/>
            <a:lstStyle/>
            <a:p>
              <a:pPr marL="0" indent="0">
                <a:buNone/>
              </a:pPr>
              <a:r>
                <a:rPr lang="en-US" sz="1280" b="1" dirty="0">
                  <a:solidFill>
                    <a:srgbClr val="173F67"/>
                  </a:solidFill>
                  <a:latin typeface="Times New Roman" panose="02020603050405020304" pitchFamily="18" charset="0"/>
                  <a:cs typeface="Times New Roman" panose="02020603050405020304" pitchFamily="18" charset="0"/>
                </a:rPr>
                <a:t>Forearm</a:t>
              </a:r>
              <a:endParaRPr lang="en-US" sz="1280" dirty="0">
                <a:latin typeface="Times New Roman" panose="02020603050405020304" pitchFamily="18" charset="0"/>
                <a:cs typeface="Times New Roman" panose="02020603050405020304" pitchFamily="18" charset="0"/>
              </a:endParaRPr>
            </a:p>
          </p:txBody>
        </p:sp>
        <p:sp>
          <p:nvSpPr>
            <p:cNvPr id="22" name="Text 39">
              <a:extLst>
                <a:ext uri="{FF2B5EF4-FFF2-40B4-BE49-F238E27FC236}">
                  <a16:creationId xmlns:a16="http://schemas.microsoft.com/office/drawing/2014/main" id="{30541BC2-21C8-56D3-AE3B-5DEA8D52376F}"/>
                </a:ext>
              </a:extLst>
            </p:cNvPr>
            <p:cNvSpPr>
              <a:spLocks/>
            </p:cNvSpPr>
            <p:nvPr/>
          </p:nvSpPr>
          <p:spPr>
            <a:xfrm>
              <a:off x="5140839" y="4398280"/>
              <a:ext cx="2267308" cy="475488"/>
            </a:xfrm>
            <a:prstGeom prst="rect">
              <a:avLst/>
            </a:prstGeom>
            <a:noFill/>
            <a:ln/>
          </p:spPr>
          <p:txBody>
            <a:bodyPr wrap="square" lIns="0" tIns="0" rIns="0" bIns="0" rtlCol="0" anchor="ctr">
              <a:normAutofit/>
            </a:bodyPr>
            <a:lstStyle/>
            <a:p>
              <a:r>
                <a:rPr lang="en-US" altLang="zh-CN" sz="1400" dirty="0">
                  <a:latin typeface="Times New Roman" panose="02020603050405020304" pitchFamily="18" charset="0"/>
                  <a:cs typeface="Times New Roman" panose="02020603050405020304" pitchFamily="18" charset="0"/>
                </a:rPr>
                <a:t>Integrates actuators, power supply, and controller.</a:t>
              </a:r>
              <a:endParaRPr lang="en-US" sz="1200" dirty="0">
                <a:latin typeface="Times New Roman" panose="02020603050405020304" pitchFamily="18" charset="0"/>
                <a:cs typeface="Times New Roman" panose="02020603050405020304" pitchFamily="18" charset="0"/>
              </a:endParaRPr>
            </a:p>
          </p:txBody>
        </p:sp>
      </p:grpSp>
      <p:pic>
        <p:nvPicPr>
          <p:cNvPr id="23" name="图片 22">
            <a:extLst>
              <a:ext uri="{FF2B5EF4-FFF2-40B4-BE49-F238E27FC236}">
                <a16:creationId xmlns:a16="http://schemas.microsoft.com/office/drawing/2014/main" id="{7A01931A-67D4-11A6-19E4-DDF676F79E22}"/>
              </a:ext>
            </a:extLst>
          </p:cNvPr>
          <p:cNvPicPr>
            <a:picLocks noChangeAspect="1"/>
          </p:cNvPicPr>
          <p:nvPr/>
        </p:nvPicPr>
        <p:blipFill>
          <a:blip r:embed="rId3"/>
          <a:stretch>
            <a:fillRect/>
          </a:stretch>
        </p:blipFill>
        <p:spPr>
          <a:xfrm>
            <a:off x="169627" y="1161165"/>
            <a:ext cx="3854796" cy="5211115"/>
          </a:xfrm>
          <a:prstGeom prst="rect">
            <a:avLst/>
          </a:prstGeom>
        </p:spPr>
      </p:pic>
      <p:sp>
        <p:nvSpPr>
          <p:cNvPr id="5" name="灯片编号占位符 4">
            <a:extLst>
              <a:ext uri="{FF2B5EF4-FFF2-40B4-BE49-F238E27FC236}">
                <a16:creationId xmlns:a16="http://schemas.microsoft.com/office/drawing/2014/main" id="{61B43743-43C9-D0FC-EBB8-5D7FFADE4D37}"/>
              </a:ext>
            </a:extLst>
          </p:cNvPr>
          <p:cNvSpPr>
            <a:spLocks noGrp="1"/>
          </p:cNvSpPr>
          <p:nvPr>
            <p:ph type="sldNum" sz="quarter" idx="12"/>
          </p:nvPr>
        </p:nvSpPr>
        <p:spPr>
          <a:xfrm>
            <a:off x="9448800" y="6484238"/>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3</a:t>
            </a:fld>
            <a:endParaRPr lang="zh-CN" altLang="en-US" dirty="0">
              <a:latin typeface="Times New Roman" panose="02020603050405020304" pitchFamily="18" charset="0"/>
              <a:cs typeface="Times New Roman" panose="02020603050405020304" pitchFamily="18" charset="0"/>
            </a:endParaRPr>
          </a:p>
        </p:txBody>
      </p:sp>
      <p:pic>
        <p:nvPicPr>
          <p:cNvPr id="24" name="Picture 4" descr="院长寄语 | 香港中文大学(深圳)金融EMBA">
            <a:extLst>
              <a:ext uri="{FF2B5EF4-FFF2-40B4-BE49-F238E27FC236}">
                <a16:creationId xmlns:a16="http://schemas.microsoft.com/office/drawing/2014/main" id="{3E5B8B5B-2CAD-FDD3-D059-34171FB1D3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a:extLst>
              <a:ext uri="{FF2B5EF4-FFF2-40B4-BE49-F238E27FC236}">
                <a16:creationId xmlns:a16="http://schemas.microsoft.com/office/drawing/2014/main" id="{01D92B3E-125F-1665-E7E7-C220381531D8}"/>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Mechanical Structure of Dexhand</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27" name="矩形 26">
            <a:extLst>
              <a:ext uri="{FF2B5EF4-FFF2-40B4-BE49-F238E27FC236}">
                <a16:creationId xmlns:a16="http://schemas.microsoft.com/office/drawing/2014/main" id="{1C85BBB3-D9FF-38F9-D1C0-F049C413C8F8}"/>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rPr>
              <a:t>Introduction</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grpSp>
        <p:nvGrpSpPr>
          <p:cNvPr id="34" name="组合 33">
            <a:extLst>
              <a:ext uri="{FF2B5EF4-FFF2-40B4-BE49-F238E27FC236}">
                <a16:creationId xmlns:a16="http://schemas.microsoft.com/office/drawing/2014/main" id="{F5B0AD18-7884-04A1-B7BE-0C772A003E7A}"/>
              </a:ext>
            </a:extLst>
          </p:cNvPr>
          <p:cNvGrpSpPr/>
          <p:nvPr/>
        </p:nvGrpSpPr>
        <p:grpSpPr>
          <a:xfrm>
            <a:off x="104289" y="697562"/>
            <a:ext cx="6880112" cy="5845588"/>
            <a:chOff x="510137" y="793470"/>
            <a:chExt cx="6880112" cy="5845588"/>
          </a:xfrm>
        </p:grpSpPr>
        <p:sp>
          <p:nvSpPr>
            <p:cNvPr id="28" name="矩形 27">
              <a:extLst>
                <a:ext uri="{FF2B5EF4-FFF2-40B4-BE49-F238E27FC236}">
                  <a16:creationId xmlns:a16="http://schemas.microsoft.com/office/drawing/2014/main" id="{D4ED19B8-7568-8AE4-816E-9F01D568F2E1}"/>
                </a:ext>
              </a:extLst>
            </p:cNvPr>
            <p:cNvSpPr/>
            <p:nvPr/>
          </p:nvSpPr>
          <p:spPr>
            <a:xfrm>
              <a:off x="510137" y="793470"/>
              <a:ext cx="6880112"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rPr>
                <a:t>Gantt Chart (Final)</a:t>
              </a:r>
              <a:endParaRPr kumimoji="0" lang="zh-CN" altLang="en-US"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endParaRPr>
            </a:p>
          </p:txBody>
        </p:sp>
        <p:sp>
          <p:nvSpPr>
            <p:cNvPr id="29" name="矩形 28">
              <a:extLst>
                <a:ext uri="{FF2B5EF4-FFF2-40B4-BE49-F238E27FC236}">
                  <a16:creationId xmlns:a16="http://schemas.microsoft.com/office/drawing/2014/main" id="{8CC2E935-EA37-1E88-A2F9-A2ECFD5EEF2E}"/>
                </a:ext>
              </a:extLst>
            </p:cNvPr>
            <p:cNvSpPr/>
            <p:nvPr/>
          </p:nvSpPr>
          <p:spPr>
            <a:xfrm>
              <a:off x="528035" y="1157919"/>
              <a:ext cx="6844316" cy="5481139"/>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39" name="矩形 38">
            <a:extLst>
              <a:ext uri="{FF2B5EF4-FFF2-40B4-BE49-F238E27FC236}">
                <a16:creationId xmlns:a16="http://schemas.microsoft.com/office/drawing/2014/main" id="{6E1A5D27-D704-ED7C-AA7E-ED00B9CB592B}"/>
              </a:ext>
            </a:extLst>
          </p:cNvPr>
          <p:cNvSpPr/>
          <p:nvPr/>
        </p:nvSpPr>
        <p:spPr>
          <a:xfrm>
            <a:off x="7285371" y="1037017"/>
            <a:ext cx="4629992" cy="5506133"/>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E107EA86-DA5C-7E1A-34F4-9760616A71BA}"/>
              </a:ext>
            </a:extLst>
          </p:cNvPr>
          <p:cNvSpPr/>
          <p:nvPr/>
        </p:nvSpPr>
        <p:spPr>
          <a:xfrm>
            <a:off x="7268211" y="697214"/>
            <a:ext cx="4664313"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C000"/>
                </a:solidFill>
                <a:latin typeface="Eras Demi ITC" panose="020B0805030504020804" pitchFamily="34" charset="0"/>
                <a:ea typeface="微软雅黑" panose="020B0503020204020204" pitchFamily="34" charset="-122"/>
              </a:rPr>
              <a:t>Key Structural Features</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C2D8C0B1-217B-80BD-2DAF-B73B5707D494}"/>
              </a:ext>
            </a:extLst>
          </p:cNvPr>
          <p:cNvSpPr txBox="1"/>
          <p:nvPr/>
        </p:nvSpPr>
        <p:spPr>
          <a:xfrm>
            <a:off x="7364010" y="1603590"/>
            <a:ext cx="4568513" cy="37820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Five-finger anthropomorphic layout</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3 phalanges per finger</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TIP / MLP / PLP joint structure</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15 DOF for the fingers</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3 DOF for the wrist</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Pitch, yaw, and axial wrist rotation</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Tendon-driven transmission</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Integrated hand–wrist–forearm architecture</a:t>
            </a:r>
            <a:endParaRPr lang="en-US" altLang="zh-CN" dirty="0">
              <a:latin typeface="Times New Roman" panose="02020603050405020304" pitchFamily="18" charset="0"/>
              <a:cs typeface="Times New Roman" panose="02020603050405020304" pitchFamily="18" charset="0"/>
            </a:endParaRPr>
          </a:p>
        </p:txBody>
      </p:sp>
      <p:grpSp>
        <p:nvGrpSpPr>
          <p:cNvPr id="4" name="组合 3">
            <a:extLst>
              <a:ext uri="{FF2B5EF4-FFF2-40B4-BE49-F238E27FC236}">
                <a16:creationId xmlns:a16="http://schemas.microsoft.com/office/drawing/2014/main" id="{5ED9FDAC-05C6-70F6-029A-EFB0D4B18B8D}"/>
              </a:ext>
            </a:extLst>
          </p:cNvPr>
          <p:cNvGrpSpPr/>
          <p:nvPr/>
        </p:nvGrpSpPr>
        <p:grpSpPr>
          <a:xfrm>
            <a:off x="7364010" y="1172182"/>
            <a:ext cx="2237191" cy="307777"/>
            <a:chOff x="5346535" y="1295286"/>
            <a:chExt cx="2237191" cy="307777"/>
          </a:xfrm>
        </p:grpSpPr>
        <p:sp>
          <p:nvSpPr>
            <p:cNvPr id="30" name="矩形 29">
              <a:extLst>
                <a:ext uri="{FF2B5EF4-FFF2-40B4-BE49-F238E27FC236}">
                  <a16:creationId xmlns:a16="http://schemas.microsoft.com/office/drawing/2014/main" id="{86412925-EB24-36DE-42D7-AC86088D3753}"/>
                </a:ext>
              </a:extLst>
            </p:cNvPr>
            <p:cNvSpPr/>
            <p:nvPr/>
          </p:nvSpPr>
          <p:spPr>
            <a:xfrm>
              <a:off x="5346535" y="1324222"/>
              <a:ext cx="45719" cy="261140"/>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31" name="文本框 30">
              <a:extLst>
                <a:ext uri="{FF2B5EF4-FFF2-40B4-BE49-F238E27FC236}">
                  <a16:creationId xmlns:a16="http://schemas.microsoft.com/office/drawing/2014/main" id="{98DD4145-3B05-2364-3E02-2F63B8B61E39}"/>
                </a:ext>
              </a:extLst>
            </p:cNvPr>
            <p:cNvSpPr txBox="1"/>
            <p:nvPr/>
          </p:nvSpPr>
          <p:spPr>
            <a:xfrm>
              <a:off x="5404510" y="1295286"/>
              <a:ext cx="2179216" cy="307777"/>
            </a:xfrm>
            <a:prstGeom prst="rect">
              <a:avLst/>
            </a:prstGeom>
            <a:noFill/>
          </p:spPr>
          <p:txBody>
            <a:bodyPr wrap="square">
              <a:spAutoFit/>
            </a:bodyPr>
            <a:lstStyle/>
            <a:p>
              <a:pPr algn="ctr"/>
              <a:r>
                <a:rPr lang="en-US" altLang="zh-CN" sz="1400" b="1" dirty="0">
                  <a:latin typeface="Eras Demi ITC" panose="020B0805030504020804" pitchFamily="34" charset="0"/>
                  <a:ea typeface="微软雅黑" panose="020B0503020204020204" pitchFamily="34" charset="-122"/>
                </a:rPr>
                <a:t>Structural Parameters</a:t>
              </a:r>
            </a:p>
          </p:txBody>
        </p:sp>
      </p:grpSp>
    </p:spTree>
    <p:extLst>
      <p:ext uri="{BB962C8B-B14F-4D97-AF65-F5344CB8AC3E}">
        <p14:creationId xmlns:p14="http://schemas.microsoft.com/office/powerpoint/2010/main" val="58554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CA5C-E8C6-5DC5-A812-7E6C61A30AD7}"/>
            </a:ext>
          </a:extLst>
        </p:cNvPr>
        <p:cNvGrpSpPr/>
        <p:nvPr/>
      </p:nvGrpSpPr>
      <p:grpSpPr>
        <a:xfrm>
          <a:off x="0" y="0"/>
          <a:ext cx="0" cy="0"/>
          <a:chOff x="0" y="0"/>
          <a:chExt cx="0" cy="0"/>
        </a:xfrm>
      </p:grpSpPr>
      <p:pic>
        <p:nvPicPr>
          <p:cNvPr id="59" name="图片 58">
            <a:extLst>
              <a:ext uri="{FF2B5EF4-FFF2-40B4-BE49-F238E27FC236}">
                <a16:creationId xmlns:a16="http://schemas.microsoft.com/office/drawing/2014/main" id="{7D29ADE6-BCF6-D669-81D0-1466E6684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4175" y="1561704"/>
            <a:ext cx="5247825" cy="4005551"/>
          </a:xfrm>
          <a:prstGeom prst="rect">
            <a:avLst/>
          </a:prstGeom>
        </p:spPr>
      </p:pic>
      <p:sp>
        <p:nvSpPr>
          <p:cNvPr id="13" name="文本框 12">
            <a:extLst>
              <a:ext uri="{FF2B5EF4-FFF2-40B4-BE49-F238E27FC236}">
                <a16:creationId xmlns:a16="http://schemas.microsoft.com/office/drawing/2014/main" id="{37F90350-84FE-CF8D-B2E3-308E90F6AB8C}"/>
              </a:ext>
            </a:extLst>
          </p:cNvPr>
          <p:cNvSpPr txBox="1"/>
          <p:nvPr/>
        </p:nvSpPr>
        <p:spPr>
          <a:xfrm>
            <a:off x="299616" y="6130706"/>
            <a:ext cx="6096000" cy="400110"/>
          </a:xfrm>
          <a:prstGeom prst="rect">
            <a:avLst/>
          </a:prstGeom>
          <a:noFill/>
        </p:spPr>
        <p:txBody>
          <a:bodyPr wrap="square">
            <a:spAutoFit/>
          </a:bodyPr>
          <a:lstStyle/>
          <a:p>
            <a:r>
              <a:rPr lang="en-US" altLang="zh-CN" sz="1000" dirty="0">
                <a:latin typeface="Times New Roman" panose="02020603050405020304" pitchFamily="18" charset="0"/>
                <a:cs typeface="Times New Roman" panose="02020603050405020304" pitchFamily="18" charset="0"/>
              </a:rPr>
              <a:t>Other: 4cm*6cm Arduino</a:t>
            </a:r>
            <a:r>
              <a:rPr lang="zh-CN" altLang="en-US" sz="1000" dirty="0">
                <a:latin typeface="Times New Roman" panose="02020603050405020304" pitchFamily="18" charset="0"/>
                <a:cs typeface="Times New Roman" panose="02020603050405020304" pitchFamily="18" charset="0"/>
              </a:rPr>
              <a:t>通用原型板</a:t>
            </a:r>
            <a:r>
              <a:rPr lang="en-US" altLang="zh-CN" sz="1000" dirty="0">
                <a:latin typeface="Times New Roman" panose="02020603050405020304" pitchFamily="18" charset="0"/>
                <a:cs typeface="Times New Roman" panose="02020603050405020304" pitchFamily="18" charset="0"/>
              </a:rPr>
              <a:t>/2.54 </a:t>
            </a:r>
            <a:r>
              <a:rPr lang="zh-CN" altLang="en-US" sz="1000" dirty="0">
                <a:latin typeface="Times New Roman" panose="02020603050405020304" pitchFamily="18" charset="0"/>
                <a:cs typeface="Times New Roman" panose="02020603050405020304" pitchFamily="18" charset="0"/>
              </a:rPr>
              <a:t>排母</a:t>
            </a:r>
            <a:r>
              <a:rPr lang="en-US" altLang="zh-CN" sz="1000" dirty="0">
                <a:latin typeface="Times New Roman" panose="02020603050405020304" pitchFamily="18" charset="0"/>
                <a:cs typeface="Times New Roman" panose="02020603050405020304" pitchFamily="18" charset="0"/>
              </a:rPr>
              <a:t>20pin/2.54 </a:t>
            </a:r>
            <a:r>
              <a:rPr lang="zh-CN" altLang="en-US" sz="1000" dirty="0">
                <a:latin typeface="Times New Roman" panose="02020603050405020304" pitchFamily="18" charset="0"/>
                <a:cs typeface="Times New Roman" panose="02020603050405020304" pitchFamily="18" charset="0"/>
              </a:rPr>
              <a:t>排针</a:t>
            </a:r>
            <a:r>
              <a:rPr lang="en-US" altLang="zh-CN" sz="1000" dirty="0">
                <a:latin typeface="Times New Roman" panose="02020603050405020304" pitchFamily="18" charset="0"/>
                <a:cs typeface="Times New Roman" panose="02020603050405020304" pitchFamily="18" charset="0"/>
              </a:rPr>
              <a:t>20pin/</a:t>
            </a:r>
            <a:r>
              <a:rPr lang="zh-CN" altLang="en-US" sz="1000" dirty="0">
                <a:latin typeface="Times New Roman" panose="02020603050405020304" pitchFamily="18" charset="0"/>
                <a:cs typeface="Times New Roman" panose="02020603050405020304" pitchFamily="18" charset="0"/>
              </a:rPr>
              <a:t>圆柱销套件</a:t>
            </a:r>
            <a:r>
              <a:rPr lang="en-US" altLang="zh-CN" sz="1000" dirty="0">
                <a:latin typeface="Times New Roman" panose="02020603050405020304" pitchFamily="18" charset="0"/>
                <a:cs typeface="Times New Roman" panose="02020603050405020304" pitchFamily="18" charset="0"/>
              </a:rPr>
              <a:t>/M2 </a:t>
            </a:r>
            <a:r>
              <a:rPr lang="zh-CN" altLang="en-US" sz="1000" dirty="0">
                <a:latin typeface="Times New Roman" panose="02020603050405020304" pitchFamily="18" charset="0"/>
                <a:cs typeface="Times New Roman" panose="02020603050405020304" pitchFamily="18" charset="0"/>
              </a:rPr>
              <a:t>螺丝及垫片</a:t>
            </a:r>
            <a:r>
              <a:rPr lang="en-US" altLang="zh-CN"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cs typeface="Times New Roman" panose="02020603050405020304" pitchFamily="18" charset="0"/>
              </a:rPr>
              <a:t>螺纹嵌件</a:t>
            </a:r>
            <a:r>
              <a:rPr lang="en-US" altLang="zh-CN" sz="1000" dirty="0">
                <a:latin typeface="Times New Roman" panose="02020603050405020304" pitchFamily="18" charset="0"/>
                <a:cs typeface="Times New Roman" panose="02020603050405020304" pitchFamily="18" charset="0"/>
              </a:rPr>
              <a:t>m2*4*3.5/12</a:t>
            </a:r>
            <a:r>
              <a:rPr lang="zh-CN" altLang="en-US" sz="1000" dirty="0">
                <a:latin typeface="Times New Roman" panose="02020603050405020304" pitchFamily="18" charset="0"/>
                <a:cs typeface="Times New Roman" panose="02020603050405020304" pitchFamily="18" charset="0"/>
              </a:rPr>
              <a:t>编</a:t>
            </a:r>
            <a:r>
              <a:rPr lang="en-US" altLang="zh-CN" sz="1000" dirty="0">
                <a:latin typeface="Times New Roman" panose="02020603050405020304" pitchFamily="18" charset="0"/>
                <a:cs typeface="Times New Roman" panose="02020603050405020304" pitchFamily="18" charset="0"/>
              </a:rPr>
              <a:t>100m</a:t>
            </a:r>
            <a:r>
              <a:rPr lang="zh-CN" altLang="en-US" sz="1000" dirty="0">
                <a:latin typeface="Times New Roman" panose="02020603050405020304" pitchFamily="18" charset="0"/>
                <a:cs typeface="Times New Roman" panose="02020603050405020304" pitchFamily="18" charset="0"/>
              </a:rPr>
              <a:t>灰色</a:t>
            </a:r>
            <a:r>
              <a:rPr lang="en-US" altLang="zh-CN" sz="1000" dirty="0">
                <a:latin typeface="Times New Roman" panose="02020603050405020304" pitchFamily="18" charset="0"/>
                <a:cs typeface="Times New Roman" panose="02020603050405020304" pitchFamily="18" charset="0"/>
              </a:rPr>
              <a:t>/6103</a:t>
            </a:r>
            <a:r>
              <a:rPr lang="zh-CN" altLang="en-US" sz="1000" dirty="0">
                <a:latin typeface="Times New Roman" panose="02020603050405020304" pitchFamily="18" charset="0"/>
                <a:cs typeface="Times New Roman" panose="02020603050405020304" pitchFamily="18" charset="0"/>
              </a:rPr>
              <a:t>滚珠轴承</a:t>
            </a:r>
            <a:r>
              <a:rPr lang="en-US" altLang="zh-CN" sz="1000" dirty="0">
                <a:latin typeface="Times New Roman" panose="02020603050405020304" pitchFamily="18" charset="0"/>
                <a:cs typeface="Times New Roman" panose="02020603050405020304" pitchFamily="18" charset="0"/>
              </a:rPr>
              <a:t>/263</a:t>
            </a:r>
            <a:r>
              <a:rPr lang="zh-CN" altLang="en-US" sz="1000" dirty="0">
                <a:latin typeface="Times New Roman" panose="02020603050405020304" pitchFamily="18" charset="0"/>
                <a:cs typeface="Times New Roman" panose="02020603050405020304" pitchFamily="18" charset="0"/>
              </a:rPr>
              <a:t>滚珠轴承</a:t>
            </a:r>
            <a:r>
              <a:rPr lang="en-US" altLang="zh-CN"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cs typeface="Times New Roman" panose="02020603050405020304" pitchFamily="18" charset="0"/>
              </a:rPr>
              <a:t>深沟球轴承</a:t>
            </a:r>
            <a:r>
              <a:rPr lang="en-US" altLang="zh-CN" sz="1000" dirty="0">
                <a:latin typeface="Times New Roman" panose="02020603050405020304" pitchFamily="18" charset="0"/>
                <a:cs typeface="Times New Roman" panose="02020603050405020304" pitchFamily="18" charset="0"/>
              </a:rPr>
              <a:t>6702ZZ/693zz 384/m3*60/m3*70</a:t>
            </a:r>
          </a:p>
        </p:txBody>
      </p:sp>
      <p:sp>
        <p:nvSpPr>
          <p:cNvPr id="11" name="灯片编号占位符 10">
            <a:extLst>
              <a:ext uri="{FF2B5EF4-FFF2-40B4-BE49-F238E27FC236}">
                <a16:creationId xmlns:a16="http://schemas.microsoft.com/office/drawing/2014/main" id="{B9331C05-AC56-F4E6-6E6C-D597748456B0}"/>
              </a:ext>
            </a:extLst>
          </p:cNvPr>
          <p:cNvSpPr>
            <a:spLocks noGrp="1"/>
          </p:cNvSpPr>
          <p:nvPr>
            <p:ph type="sldNum" sz="quarter" idx="12"/>
          </p:nvPr>
        </p:nvSpPr>
        <p:spPr>
          <a:xfrm>
            <a:off x="9448800" y="6492875"/>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4</a:t>
            </a:fld>
            <a:endParaRPr lang="zh-CN" altLang="en-US">
              <a:latin typeface="Times New Roman" panose="02020603050405020304" pitchFamily="18" charset="0"/>
              <a:cs typeface="Times New Roman" panose="02020603050405020304" pitchFamily="18" charset="0"/>
            </a:endParaRPr>
          </a:p>
        </p:txBody>
      </p:sp>
      <p:pic>
        <p:nvPicPr>
          <p:cNvPr id="15" name="Picture 4" descr="院长寄语 | 香港中文大学(深圳)金融EMBA">
            <a:extLst>
              <a:ext uri="{FF2B5EF4-FFF2-40B4-BE49-F238E27FC236}">
                <a16:creationId xmlns:a16="http://schemas.microsoft.com/office/drawing/2014/main" id="{CB36E7A8-4336-6461-744F-56CBD13CB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a:extLst>
              <a:ext uri="{FF2B5EF4-FFF2-40B4-BE49-F238E27FC236}">
                <a16:creationId xmlns:a16="http://schemas.microsoft.com/office/drawing/2014/main" id="{67C400F4-956C-1192-D4F2-CD7654D5E063}"/>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Material and Progress</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24" name="矩形 23">
            <a:extLst>
              <a:ext uri="{FF2B5EF4-FFF2-40B4-BE49-F238E27FC236}">
                <a16:creationId xmlns:a16="http://schemas.microsoft.com/office/drawing/2014/main" id="{E35328C5-26B7-C4DB-B573-2E9DC8B752BB}"/>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rPr>
              <a:t>Cost</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graphicFrame>
        <p:nvGraphicFramePr>
          <p:cNvPr id="27" name="表格 26">
            <a:extLst>
              <a:ext uri="{FF2B5EF4-FFF2-40B4-BE49-F238E27FC236}">
                <a16:creationId xmlns:a16="http://schemas.microsoft.com/office/drawing/2014/main" id="{9881B0AD-1495-A4E6-F2CC-5F4C1BE8776C}"/>
              </a:ext>
            </a:extLst>
          </p:cNvPr>
          <p:cNvGraphicFramePr>
            <a:graphicFrameLocks noGrp="1"/>
          </p:cNvGraphicFramePr>
          <p:nvPr>
            <p:extLst>
              <p:ext uri="{D42A27DB-BD31-4B8C-83A1-F6EECF244321}">
                <p14:modId xmlns:p14="http://schemas.microsoft.com/office/powerpoint/2010/main" val="4254854416"/>
              </p:ext>
            </p:extLst>
          </p:nvPr>
        </p:nvGraphicFramePr>
        <p:xfrm>
          <a:off x="124920" y="796695"/>
          <a:ext cx="6565655" cy="5273786"/>
        </p:xfrm>
        <a:graphic>
          <a:graphicData uri="http://schemas.openxmlformats.org/drawingml/2006/table">
            <a:tbl>
              <a:tblPr>
                <a:tableStyleId>{5C22544A-7EE6-4342-B048-85BDC9FD1C3A}</a:tableStyleId>
              </a:tblPr>
              <a:tblGrid>
                <a:gridCol w="818535">
                  <a:extLst>
                    <a:ext uri="{9D8B030D-6E8A-4147-A177-3AD203B41FA5}">
                      <a16:colId xmlns:a16="http://schemas.microsoft.com/office/drawing/2014/main" val="1312982672"/>
                    </a:ext>
                  </a:extLst>
                </a:gridCol>
                <a:gridCol w="1923091">
                  <a:extLst>
                    <a:ext uri="{9D8B030D-6E8A-4147-A177-3AD203B41FA5}">
                      <a16:colId xmlns:a16="http://schemas.microsoft.com/office/drawing/2014/main" val="2279809333"/>
                    </a:ext>
                  </a:extLst>
                </a:gridCol>
                <a:gridCol w="1199012">
                  <a:extLst>
                    <a:ext uri="{9D8B030D-6E8A-4147-A177-3AD203B41FA5}">
                      <a16:colId xmlns:a16="http://schemas.microsoft.com/office/drawing/2014/main" val="4216173525"/>
                    </a:ext>
                  </a:extLst>
                </a:gridCol>
                <a:gridCol w="1049881">
                  <a:extLst>
                    <a:ext uri="{9D8B030D-6E8A-4147-A177-3AD203B41FA5}">
                      <a16:colId xmlns:a16="http://schemas.microsoft.com/office/drawing/2014/main" val="1064946901"/>
                    </a:ext>
                  </a:extLst>
                </a:gridCol>
                <a:gridCol w="1575136">
                  <a:extLst>
                    <a:ext uri="{9D8B030D-6E8A-4147-A177-3AD203B41FA5}">
                      <a16:colId xmlns:a16="http://schemas.microsoft.com/office/drawing/2014/main" val="2732220978"/>
                    </a:ext>
                  </a:extLst>
                </a:gridCol>
              </a:tblGrid>
              <a:tr h="278379">
                <a:tc gridSpan="2">
                  <a:txBody>
                    <a:bodyPr/>
                    <a:lstStyle/>
                    <a:p>
                      <a:pPr algn="ctr" fontAlgn="ctr"/>
                      <a:r>
                        <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C</a:t>
                      </a:r>
                      <a:r>
                        <a:rPr lang="en-US" altLang="zh-CN"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omponents</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dirty="0"/>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Cost</a:t>
                      </a:r>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a:r>
                        <a:rPr lang="en-US" sz="1800" b="1" u="none" strike="noStrike" dirty="0">
                          <a:solidFill>
                            <a:sysClr val="windowText" lastClr="000000"/>
                          </a:solidFill>
                          <a:effectLst/>
                          <a:latin typeface="Times New Roman" panose="02020603050405020304" pitchFamily="18" charset="0"/>
                          <a:cs typeface="Times New Roman" panose="02020603050405020304" pitchFamily="18" charset="0"/>
                        </a:rPr>
                        <a:t>Ratio</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a:r>
                        <a:rPr lang="en-US" sz="1800" b="1" u="none" strike="noStrike" dirty="0" err="1">
                          <a:solidFill>
                            <a:sysClr val="windowText" lastClr="000000"/>
                          </a:solidFill>
                          <a:effectLst/>
                          <a:latin typeface="Times New Roman" panose="02020603050405020304" pitchFamily="18" charset="0"/>
                          <a:cs typeface="Times New Roman" panose="02020603050405020304" pitchFamily="18" charset="0"/>
                        </a:rPr>
                        <a:t>Satus</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3958479"/>
                  </a:ext>
                </a:extLst>
              </a:tr>
              <a:tr h="327751">
                <a:tc rowSpan="5">
                  <a:txBody>
                    <a:bodyPr/>
                    <a:lstStyle/>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Finger</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Thumb</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36.41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1.83%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3304542"/>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Index</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50.68</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2.55%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5087867"/>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Middle</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81.34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4.09%</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848557562"/>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48.41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2.43%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358228"/>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Little</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50.77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2.55%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5822985"/>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Wrist</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102.67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5.16%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316687"/>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Forearm</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45.05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2.26%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327300"/>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Forearm</a:t>
                      </a:r>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Shell</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313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15.73%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533338"/>
                  </a:ext>
                </a:extLst>
              </a:tr>
              <a:tr h="327751">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tendon-spools</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1.71%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Preparing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5708517"/>
                  </a:ext>
                </a:extLst>
              </a:tr>
              <a:tr h="327751">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Arduino Nano RP2040 Connect</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1*200=200</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10.05%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449084752"/>
                  </a:ext>
                </a:extLst>
              </a:tr>
              <a:tr h="292482">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ES3301 Servo</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16*26.1=417.6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20.99%</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2418060421"/>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FEETECH SCS2332</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2*148=296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14.88%</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662421154"/>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FEETECH SCS15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1*83=83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4.17%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989154257"/>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Fishing line No. 8 </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1*88.4=88.4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4.44%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2867476057"/>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Other</a:t>
                      </a:r>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(See the BOM table for details)</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142.38</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7.16%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096829257"/>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Total</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latin typeface="Times New Roman" panose="02020603050405020304" pitchFamily="18" charset="0"/>
                          <a:cs typeface="Times New Roman" panose="02020603050405020304" pitchFamily="18" charset="0"/>
                        </a:rPr>
                        <a:t>1989.71</a:t>
                      </a:r>
                      <a:endParaRPr lang="zh-CN" alt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165709"/>
                  </a:ext>
                </a:extLst>
              </a:tr>
            </a:tbl>
          </a:graphicData>
        </a:graphic>
      </p:graphicFrame>
      <p:sp>
        <p:nvSpPr>
          <p:cNvPr id="28" name="矩形 27">
            <a:extLst>
              <a:ext uri="{FF2B5EF4-FFF2-40B4-BE49-F238E27FC236}">
                <a16:creationId xmlns:a16="http://schemas.microsoft.com/office/drawing/2014/main" id="{E7669ACB-6108-FA26-D71B-3EFACFA4F766}"/>
              </a:ext>
            </a:extLst>
          </p:cNvPr>
          <p:cNvSpPr/>
          <p:nvPr/>
        </p:nvSpPr>
        <p:spPr>
          <a:xfrm>
            <a:off x="124920" y="796696"/>
            <a:ext cx="6565655" cy="5749883"/>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57E324DB-8BF2-9CF6-23C5-E0A91BFCB41C}"/>
              </a:ext>
            </a:extLst>
          </p:cNvPr>
          <p:cNvGrpSpPr/>
          <p:nvPr/>
        </p:nvGrpSpPr>
        <p:grpSpPr>
          <a:xfrm>
            <a:off x="6694837" y="1132221"/>
            <a:ext cx="1453539" cy="2910586"/>
            <a:chOff x="7212508" y="796696"/>
            <a:chExt cx="1460171" cy="3208634"/>
          </a:xfrm>
        </p:grpSpPr>
        <p:cxnSp>
          <p:nvCxnSpPr>
            <p:cNvPr id="31" name="直接连接符 30">
              <a:extLst>
                <a:ext uri="{FF2B5EF4-FFF2-40B4-BE49-F238E27FC236}">
                  <a16:creationId xmlns:a16="http://schemas.microsoft.com/office/drawing/2014/main" id="{DCCC9C88-BAB1-7542-1BF8-C9FDE6D91AC6}"/>
                </a:ext>
              </a:extLst>
            </p:cNvPr>
            <p:cNvCxnSpPr>
              <a:cxnSpLocks/>
            </p:cNvCxnSpPr>
            <p:nvPr/>
          </p:nvCxnSpPr>
          <p:spPr>
            <a:xfrm>
              <a:off x="7212508" y="796696"/>
              <a:ext cx="374377" cy="8542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直接连接符 32">
              <a:extLst>
                <a:ext uri="{FF2B5EF4-FFF2-40B4-BE49-F238E27FC236}">
                  <a16:creationId xmlns:a16="http://schemas.microsoft.com/office/drawing/2014/main" id="{64C5C03C-E69E-1B31-487B-58BADF1CF9CD}"/>
                </a:ext>
              </a:extLst>
            </p:cNvPr>
            <p:cNvCxnSpPr>
              <a:cxnSpLocks/>
            </p:cNvCxnSpPr>
            <p:nvPr/>
          </p:nvCxnSpPr>
          <p:spPr>
            <a:xfrm flipV="1">
              <a:off x="7212508" y="2122025"/>
              <a:ext cx="374376" cy="1883305"/>
            </a:xfrm>
            <a:prstGeom prst="line">
              <a:avLst/>
            </a:prstGeom>
          </p:spPr>
          <p:style>
            <a:lnRef idx="2">
              <a:schemeClr val="accent1"/>
            </a:lnRef>
            <a:fillRef idx="0">
              <a:schemeClr val="accent1"/>
            </a:fillRef>
            <a:effectRef idx="1">
              <a:schemeClr val="accent1"/>
            </a:effectRef>
            <a:fontRef idx="minor">
              <a:schemeClr val="tx1"/>
            </a:fontRef>
          </p:style>
        </p:cxnSp>
        <p:sp>
          <p:nvSpPr>
            <p:cNvPr id="38" name="文本框 37">
              <a:extLst>
                <a:ext uri="{FF2B5EF4-FFF2-40B4-BE49-F238E27FC236}">
                  <a16:creationId xmlns:a16="http://schemas.microsoft.com/office/drawing/2014/main" id="{5E774E6D-51B4-5AF4-F1A7-6F1FA9194ACB}"/>
                </a:ext>
              </a:extLst>
            </p:cNvPr>
            <p:cNvSpPr txBox="1"/>
            <p:nvPr/>
          </p:nvSpPr>
          <p:spPr>
            <a:xfrm>
              <a:off x="7239273" y="1690996"/>
              <a:ext cx="1433406" cy="369332"/>
            </a:xfrm>
            <a:prstGeom prst="rect">
              <a:avLst/>
            </a:prstGeom>
            <a:noFill/>
          </p:spPr>
          <p:txBody>
            <a:bodyPr wrap="none" rtlCol="0">
              <a:spAutoFit/>
            </a:bodyPr>
            <a:lstStyle/>
            <a:p>
              <a:r>
                <a:rPr lang="en-US" altLang="zh-CN" b="1" dirty="0">
                  <a:solidFill>
                    <a:srgbClr val="FFC000"/>
                  </a:solidFill>
                  <a:latin typeface="Eras Demi ITC" panose="020B0805030504020804" pitchFamily="34" charset="0"/>
                  <a:ea typeface="微软雅黑" panose="020B0503020204020204" pitchFamily="34" charset="-122"/>
                </a:rPr>
                <a:t>3D Printing</a:t>
              </a:r>
              <a:endParaRPr lang="zh-CN" altLang="en-US" b="1" dirty="0">
                <a:solidFill>
                  <a:srgbClr val="FFC000"/>
                </a:solidFill>
                <a:latin typeface="Eras Demi ITC" panose="020B0805030504020804" pitchFamily="34" charset="0"/>
                <a:ea typeface="微软雅黑" panose="020B0503020204020204" pitchFamily="34" charset="-122"/>
              </a:endParaRPr>
            </a:p>
          </p:txBody>
        </p:sp>
      </p:grpSp>
      <p:grpSp>
        <p:nvGrpSpPr>
          <p:cNvPr id="56" name="组合 55">
            <a:extLst>
              <a:ext uri="{FF2B5EF4-FFF2-40B4-BE49-F238E27FC236}">
                <a16:creationId xmlns:a16="http://schemas.microsoft.com/office/drawing/2014/main" id="{08D45E19-C4D3-5A25-76DE-8B5A3AFD374B}"/>
              </a:ext>
            </a:extLst>
          </p:cNvPr>
          <p:cNvGrpSpPr/>
          <p:nvPr/>
        </p:nvGrpSpPr>
        <p:grpSpPr>
          <a:xfrm>
            <a:off x="6690575" y="4371590"/>
            <a:ext cx="1337226" cy="1354189"/>
            <a:chOff x="7164075" y="4351152"/>
            <a:chExt cx="1337226" cy="1354189"/>
          </a:xfrm>
        </p:grpSpPr>
        <p:cxnSp>
          <p:nvCxnSpPr>
            <p:cNvPr id="44" name="直接连接符 43">
              <a:extLst>
                <a:ext uri="{FF2B5EF4-FFF2-40B4-BE49-F238E27FC236}">
                  <a16:creationId xmlns:a16="http://schemas.microsoft.com/office/drawing/2014/main" id="{7BFADAAC-8D83-C237-49EB-ED46B2527C22}"/>
                </a:ext>
              </a:extLst>
            </p:cNvPr>
            <p:cNvCxnSpPr>
              <a:cxnSpLocks/>
            </p:cNvCxnSpPr>
            <p:nvPr/>
          </p:nvCxnSpPr>
          <p:spPr>
            <a:xfrm>
              <a:off x="7212508" y="4351152"/>
              <a:ext cx="346034" cy="400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直接连接符 45">
              <a:extLst>
                <a:ext uri="{FF2B5EF4-FFF2-40B4-BE49-F238E27FC236}">
                  <a16:creationId xmlns:a16="http://schemas.microsoft.com/office/drawing/2014/main" id="{56A9E544-D35E-7200-728C-D0FAF5AD2011}"/>
                </a:ext>
              </a:extLst>
            </p:cNvPr>
            <p:cNvCxnSpPr>
              <a:cxnSpLocks/>
            </p:cNvCxnSpPr>
            <p:nvPr/>
          </p:nvCxnSpPr>
          <p:spPr>
            <a:xfrm flipV="1">
              <a:off x="7212508" y="5235717"/>
              <a:ext cx="271379" cy="469624"/>
            </a:xfrm>
            <a:prstGeom prst="line">
              <a:avLst/>
            </a:prstGeom>
          </p:spPr>
          <p:style>
            <a:lnRef idx="2">
              <a:schemeClr val="accent1"/>
            </a:lnRef>
            <a:fillRef idx="0">
              <a:schemeClr val="accent1"/>
            </a:fillRef>
            <a:effectRef idx="1">
              <a:schemeClr val="accent1"/>
            </a:effectRef>
            <a:fontRef idx="minor">
              <a:schemeClr val="tx1"/>
            </a:fontRef>
          </p:style>
        </p:cxnSp>
        <p:sp>
          <p:nvSpPr>
            <p:cNvPr id="49" name="文本框 48">
              <a:extLst>
                <a:ext uri="{FF2B5EF4-FFF2-40B4-BE49-F238E27FC236}">
                  <a16:creationId xmlns:a16="http://schemas.microsoft.com/office/drawing/2014/main" id="{FFD51CCC-ED06-81BA-B20E-E2C3BAFAC01C}"/>
                </a:ext>
              </a:extLst>
            </p:cNvPr>
            <p:cNvSpPr txBox="1"/>
            <p:nvPr/>
          </p:nvSpPr>
          <p:spPr>
            <a:xfrm>
              <a:off x="7164075" y="4806160"/>
              <a:ext cx="1337226" cy="369332"/>
            </a:xfrm>
            <a:prstGeom prst="rect">
              <a:avLst/>
            </a:prstGeom>
            <a:noFill/>
          </p:spPr>
          <p:txBody>
            <a:bodyPr wrap="none" rtlCol="0">
              <a:spAutoFit/>
            </a:bodyPr>
            <a:lstStyle/>
            <a:p>
              <a:r>
                <a:rPr lang="en-US" altLang="zh-CN" b="1" dirty="0">
                  <a:solidFill>
                    <a:srgbClr val="FFC000"/>
                  </a:solidFill>
                  <a:latin typeface="Eras Demi ITC" panose="020B0805030504020804" pitchFamily="34" charset="0"/>
                  <a:ea typeface="微软雅黑" panose="020B0503020204020204" pitchFamily="34" charset="-122"/>
                </a:rPr>
                <a:t>Joint drive</a:t>
              </a:r>
              <a:endParaRPr lang="zh-CN" altLang="en-US" b="1" dirty="0">
                <a:solidFill>
                  <a:srgbClr val="FFC000"/>
                </a:solidFill>
                <a:latin typeface="Eras Demi ITC" panose="020B0805030504020804" pitchFamily="34" charset="0"/>
                <a:ea typeface="微软雅黑" panose="020B0503020204020204" pitchFamily="34" charset="-122"/>
              </a:endParaRPr>
            </a:p>
          </p:txBody>
        </p:sp>
      </p:grpSp>
    </p:spTree>
    <p:extLst>
      <p:ext uri="{BB962C8B-B14F-4D97-AF65-F5344CB8AC3E}">
        <p14:creationId xmlns:p14="http://schemas.microsoft.com/office/powerpoint/2010/main" val="2949454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924B-F82D-EFFA-8EDE-BC78B010E9C3}"/>
            </a:ext>
          </a:extLst>
        </p:cNvPr>
        <p:cNvGrpSpPr/>
        <p:nvPr/>
      </p:nvGrpSpPr>
      <p:grpSpPr>
        <a:xfrm>
          <a:off x="0" y="0"/>
          <a:ext cx="0" cy="0"/>
          <a:chOff x="0" y="0"/>
          <a:chExt cx="0" cy="0"/>
        </a:xfrm>
      </p:grpSpPr>
      <p:sp>
        <p:nvSpPr>
          <p:cNvPr id="13" name="Rectangle 2">
            <a:extLst>
              <a:ext uri="{FF2B5EF4-FFF2-40B4-BE49-F238E27FC236}">
                <a16:creationId xmlns:a16="http://schemas.microsoft.com/office/drawing/2014/main" id="{76043E1A-3685-5368-FF41-A496C09A0054}"/>
              </a:ext>
            </a:extLst>
          </p:cNvPr>
          <p:cNvSpPr>
            <a:spLocks noChangeArrowheads="1"/>
          </p:cNvSpPr>
          <p:nvPr/>
        </p:nvSpPr>
        <p:spPr bwMode="auto">
          <a:xfrm>
            <a:off x="5416766" y="1777920"/>
            <a:ext cx="6139543" cy="1444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fontAlgn="base">
              <a:lnSpc>
                <a:spcPct val="125000"/>
              </a:lnSpc>
              <a:spcBef>
                <a:spcPct val="0"/>
              </a:spcBef>
              <a:spcAft>
                <a:spcPct val="0"/>
              </a:spcAft>
              <a:buClrTx/>
              <a:buSzTx/>
              <a:buFont typeface="Arial" panose="020B0604020202020204" pitchFamily="34" charset="0"/>
              <a:buChar char="•"/>
              <a:tabLst/>
            </a:pPr>
            <a:r>
              <a:rPr lang="en-US" altLang="zh-CN" dirty="0">
                <a:latin typeface="Times New Roman" panose="02020603050405020304" pitchFamily="18" charset="0"/>
                <a:cs typeface="Times New Roman" panose="02020603050405020304" pitchFamily="18" charset="0"/>
              </a:rPr>
              <a:t>Set up the ROS2 simulation environment for DexHand</a:t>
            </a:r>
          </a:p>
          <a:p>
            <a:pPr marL="285750" marR="0" lvl="0" indent="-285750" fontAlgn="base">
              <a:lnSpc>
                <a:spcPct val="125000"/>
              </a:lnSpc>
              <a:spcBef>
                <a:spcPct val="0"/>
              </a:spcBef>
              <a:spcAft>
                <a:spcPct val="0"/>
              </a:spcAft>
              <a:buClrTx/>
              <a:buSzTx/>
              <a:buFont typeface="Arial" panose="020B0604020202020204" pitchFamily="34" charset="0"/>
              <a:buChar char="•"/>
              <a:tabLst/>
            </a:pPr>
            <a:r>
              <a:rPr lang="zh-CN" altLang="zh-CN" dirty="0">
                <a:latin typeface="Times New Roman" panose="02020603050405020304" pitchFamily="18" charset="0"/>
                <a:cs typeface="Times New Roman" panose="02020603050405020304" pitchFamily="18" charset="0"/>
              </a:rPr>
              <a:t>Successfully launched the dexterous hand model</a:t>
            </a:r>
          </a:p>
          <a:p>
            <a:pPr marL="285750" marR="0" lvl="0" indent="-285750" fontAlgn="base">
              <a:lnSpc>
                <a:spcPct val="125000"/>
              </a:lnSpc>
              <a:spcBef>
                <a:spcPct val="0"/>
              </a:spcBef>
              <a:spcAft>
                <a:spcPct val="0"/>
              </a:spcAft>
              <a:buClrTx/>
              <a:buSzTx/>
              <a:buFont typeface="Arial" panose="020B0604020202020204" pitchFamily="34" charset="0"/>
              <a:buChar char="•"/>
              <a:tabLst/>
            </a:pPr>
            <a:r>
              <a:rPr lang="zh-CN" altLang="zh-CN" dirty="0">
                <a:latin typeface="Times New Roman" panose="02020603050405020304" pitchFamily="18" charset="0"/>
                <a:cs typeface="Times New Roman" panose="02020603050405020304" pitchFamily="18" charset="0"/>
              </a:rPr>
              <a:t>Verified basic joint and finger motion in simulation</a:t>
            </a:r>
          </a:p>
          <a:p>
            <a:pPr marL="285750" marR="0" lvl="0" indent="-285750" fontAlgn="base">
              <a:lnSpc>
                <a:spcPct val="125000"/>
              </a:lnSpc>
              <a:spcBef>
                <a:spcPct val="0"/>
              </a:spcBef>
              <a:spcAft>
                <a:spcPct val="0"/>
              </a:spcAft>
              <a:buClrTx/>
              <a:buSzTx/>
              <a:buFont typeface="Arial" panose="020B0604020202020204" pitchFamily="34" charset="0"/>
              <a:buChar char="•"/>
              <a:tabLst/>
            </a:pPr>
            <a:r>
              <a:rPr lang="zh-CN" altLang="zh-CN" dirty="0">
                <a:latin typeface="Times New Roman" panose="02020603050405020304" pitchFamily="18" charset="0"/>
                <a:cs typeface="Times New Roman" panose="02020603050405020304" pitchFamily="18" charset="0"/>
              </a:rPr>
              <a:t>Confirmed the basic visualization and control workflow</a:t>
            </a:r>
          </a:p>
        </p:txBody>
      </p:sp>
      <p:pic>
        <p:nvPicPr>
          <p:cNvPr id="22" name="图片 21">
            <a:extLst>
              <a:ext uri="{FF2B5EF4-FFF2-40B4-BE49-F238E27FC236}">
                <a16:creationId xmlns:a16="http://schemas.microsoft.com/office/drawing/2014/main" id="{20C6AA75-024B-70FA-EEF9-E3B57E94C357}"/>
              </a:ext>
            </a:extLst>
          </p:cNvPr>
          <p:cNvPicPr>
            <a:picLocks noChangeAspect="1"/>
          </p:cNvPicPr>
          <p:nvPr/>
        </p:nvPicPr>
        <p:blipFill>
          <a:blip r:embed="rId3"/>
          <a:stretch>
            <a:fillRect/>
          </a:stretch>
        </p:blipFill>
        <p:spPr>
          <a:xfrm>
            <a:off x="649316" y="1156139"/>
            <a:ext cx="3985750" cy="2300092"/>
          </a:xfrm>
          <a:prstGeom prst="rect">
            <a:avLst/>
          </a:prstGeom>
        </p:spPr>
      </p:pic>
      <p:pic>
        <p:nvPicPr>
          <p:cNvPr id="24" name="图片 23">
            <a:extLst>
              <a:ext uri="{FF2B5EF4-FFF2-40B4-BE49-F238E27FC236}">
                <a16:creationId xmlns:a16="http://schemas.microsoft.com/office/drawing/2014/main" id="{8BBA957F-2172-C0B2-4BC7-D578CB9B05E6}"/>
              </a:ext>
            </a:extLst>
          </p:cNvPr>
          <p:cNvPicPr>
            <a:picLocks noChangeAspect="1"/>
          </p:cNvPicPr>
          <p:nvPr/>
        </p:nvPicPr>
        <p:blipFill>
          <a:blip r:embed="rId4"/>
          <a:stretch>
            <a:fillRect/>
          </a:stretch>
        </p:blipFill>
        <p:spPr>
          <a:xfrm>
            <a:off x="635691" y="4098559"/>
            <a:ext cx="3999375" cy="2322808"/>
          </a:xfrm>
          <a:prstGeom prst="rect">
            <a:avLst/>
          </a:prstGeom>
        </p:spPr>
      </p:pic>
      <p:sp>
        <p:nvSpPr>
          <p:cNvPr id="35" name="Rectangle 5">
            <a:extLst>
              <a:ext uri="{FF2B5EF4-FFF2-40B4-BE49-F238E27FC236}">
                <a16:creationId xmlns:a16="http://schemas.microsoft.com/office/drawing/2014/main" id="{725DC634-017C-5E34-6118-719035B49167}"/>
              </a:ext>
            </a:extLst>
          </p:cNvPr>
          <p:cNvSpPr>
            <a:spLocks noChangeArrowheads="1"/>
          </p:cNvSpPr>
          <p:nvPr/>
        </p:nvSpPr>
        <p:spPr bwMode="auto">
          <a:xfrm>
            <a:off x="5305437" y="4551131"/>
            <a:ext cx="6139543" cy="1098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fontAlgn="base">
              <a:lnSpc>
                <a:spcPct val="125000"/>
              </a:lnSpc>
              <a:spcBef>
                <a:spcPct val="0"/>
              </a:spcBef>
              <a:spcAft>
                <a:spcPct val="0"/>
              </a:spcAft>
              <a:buFont typeface="Arial" panose="020B0604020202020204" pitchFamily="34" charset="0"/>
              <a:buChar char="•"/>
            </a:pPr>
            <a:r>
              <a:rPr lang="zh-CN" altLang="zh-CN" dirty="0">
                <a:latin typeface="Times New Roman" panose="02020603050405020304" pitchFamily="18" charset="0"/>
                <a:cs typeface="Times New Roman" panose="02020603050405020304" pitchFamily="18" charset="0"/>
              </a:rPr>
              <a:t>Demonstrated that the DexHand model can be launched, visualized, and controlled in ROS2</a:t>
            </a:r>
          </a:p>
          <a:p>
            <a:pPr marL="285750" indent="-285750" fontAlgn="base">
              <a:lnSpc>
                <a:spcPct val="125000"/>
              </a:lnSpc>
              <a:spcBef>
                <a:spcPct val="0"/>
              </a:spcBef>
              <a:spcAft>
                <a:spcPct val="0"/>
              </a:spcAft>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Provided a validation basis for later hardware integration</a:t>
            </a:r>
            <a:endParaRPr lang="zh-CN" altLang="zh-CN"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40E9A7FA-78C7-C078-9D59-6B1CDDDB7A22}"/>
              </a:ext>
            </a:extLst>
          </p:cNvPr>
          <p:cNvSpPr>
            <a:spLocks noGrp="1"/>
          </p:cNvSpPr>
          <p:nvPr>
            <p:ph type="sldNum" sz="quarter" idx="12"/>
          </p:nvPr>
        </p:nvSpPr>
        <p:spPr>
          <a:xfrm>
            <a:off x="9448800" y="6482607"/>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5</a:t>
            </a:fld>
            <a:endParaRPr lang="zh-CN" altLang="en-US">
              <a:latin typeface="Times New Roman" panose="02020603050405020304" pitchFamily="18" charset="0"/>
              <a:cs typeface="Times New Roman" panose="02020603050405020304" pitchFamily="18" charset="0"/>
            </a:endParaRPr>
          </a:p>
        </p:txBody>
      </p:sp>
      <p:pic>
        <p:nvPicPr>
          <p:cNvPr id="6" name="Picture 4" descr="院长寄语 | 香港中文大学(深圳)金融EMBA">
            <a:extLst>
              <a:ext uri="{FF2B5EF4-FFF2-40B4-BE49-F238E27FC236}">
                <a16:creationId xmlns:a16="http://schemas.microsoft.com/office/drawing/2014/main" id="{A4FA0305-41A0-08FA-0968-B01C3271EB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45C754F-0604-E05C-86FC-FEE1B684B848}"/>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ROS2 and Initial Validation</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10" name="矩形 9">
            <a:extLst>
              <a:ext uri="{FF2B5EF4-FFF2-40B4-BE49-F238E27FC236}">
                <a16:creationId xmlns:a16="http://schemas.microsoft.com/office/drawing/2014/main" id="{A1CF5AD8-3278-5747-7CEF-B80F422D33C2}"/>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rPr>
              <a:t>Simulation</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sp>
        <p:nvSpPr>
          <p:cNvPr id="15" name="矩形 14">
            <a:extLst>
              <a:ext uri="{FF2B5EF4-FFF2-40B4-BE49-F238E27FC236}">
                <a16:creationId xmlns:a16="http://schemas.microsoft.com/office/drawing/2014/main" id="{6BC29CD2-744C-E744-A125-5F96F178BD8A}"/>
              </a:ext>
            </a:extLst>
          </p:cNvPr>
          <p:cNvSpPr/>
          <p:nvPr/>
        </p:nvSpPr>
        <p:spPr>
          <a:xfrm>
            <a:off x="349725" y="1066563"/>
            <a:ext cx="4629992" cy="253834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40A9B827-9037-C4FF-E9AF-6208A1AAE0F5}"/>
              </a:ext>
            </a:extLst>
          </p:cNvPr>
          <p:cNvSpPr/>
          <p:nvPr/>
        </p:nvSpPr>
        <p:spPr>
          <a:xfrm>
            <a:off x="332565" y="726760"/>
            <a:ext cx="4664313"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C000"/>
                </a:solidFill>
                <a:latin typeface="Eras Demi ITC" panose="020B0805030504020804" pitchFamily="34" charset="0"/>
                <a:ea typeface="微软雅黑" panose="020B0503020204020204" pitchFamily="34" charset="-122"/>
              </a:rPr>
              <a:t>Open-Hand Pose</a:t>
            </a:r>
          </a:p>
        </p:txBody>
      </p:sp>
      <p:sp>
        <p:nvSpPr>
          <p:cNvPr id="17" name="矩形 16">
            <a:extLst>
              <a:ext uri="{FF2B5EF4-FFF2-40B4-BE49-F238E27FC236}">
                <a16:creationId xmlns:a16="http://schemas.microsoft.com/office/drawing/2014/main" id="{58945A30-C18C-C80D-C963-8C6E6F68D68D}"/>
              </a:ext>
            </a:extLst>
          </p:cNvPr>
          <p:cNvSpPr/>
          <p:nvPr/>
        </p:nvSpPr>
        <p:spPr>
          <a:xfrm>
            <a:off x="343783" y="4009638"/>
            <a:ext cx="4629992" cy="2492736"/>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864F20E-4CF6-8C47-ACCD-4B65A3B7F3DC}"/>
              </a:ext>
            </a:extLst>
          </p:cNvPr>
          <p:cNvSpPr/>
          <p:nvPr/>
        </p:nvSpPr>
        <p:spPr>
          <a:xfrm>
            <a:off x="326623" y="3669834"/>
            <a:ext cx="4664313"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C000"/>
                </a:solidFill>
                <a:latin typeface="Eras Demi ITC" panose="020B0805030504020804" pitchFamily="34" charset="0"/>
                <a:ea typeface="微软雅黑" panose="020B0503020204020204" pitchFamily="34" charset="-122"/>
              </a:rPr>
              <a:t>Closed-Hand Pose</a:t>
            </a:r>
          </a:p>
        </p:txBody>
      </p:sp>
      <p:sp>
        <p:nvSpPr>
          <p:cNvPr id="19" name="矩形 18">
            <a:extLst>
              <a:ext uri="{FF2B5EF4-FFF2-40B4-BE49-F238E27FC236}">
                <a16:creationId xmlns:a16="http://schemas.microsoft.com/office/drawing/2014/main" id="{C6CE5369-8B65-B2E9-CB64-163FBFCB5DED}"/>
              </a:ext>
            </a:extLst>
          </p:cNvPr>
          <p:cNvSpPr/>
          <p:nvPr/>
        </p:nvSpPr>
        <p:spPr>
          <a:xfrm>
            <a:off x="5228275" y="726761"/>
            <a:ext cx="6094158" cy="5775614"/>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2AF36758-A44B-FB1D-E427-1F9F98D75FC7}"/>
              </a:ext>
            </a:extLst>
          </p:cNvPr>
          <p:cNvSpPr/>
          <p:nvPr/>
        </p:nvSpPr>
        <p:spPr>
          <a:xfrm>
            <a:off x="5245437" y="734926"/>
            <a:ext cx="6076997" cy="364448"/>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C000"/>
                </a:solidFill>
                <a:latin typeface="Eras Demi ITC" panose="020B0805030504020804" pitchFamily="34" charset="0"/>
                <a:ea typeface="微软雅黑" panose="020B0503020204020204" pitchFamily="34" charset="-122"/>
              </a:rPr>
              <a:t>ROS2 Simulation With Rviz2</a:t>
            </a:r>
          </a:p>
        </p:txBody>
      </p:sp>
      <p:grpSp>
        <p:nvGrpSpPr>
          <p:cNvPr id="33" name="组合 32">
            <a:extLst>
              <a:ext uri="{FF2B5EF4-FFF2-40B4-BE49-F238E27FC236}">
                <a16:creationId xmlns:a16="http://schemas.microsoft.com/office/drawing/2014/main" id="{0C7705B0-999E-5FC1-6D72-633223E3B53A}"/>
              </a:ext>
            </a:extLst>
          </p:cNvPr>
          <p:cNvGrpSpPr/>
          <p:nvPr/>
        </p:nvGrpSpPr>
        <p:grpSpPr>
          <a:xfrm>
            <a:off x="5349998" y="1304635"/>
            <a:ext cx="1778791" cy="307777"/>
            <a:chOff x="5346535" y="1295286"/>
            <a:chExt cx="1778791" cy="307777"/>
          </a:xfrm>
        </p:grpSpPr>
        <p:sp>
          <p:nvSpPr>
            <p:cNvPr id="21" name="矩形 20">
              <a:extLst>
                <a:ext uri="{FF2B5EF4-FFF2-40B4-BE49-F238E27FC236}">
                  <a16:creationId xmlns:a16="http://schemas.microsoft.com/office/drawing/2014/main" id="{DC098CE2-D335-1595-9AA3-C976A21FBB1E}"/>
                </a:ext>
              </a:extLst>
            </p:cNvPr>
            <p:cNvSpPr/>
            <p:nvPr/>
          </p:nvSpPr>
          <p:spPr>
            <a:xfrm>
              <a:off x="5346535" y="1324222"/>
              <a:ext cx="45719" cy="261140"/>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23" name="文本框 22">
              <a:extLst>
                <a:ext uri="{FF2B5EF4-FFF2-40B4-BE49-F238E27FC236}">
                  <a16:creationId xmlns:a16="http://schemas.microsoft.com/office/drawing/2014/main" id="{1687FF37-08DD-E5C8-0562-4ABA2AF68F7F}"/>
                </a:ext>
              </a:extLst>
            </p:cNvPr>
            <p:cNvSpPr txBox="1"/>
            <p:nvPr/>
          </p:nvSpPr>
          <p:spPr>
            <a:xfrm>
              <a:off x="5404509" y="1295286"/>
              <a:ext cx="1720817" cy="307777"/>
            </a:xfrm>
            <a:prstGeom prst="rect">
              <a:avLst/>
            </a:prstGeom>
            <a:noFill/>
          </p:spPr>
          <p:txBody>
            <a:bodyPr wrap="square">
              <a:spAutoFit/>
            </a:bodyPr>
            <a:lstStyle/>
            <a:p>
              <a:pPr algn="ctr"/>
              <a:r>
                <a:rPr lang="en-US" altLang="zh-CN" sz="1400" b="1" dirty="0">
                  <a:latin typeface="Eras Demi ITC" panose="020B0805030504020804" pitchFamily="34" charset="0"/>
                  <a:ea typeface="微软雅黑" panose="020B0503020204020204" pitchFamily="34" charset="-122"/>
                </a:rPr>
                <a:t>Completed Work</a:t>
              </a:r>
            </a:p>
          </p:txBody>
        </p:sp>
      </p:grpSp>
      <p:grpSp>
        <p:nvGrpSpPr>
          <p:cNvPr id="34" name="组合 33">
            <a:extLst>
              <a:ext uri="{FF2B5EF4-FFF2-40B4-BE49-F238E27FC236}">
                <a16:creationId xmlns:a16="http://schemas.microsoft.com/office/drawing/2014/main" id="{FD8A1959-5BFB-D63D-80EC-E73B4B9C18F4}"/>
              </a:ext>
            </a:extLst>
          </p:cNvPr>
          <p:cNvGrpSpPr/>
          <p:nvPr/>
        </p:nvGrpSpPr>
        <p:grpSpPr>
          <a:xfrm>
            <a:off x="5349998" y="4018987"/>
            <a:ext cx="1296608" cy="307777"/>
            <a:chOff x="5358791" y="4009638"/>
            <a:chExt cx="1296608" cy="307777"/>
          </a:xfrm>
        </p:grpSpPr>
        <p:sp>
          <p:nvSpPr>
            <p:cNvPr id="25" name="矩形 24">
              <a:extLst>
                <a:ext uri="{FF2B5EF4-FFF2-40B4-BE49-F238E27FC236}">
                  <a16:creationId xmlns:a16="http://schemas.microsoft.com/office/drawing/2014/main" id="{99F78F11-E8B2-2967-C148-5AF93C0F1DF0}"/>
                </a:ext>
              </a:extLst>
            </p:cNvPr>
            <p:cNvSpPr/>
            <p:nvPr/>
          </p:nvSpPr>
          <p:spPr>
            <a:xfrm>
              <a:off x="5358791" y="4013566"/>
              <a:ext cx="45719" cy="299923"/>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26" name="文本框 25">
              <a:extLst>
                <a:ext uri="{FF2B5EF4-FFF2-40B4-BE49-F238E27FC236}">
                  <a16:creationId xmlns:a16="http://schemas.microsoft.com/office/drawing/2014/main" id="{972E9A20-A957-9A0E-B197-703BE2222B8B}"/>
                </a:ext>
              </a:extLst>
            </p:cNvPr>
            <p:cNvSpPr txBox="1"/>
            <p:nvPr/>
          </p:nvSpPr>
          <p:spPr>
            <a:xfrm>
              <a:off x="5404509" y="4009638"/>
              <a:ext cx="1250890" cy="307777"/>
            </a:xfrm>
            <a:prstGeom prst="rect">
              <a:avLst/>
            </a:prstGeom>
            <a:noFill/>
          </p:spPr>
          <p:txBody>
            <a:bodyPr wrap="square">
              <a:spAutoFit/>
            </a:bodyPr>
            <a:lstStyle/>
            <a:p>
              <a:pPr algn="ctr"/>
              <a:r>
                <a:rPr lang="en-US" altLang="zh-CN" sz="1400" b="1" dirty="0">
                  <a:latin typeface="Eras Demi ITC" panose="020B0805030504020804" pitchFamily="34" charset="0"/>
                  <a:ea typeface="微软雅黑" panose="020B0503020204020204" pitchFamily="34" charset="-122"/>
                </a:rPr>
                <a:t>Outcome</a:t>
              </a:r>
              <a:endParaRPr lang="zh-CN" altLang="en-US" sz="1400" b="1" dirty="0">
                <a:latin typeface="Eras Demi ITC" panose="020B0805030504020804" pitchFamily="34" charset="0"/>
                <a:ea typeface="微软雅黑" panose="020B0503020204020204" pitchFamily="34" charset="-122"/>
              </a:endParaRPr>
            </a:p>
          </p:txBody>
        </p:sp>
      </p:grpSp>
      <p:sp>
        <p:nvSpPr>
          <p:cNvPr id="30" name="矩形 29">
            <a:extLst>
              <a:ext uri="{FF2B5EF4-FFF2-40B4-BE49-F238E27FC236}">
                <a16:creationId xmlns:a16="http://schemas.microsoft.com/office/drawing/2014/main" id="{8D0D7A53-7307-3313-F387-B193C9D4491C}"/>
              </a:ext>
            </a:extLst>
          </p:cNvPr>
          <p:cNvSpPr/>
          <p:nvPr/>
        </p:nvSpPr>
        <p:spPr>
          <a:xfrm rot="16200000" flipH="1">
            <a:off x="8240412" y="556025"/>
            <a:ext cx="69886" cy="6094159"/>
          </a:xfrm>
          <a:prstGeom prst="rect">
            <a:avLst/>
          </a:prstGeom>
          <a:solidFill>
            <a:srgbClr val="002060">
              <a:alpha val="80000"/>
            </a:srgbClr>
          </a:solidFill>
          <a:ln>
            <a:solidFill>
              <a:srgbClr val="0C1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Eras Demi ITC" panose="020B0805030504020804" pitchFamily="34" charset="0"/>
              <a:ea typeface="思源黑体 CN Normal" panose="020B0400000000000000" pitchFamily="34" charset="-122"/>
            </a:endParaRPr>
          </a:p>
        </p:txBody>
      </p:sp>
    </p:spTree>
    <p:extLst>
      <p:ext uri="{BB962C8B-B14F-4D97-AF65-F5344CB8AC3E}">
        <p14:creationId xmlns:p14="http://schemas.microsoft.com/office/powerpoint/2010/main" val="1786329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62995-013C-6CDD-6FAC-575A9749F77C}"/>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AC9F56CF-4803-CE4F-EF16-D177CD5E11CB}"/>
              </a:ext>
            </a:extLst>
          </p:cNvPr>
          <p:cNvSpPr txBox="1"/>
          <p:nvPr/>
        </p:nvSpPr>
        <p:spPr>
          <a:xfrm>
            <a:off x="7086343" y="1782068"/>
            <a:ext cx="4887674" cy="4064574"/>
          </a:xfrm>
          <a:prstGeom prst="rect">
            <a:avLst/>
          </a:prstGeom>
          <a:noFill/>
        </p:spPr>
        <p:txBody>
          <a:bodyPr wrap="square">
            <a:spAutoFit/>
          </a:bodyPr>
          <a:lstStyle/>
          <a:p>
            <a:pPr>
              <a:lnSpc>
                <a:spcPct val="125000"/>
              </a:lnSpc>
            </a:pPr>
            <a:r>
              <a:rPr lang="en-US" altLang="zh-CN" sz="1600" b="1" dirty="0">
                <a:latin typeface="Times New Roman" panose="02020603050405020304" pitchFamily="18" charset="0"/>
                <a:cs typeface="Times New Roman" panose="02020603050405020304" pitchFamily="18" charset="0"/>
              </a:rPr>
              <a:t>System Understanding</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Understood the basic ROS2 simulation workflow of DexHand</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Identified the link between robot description, launch files, and motion control</a:t>
            </a:r>
          </a:p>
          <a:p>
            <a:pPr>
              <a:lnSpc>
                <a:spcPct val="125000"/>
              </a:lnSpc>
            </a:pPr>
            <a:r>
              <a:rPr lang="en-US" altLang="zh-CN" sz="1600" b="1" dirty="0">
                <a:latin typeface="Times New Roman" panose="02020603050405020304" pitchFamily="18" charset="0"/>
                <a:cs typeface="Times New Roman" panose="02020603050405020304" pitchFamily="18" charset="0"/>
              </a:rPr>
              <a:t>What We Verified</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Correct loading and visualization of the hand model</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Consistency between commanded motion and simulated poses</a:t>
            </a:r>
          </a:p>
          <a:p>
            <a:pPr>
              <a:lnSpc>
                <a:spcPct val="125000"/>
              </a:lnSpc>
            </a:pPr>
            <a:r>
              <a:rPr lang="en-US" altLang="zh-CN" sz="1600" b="1" dirty="0">
                <a:latin typeface="Times New Roman" panose="02020603050405020304" pitchFamily="18" charset="0"/>
                <a:cs typeface="Times New Roman" panose="02020603050405020304" pitchFamily="18" charset="0"/>
              </a:rPr>
              <a:t>Why It Matters</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Reduces uncertainty before physical assembly</a:t>
            </a:r>
          </a:p>
          <a:p>
            <a:pPr marL="285750" indent="-285750">
              <a:lnSpc>
                <a:spcPct val="125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Supports later hardware integration and future AI-based extensions</a:t>
            </a:r>
          </a:p>
        </p:txBody>
      </p:sp>
      <p:grpSp>
        <p:nvGrpSpPr>
          <p:cNvPr id="17" name="组合 16">
            <a:extLst>
              <a:ext uri="{FF2B5EF4-FFF2-40B4-BE49-F238E27FC236}">
                <a16:creationId xmlns:a16="http://schemas.microsoft.com/office/drawing/2014/main" id="{92325294-8D8A-29C1-7BD9-7EFDD7B3BB2B}"/>
              </a:ext>
            </a:extLst>
          </p:cNvPr>
          <p:cNvGrpSpPr/>
          <p:nvPr/>
        </p:nvGrpSpPr>
        <p:grpSpPr>
          <a:xfrm>
            <a:off x="147638" y="1265575"/>
            <a:ext cx="6638060" cy="5200029"/>
            <a:chOff x="265561" y="1300524"/>
            <a:chExt cx="6638060" cy="5200029"/>
          </a:xfrm>
        </p:grpSpPr>
        <p:sp>
          <p:nvSpPr>
            <p:cNvPr id="14" name="Shape 22">
              <a:extLst>
                <a:ext uri="{FF2B5EF4-FFF2-40B4-BE49-F238E27FC236}">
                  <a16:creationId xmlns:a16="http://schemas.microsoft.com/office/drawing/2014/main" id="{B4A47322-886D-8966-9730-8D7EF0D671C9}"/>
                </a:ext>
              </a:extLst>
            </p:cNvPr>
            <p:cNvSpPr>
              <a:spLocks/>
            </p:cNvSpPr>
            <p:nvPr/>
          </p:nvSpPr>
          <p:spPr>
            <a:xfrm>
              <a:off x="4356728" y="1300524"/>
              <a:ext cx="2418145" cy="5200029"/>
            </a:xfrm>
            <a:prstGeom prst="roundRect">
              <a:avLst>
                <a:gd name="adj" fmla="val 865"/>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3" name="Shape 22">
              <a:extLst>
                <a:ext uri="{FF2B5EF4-FFF2-40B4-BE49-F238E27FC236}">
                  <a16:creationId xmlns:a16="http://schemas.microsoft.com/office/drawing/2014/main" id="{A69ACDB4-597D-18A7-A4A0-BD760296184E}"/>
                </a:ext>
              </a:extLst>
            </p:cNvPr>
            <p:cNvSpPr>
              <a:spLocks/>
            </p:cNvSpPr>
            <p:nvPr/>
          </p:nvSpPr>
          <p:spPr>
            <a:xfrm>
              <a:off x="265561" y="1300524"/>
              <a:ext cx="3790522" cy="5200029"/>
            </a:xfrm>
            <a:prstGeom prst="roundRect">
              <a:avLst>
                <a:gd name="adj" fmla="val 865"/>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pic>
          <p:nvPicPr>
            <p:cNvPr id="37" name="图片 36">
              <a:extLst>
                <a:ext uri="{FF2B5EF4-FFF2-40B4-BE49-F238E27FC236}">
                  <a16:creationId xmlns:a16="http://schemas.microsoft.com/office/drawing/2014/main" id="{3C3CC779-E3C5-E86C-F3C3-2E8A21F65CB9}"/>
                </a:ext>
              </a:extLst>
            </p:cNvPr>
            <p:cNvPicPr>
              <a:picLocks noChangeAspect="1"/>
            </p:cNvPicPr>
            <p:nvPr/>
          </p:nvPicPr>
          <p:blipFill>
            <a:blip r:embed="rId3"/>
            <a:stretch>
              <a:fillRect/>
            </a:stretch>
          </p:blipFill>
          <p:spPr>
            <a:xfrm>
              <a:off x="4991009" y="1377104"/>
              <a:ext cx="1212025" cy="1397858"/>
            </a:xfrm>
            <a:prstGeom prst="rect">
              <a:avLst/>
            </a:prstGeom>
          </p:spPr>
        </p:pic>
        <p:pic>
          <p:nvPicPr>
            <p:cNvPr id="39" name="图片 38">
              <a:extLst>
                <a:ext uri="{FF2B5EF4-FFF2-40B4-BE49-F238E27FC236}">
                  <a16:creationId xmlns:a16="http://schemas.microsoft.com/office/drawing/2014/main" id="{C37B22A4-9671-3A0C-49DD-89262915497D}"/>
                </a:ext>
              </a:extLst>
            </p:cNvPr>
            <p:cNvPicPr>
              <a:picLocks noChangeAspect="1"/>
            </p:cNvPicPr>
            <p:nvPr/>
          </p:nvPicPr>
          <p:blipFill>
            <a:blip r:embed="rId4"/>
            <a:stretch>
              <a:fillRect/>
            </a:stretch>
          </p:blipFill>
          <p:spPr>
            <a:xfrm>
              <a:off x="4689272" y="3109187"/>
              <a:ext cx="1863928" cy="1377686"/>
            </a:xfrm>
            <a:prstGeom prst="rect">
              <a:avLst/>
            </a:prstGeom>
          </p:spPr>
        </p:pic>
        <p:pic>
          <p:nvPicPr>
            <p:cNvPr id="43" name="图片 42">
              <a:extLst>
                <a:ext uri="{FF2B5EF4-FFF2-40B4-BE49-F238E27FC236}">
                  <a16:creationId xmlns:a16="http://schemas.microsoft.com/office/drawing/2014/main" id="{2DCD4C9D-293A-71F4-C741-C202AE9D0F90}"/>
                </a:ext>
              </a:extLst>
            </p:cNvPr>
            <p:cNvPicPr>
              <a:picLocks noChangeAspect="1"/>
            </p:cNvPicPr>
            <p:nvPr/>
          </p:nvPicPr>
          <p:blipFill>
            <a:blip r:embed="rId5"/>
            <a:stretch>
              <a:fillRect/>
            </a:stretch>
          </p:blipFill>
          <p:spPr>
            <a:xfrm>
              <a:off x="4689271" y="4728430"/>
              <a:ext cx="1864447" cy="1377686"/>
            </a:xfrm>
            <a:prstGeom prst="rect">
              <a:avLst/>
            </a:prstGeom>
          </p:spPr>
        </p:pic>
        <p:sp>
          <p:nvSpPr>
            <p:cNvPr id="16" name="文本框 15">
              <a:extLst>
                <a:ext uri="{FF2B5EF4-FFF2-40B4-BE49-F238E27FC236}">
                  <a16:creationId xmlns:a16="http://schemas.microsoft.com/office/drawing/2014/main" id="{9A267EB4-A86B-41D7-D148-96F8764EE338}"/>
                </a:ext>
              </a:extLst>
            </p:cNvPr>
            <p:cNvSpPr txBox="1"/>
            <p:nvPr/>
          </p:nvSpPr>
          <p:spPr>
            <a:xfrm>
              <a:off x="4992577" y="2779722"/>
              <a:ext cx="1146468"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Hand Model</a:t>
              </a:r>
              <a:endParaRPr lang="zh-CN" altLang="en-US" sz="1400" b="1"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1FF63F26-BD90-CFFB-D0B6-0FB5377D8C20}"/>
                </a:ext>
              </a:extLst>
            </p:cNvPr>
            <p:cNvSpPr txBox="1"/>
            <p:nvPr/>
          </p:nvSpPr>
          <p:spPr>
            <a:xfrm>
              <a:off x="4689272" y="4439467"/>
              <a:ext cx="2214349" cy="307777"/>
            </a:xfrm>
            <a:prstGeom prst="rect">
              <a:avLst/>
            </a:prstGeom>
            <a:noFill/>
          </p:spPr>
          <p:txBody>
            <a:bodyPr wrap="square">
              <a:spAutoFit/>
            </a:bodyPr>
            <a:lstStyle/>
            <a:p>
              <a:pPr>
                <a:buNone/>
              </a:pPr>
              <a:r>
                <a:rPr lang="en-US" altLang="zh-CN" sz="1400" b="1" dirty="0">
                  <a:latin typeface="Times New Roman" panose="02020603050405020304" pitchFamily="18" charset="0"/>
                  <a:cs typeface="Times New Roman" panose="02020603050405020304" pitchFamily="18" charset="0"/>
                </a:rPr>
                <a:t>Workspace Packages</a:t>
              </a:r>
            </a:p>
          </p:txBody>
        </p:sp>
        <p:sp>
          <p:nvSpPr>
            <p:cNvPr id="22" name="文本框 21">
              <a:extLst>
                <a:ext uri="{FF2B5EF4-FFF2-40B4-BE49-F238E27FC236}">
                  <a16:creationId xmlns:a16="http://schemas.microsoft.com/office/drawing/2014/main" id="{4D1044DF-0B66-808B-77BF-6608667B3F33}"/>
                </a:ext>
              </a:extLst>
            </p:cNvPr>
            <p:cNvSpPr txBox="1"/>
            <p:nvPr/>
          </p:nvSpPr>
          <p:spPr>
            <a:xfrm>
              <a:off x="4929409" y="6110876"/>
              <a:ext cx="1512955" cy="307777"/>
            </a:xfrm>
            <a:prstGeom prst="rect">
              <a:avLst/>
            </a:prstGeom>
            <a:noFill/>
          </p:spPr>
          <p:txBody>
            <a:bodyPr wrap="square">
              <a:spAutoFit/>
            </a:bodyPr>
            <a:lstStyle/>
            <a:p>
              <a:r>
                <a:rPr lang="en-US" altLang="zh-CN" sz="1400" b="1" dirty="0">
                  <a:latin typeface="Times New Roman" panose="02020603050405020304" pitchFamily="18" charset="0"/>
                  <a:cs typeface="Times New Roman" panose="02020603050405020304" pitchFamily="18" charset="0"/>
                </a:rPr>
                <a:t>RViz Interface</a:t>
              </a:r>
            </a:p>
          </p:txBody>
        </p:sp>
        <p:pic>
          <p:nvPicPr>
            <p:cNvPr id="11" name="图形 10" descr="上一步 纯色填充">
              <a:extLst>
                <a:ext uri="{FF2B5EF4-FFF2-40B4-BE49-F238E27FC236}">
                  <a16:creationId xmlns:a16="http://schemas.microsoft.com/office/drawing/2014/main" id="{E5118516-9C40-487E-E061-0EA4635D504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475783">
              <a:off x="3826057" y="1607637"/>
              <a:ext cx="914400" cy="914400"/>
            </a:xfrm>
            <a:prstGeom prst="rect">
              <a:avLst/>
            </a:prstGeom>
          </p:spPr>
        </p:pic>
        <p:pic>
          <p:nvPicPr>
            <p:cNvPr id="10" name="图形 9" descr="上一步 纯色填充">
              <a:extLst>
                <a:ext uri="{FF2B5EF4-FFF2-40B4-BE49-F238E27FC236}">
                  <a16:creationId xmlns:a16="http://schemas.microsoft.com/office/drawing/2014/main" id="{C05ADD62-A5BF-0340-010D-8AB0798BEE68}"/>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rot="1475783">
              <a:off x="3826057" y="2881294"/>
              <a:ext cx="914400" cy="914400"/>
            </a:xfrm>
            <a:prstGeom prst="rect">
              <a:avLst/>
            </a:prstGeom>
          </p:spPr>
        </p:pic>
        <p:pic>
          <p:nvPicPr>
            <p:cNvPr id="12" name="图形 11" descr="上一步 纯色填充">
              <a:extLst>
                <a:ext uri="{FF2B5EF4-FFF2-40B4-BE49-F238E27FC236}">
                  <a16:creationId xmlns:a16="http://schemas.microsoft.com/office/drawing/2014/main" id="{EC2BA8A9-630C-B78E-1BC3-FF1C38874676}"/>
                </a:ext>
              </a:extLst>
            </p:cNvPr>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rot="1475783">
              <a:off x="3826057" y="4603258"/>
              <a:ext cx="914400" cy="914400"/>
            </a:xfrm>
            <a:prstGeom prst="rect">
              <a:avLst/>
            </a:prstGeom>
          </p:spPr>
        </p:pic>
        <p:sp>
          <p:nvSpPr>
            <p:cNvPr id="3" name="矩形: 圆角 2">
              <a:extLst>
                <a:ext uri="{FF2B5EF4-FFF2-40B4-BE49-F238E27FC236}">
                  <a16:creationId xmlns:a16="http://schemas.microsoft.com/office/drawing/2014/main" id="{4CC8DD25-AF98-911B-1A82-7DB759A671EB}"/>
                </a:ext>
              </a:extLst>
            </p:cNvPr>
            <p:cNvSpPr/>
            <p:nvPr/>
          </p:nvSpPr>
          <p:spPr>
            <a:xfrm>
              <a:off x="399137" y="1716056"/>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Robot Model</a:t>
              </a:r>
              <a:endParaRPr lang="zh-CN" altLang="en-US" sz="1600" dirty="0">
                <a:latin typeface="Times New Roman" panose="02020603050405020304" pitchFamily="18" charset="0"/>
                <a:cs typeface="Times New Roman" panose="02020603050405020304" pitchFamily="18" charset="0"/>
              </a:endParaRPr>
            </a:p>
          </p:txBody>
        </p:sp>
        <p:sp>
          <p:nvSpPr>
            <p:cNvPr id="4" name="矩形: 圆角 3">
              <a:extLst>
                <a:ext uri="{FF2B5EF4-FFF2-40B4-BE49-F238E27FC236}">
                  <a16:creationId xmlns:a16="http://schemas.microsoft.com/office/drawing/2014/main" id="{5088A7B1-F4F3-149E-FFAF-7255D31D9F06}"/>
                </a:ext>
              </a:extLst>
            </p:cNvPr>
            <p:cNvSpPr/>
            <p:nvPr/>
          </p:nvSpPr>
          <p:spPr>
            <a:xfrm>
              <a:off x="399137" y="2988188"/>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ROS2 Launch and Packages</a:t>
              </a:r>
              <a:endParaRPr lang="zh-CN" altLang="en-US" sz="1600" dirty="0">
                <a:latin typeface="Times New Roman" panose="02020603050405020304" pitchFamily="18" charset="0"/>
                <a:cs typeface="Times New Roman" panose="02020603050405020304" pitchFamily="18" charset="0"/>
              </a:endParaRPr>
            </a:p>
          </p:txBody>
        </p:sp>
        <p:sp>
          <p:nvSpPr>
            <p:cNvPr id="5" name="矩形: 圆角 4">
              <a:extLst>
                <a:ext uri="{FF2B5EF4-FFF2-40B4-BE49-F238E27FC236}">
                  <a16:creationId xmlns:a16="http://schemas.microsoft.com/office/drawing/2014/main" id="{14394224-6BBE-F506-DB29-A91343315227}"/>
                </a:ext>
              </a:extLst>
            </p:cNvPr>
            <p:cNvSpPr/>
            <p:nvPr/>
          </p:nvSpPr>
          <p:spPr>
            <a:xfrm>
              <a:off x="399137" y="4112554"/>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Visualization and Joint Control</a:t>
              </a:r>
              <a:endParaRPr lang="zh-CN" altLang="en-US" sz="1600" dirty="0">
                <a:latin typeface="Times New Roman" panose="02020603050405020304" pitchFamily="18" charset="0"/>
                <a:cs typeface="Times New Roman" panose="02020603050405020304" pitchFamily="18" charset="0"/>
              </a:endParaRPr>
            </a:p>
          </p:txBody>
        </p:sp>
        <p:sp>
          <p:nvSpPr>
            <p:cNvPr id="6" name="矩形: 圆角 5">
              <a:extLst>
                <a:ext uri="{FF2B5EF4-FFF2-40B4-BE49-F238E27FC236}">
                  <a16:creationId xmlns:a16="http://schemas.microsoft.com/office/drawing/2014/main" id="{2C128938-55CB-3210-C79F-C9728D8210CD}"/>
                </a:ext>
              </a:extLst>
            </p:cNvPr>
            <p:cNvSpPr/>
            <p:nvPr/>
          </p:nvSpPr>
          <p:spPr>
            <a:xfrm>
              <a:off x="399137" y="5310802"/>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Motion Verification</a:t>
              </a:r>
              <a:endParaRPr lang="zh-CN" altLang="en-US" sz="1600" dirty="0">
                <a:latin typeface="Times New Roman" panose="02020603050405020304" pitchFamily="18" charset="0"/>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167AB01E-D932-6AE6-AAF1-B334A786ED64}"/>
                </a:ext>
              </a:extLst>
            </p:cNvPr>
            <p:cNvCxnSpPr>
              <a:cxnSpLocks/>
              <a:stCxn id="3" idx="2"/>
              <a:endCxn id="4" idx="0"/>
            </p:cNvCxnSpPr>
            <p:nvPr/>
          </p:nvCxnSpPr>
          <p:spPr>
            <a:xfrm>
              <a:off x="2108195" y="2413618"/>
              <a:ext cx="0" cy="57457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295F8D82-F47C-1D74-C288-EA943820477A}"/>
                </a:ext>
              </a:extLst>
            </p:cNvPr>
            <p:cNvCxnSpPr>
              <a:cxnSpLocks/>
              <a:stCxn id="4" idx="2"/>
              <a:endCxn id="5" idx="0"/>
            </p:cNvCxnSpPr>
            <p:nvPr/>
          </p:nvCxnSpPr>
          <p:spPr>
            <a:xfrm>
              <a:off x="2108195" y="3685750"/>
              <a:ext cx="0" cy="426804"/>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F7E97D22-F94D-AC3C-5454-83C01667D383}"/>
                </a:ext>
              </a:extLst>
            </p:cNvPr>
            <p:cNvCxnSpPr>
              <a:cxnSpLocks/>
              <a:stCxn id="5" idx="2"/>
              <a:endCxn id="6" idx="0"/>
            </p:cNvCxnSpPr>
            <p:nvPr/>
          </p:nvCxnSpPr>
          <p:spPr>
            <a:xfrm>
              <a:off x="2108195" y="4810116"/>
              <a:ext cx="0" cy="500686"/>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18" name="灯片编号占位符 17">
            <a:extLst>
              <a:ext uri="{FF2B5EF4-FFF2-40B4-BE49-F238E27FC236}">
                <a16:creationId xmlns:a16="http://schemas.microsoft.com/office/drawing/2014/main" id="{865D97AE-E3BD-2D98-BC00-D6BC05F0416A}"/>
              </a:ext>
            </a:extLst>
          </p:cNvPr>
          <p:cNvSpPr>
            <a:spLocks noGrp="1"/>
          </p:cNvSpPr>
          <p:nvPr>
            <p:ph type="sldNum" sz="quarter" idx="12"/>
          </p:nvPr>
        </p:nvSpPr>
        <p:spPr>
          <a:xfrm>
            <a:off x="9445465" y="6490976"/>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6</a:t>
            </a:fld>
            <a:endParaRPr lang="zh-CN" altLang="en-US">
              <a:latin typeface="Times New Roman" panose="02020603050405020304" pitchFamily="18" charset="0"/>
              <a:cs typeface="Times New Roman" panose="02020603050405020304" pitchFamily="18" charset="0"/>
            </a:endParaRPr>
          </a:p>
        </p:txBody>
      </p:sp>
      <p:pic>
        <p:nvPicPr>
          <p:cNvPr id="20" name="Picture 4" descr="院长寄语 | 香港中文大学(深圳)金融EMBA">
            <a:extLst>
              <a:ext uri="{FF2B5EF4-FFF2-40B4-BE49-F238E27FC236}">
                <a16:creationId xmlns:a16="http://schemas.microsoft.com/office/drawing/2014/main" id="{FCECA276-5835-CD07-42DC-9A34322E0CC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a:extLst>
              <a:ext uri="{FF2B5EF4-FFF2-40B4-BE49-F238E27FC236}">
                <a16:creationId xmlns:a16="http://schemas.microsoft.com/office/drawing/2014/main" id="{EC181401-9B8E-42C1-DA03-0050936ACD65}"/>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System Workflow and Significance</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24" name="矩形 23">
            <a:extLst>
              <a:ext uri="{FF2B5EF4-FFF2-40B4-BE49-F238E27FC236}">
                <a16:creationId xmlns:a16="http://schemas.microsoft.com/office/drawing/2014/main" id="{A03FE161-0377-7C97-AB42-D341C128AD31}"/>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Simulation</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7" name="矩形 26">
            <a:extLst>
              <a:ext uri="{FF2B5EF4-FFF2-40B4-BE49-F238E27FC236}">
                <a16:creationId xmlns:a16="http://schemas.microsoft.com/office/drawing/2014/main" id="{E3EF6DCC-37AA-12C9-8F83-AF24AEE428D8}"/>
              </a:ext>
            </a:extLst>
          </p:cNvPr>
          <p:cNvSpPr/>
          <p:nvPr/>
        </p:nvSpPr>
        <p:spPr>
          <a:xfrm>
            <a:off x="147289" y="1023780"/>
            <a:ext cx="6638409" cy="5581150"/>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Eras Demi ITC" panose="020B0805030504020804" pitchFamily="34" charset="0"/>
              <a:ea typeface="等线" panose="02010600030101010101" pitchFamily="2" charset="-122"/>
            </a:endParaRPr>
          </a:p>
        </p:txBody>
      </p:sp>
      <p:sp>
        <p:nvSpPr>
          <p:cNvPr id="28" name="矩形 27">
            <a:extLst>
              <a:ext uri="{FF2B5EF4-FFF2-40B4-BE49-F238E27FC236}">
                <a16:creationId xmlns:a16="http://schemas.microsoft.com/office/drawing/2014/main" id="{B59C191D-09F5-E5AB-69CE-12F7D6AC55E7}"/>
              </a:ext>
            </a:extLst>
          </p:cNvPr>
          <p:cNvSpPr/>
          <p:nvPr/>
        </p:nvSpPr>
        <p:spPr>
          <a:xfrm>
            <a:off x="129510" y="645697"/>
            <a:ext cx="6656188" cy="369843"/>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a:solidFill>
                  <a:srgbClr val="FFC000"/>
                </a:solidFill>
                <a:latin typeface="Eras Demi ITC" panose="020B0805030504020804" pitchFamily="34" charset="0"/>
                <a:ea typeface="微软雅黑" panose="020B0503020204020204" pitchFamily="34" charset="-122"/>
              </a:rPr>
              <a:t>Main Workflow For Simulation</a:t>
            </a:r>
            <a:endParaRPr kumimoji="0" lang="zh-CN" altLang="en-US"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endParaRPr>
          </a:p>
        </p:txBody>
      </p:sp>
    </p:spTree>
    <p:extLst>
      <p:ext uri="{BB962C8B-B14F-4D97-AF65-F5344CB8AC3E}">
        <p14:creationId xmlns:p14="http://schemas.microsoft.com/office/powerpoint/2010/main" val="2205000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BD3002DA-B67F-617A-CF57-69FF0F6933FE}"/>
              </a:ext>
            </a:extLst>
          </p:cNvPr>
          <p:cNvGrpSpPr/>
          <p:nvPr/>
        </p:nvGrpSpPr>
        <p:grpSpPr>
          <a:xfrm>
            <a:off x="8693229" y="4862872"/>
            <a:ext cx="3001451" cy="2000967"/>
            <a:chOff x="8720082" y="4865032"/>
            <a:chExt cx="3001451" cy="2000967"/>
          </a:xfrm>
        </p:grpSpPr>
        <p:pic>
          <p:nvPicPr>
            <p:cNvPr id="42" name="图片 41">
              <a:extLst>
                <a:ext uri="{FF2B5EF4-FFF2-40B4-BE49-F238E27FC236}">
                  <a16:creationId xmlns:a16="http://schemas.microsoft.com/office/drawing/2014/main" id="{F263F4A7-FB41-8584-4732-F2792AB8B547}"/>
                </a:ext>
              </a:extLst>
            </p:cNvPr>
            <p:cNvPicPr>
              <a:picLocks noChangeAspect="1"/>
            </p:cNvPicPr>
            <p:nvPr/>
          </p:nvPicPr>
          <p:blipFill>
            <a:blip r:embed="rId3"/>
            <a:stretch>
              <a:fillRect/>
            </a:stretch>
          </p:blipFill>
          <p:spPr>
            <a:xfrm>
              <a:off x="8720082" y="4865032"/>
              <a:ext cx="3001451" cy="2000967"/>
            </a:xfrm>
            <a:prstGeom prst="rect">
              <a:avLst/>
            </a:prstGeom>
          </p:spPr>
        </p:pic>
        <p:sp>
          <p:nvSpPr>
            <p:cNvPr id="67" name="文本框 66">
              <a:extLst>
                <a:ext uri="{FF2B5EF4-FFF2-40B4-BE49-F238E27FC236}">
                  <a16:creationId xmlns:a16="http://schemas.microsoft.com/office/drawing/2014/main" id="{8C12D28B-4093-2FD6-DAD2-1915FD4C5E46}"/>
                </a:ext>
              </a:extLst>
            </p:cNvPr>
            <p:cNvSpPr txBox="1"/>
            <p:nvPr/>
          </p:nvSpPr>
          <p:spPr>
            <a:xfrm>
              <a:off x="9393385" y="6386115"/>
              <a:ext cx="1601721" cy="369332"/>
            </a:xfrm>
            <a:prstGeom prst="rect">
              <a:avLst/>
            </a:prstGeom>
            <a:noFill/>
          </p:spPr>
          <p:txBody>
            <a:bodyPr wrap="none" rtlCol="0">
              <a:spAutoFit/>
            </a:bodyPr>
            <a:lstStyle/>
            <a:p>
              <a:r>
                <a:rPr lang="en-US" altLang="zh-CN" dirty="0" err="1">
                  <a:latin typeface="Times New Roman" panose="02020603050405020304" pitchFamily="18" charset="0"/>
                  <a:cs typeface="Times New Roman" panose="02020603050405020304" pitchFamily="18" charset="0"/>
                </a:rPr>
                <a:t>Feetech</a:t>
              </a:r>
              <a:r>
                <a:rPr lang="en-US" altLang="zh-CN" dirty="0">
                  <a:latin typeface="Times New Roman" panose="02020603050405020304" pitchFamily="18" charset="0"/>
                  <a:cs typeface="Times New Roman" panose="02020603050405020304" pitchFamily="18" charset="0"/>
                </a:rPr>
                <a:t> SCS15</a:t>
              </a:r>
              <a:endParaRPr lang="zh-CN" altLang="en-US" dirty="0">
                <a:latin typeface="Times New Roman" panose="02020603050405020304" pitchFamily="18" charset="0"/>
                <a:cs typeface="Times New Roman" panose="02020603050405020304" pitchFamily="18" charset="0"/>
              </a:endParaRPr>
            </a:p>
          </p:txBody>
        </p:sp>
        <p:sp>
          <p:nvSpPr>
            <p:cNvPr id="28" name="矩形: 圆角 27">
              <a:extLst>
                <a:ext uri="{FF2B5EF4-FFF2-40B4-BE49-F238E27FC236}">
                  <a16:creationId xmlns:a16="http://schemas.microsoft.com/office/drawing/2014/main" id="{0EA4C436-7C84-3316-BF29-8D0804723B7F}"/>
                </a:ext>
              </a:extLst>
            </p:cNvPr>
            <p:cNvSpPr/>
            <p:nvPr/>
          </p:nvSpPr>
          <p:spPr>
            <a:xfrm>
              <a:off x="8749492" y="4955082"/>
              <a:ext cx="2947882" cy="1820868"/>
            </a:xfrm>
            <a:prstGeom prst="roundRect">
              <a:avLst>
                <a:gd name="adj" fmla="val 6146"/>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Eras Demi ITC" panose="020B0805030504020804" pitchFamily="34" charset="0"/>
                <a:ea typeface="等线" panose="02010600030101010101" pitchFamily="2" charset="-122"/>
              </a:endParaRPr>
            </a:p>
          </p:txBody>
        </p:sp>
      </p:grpSp>
      <p:sp>
        <p:nvSpPr>
          <p:cNvPr id="34" name="矩形: 圆角 33">
            <a:extLst>
              <a:ext uri="{FF2B5EF4-FFF2-40B4-BE49-F238E27FC236}">
                <a16:creationId xmlns:a16="http://schemas.microsoft.com/office/drawing/2014/main" id="{FA6390BD-8929-1FD3-7C82-6320AD9DED33}"/>
              </a:ext>
            </a:extLst>
          </p:cNvPr>
          <p:cNvSpPr/>
          <p:nvPr/>
        </p:nvSpPr>
        <p:spPr>
          <a:xfrm>
            <a:off x="8737638" y="4966935"/>
            <a:ext cx="2947882" cy="364449"/>
          </a:xfrm>
          <a:prstGeom prst="roundRect">
            <a:avLst>
              <a:gd name="adj" fmla="val 23914"/>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Axial Wrist Rotation ×1</a:t>
            </a:r>
          </a:p>
        </p:txBody>
      </p:sp>
      <p:pic>
        <p:nvPicPr>
          <p:cNvPr id="35" name="图片 34">
            <a:extLst>
              <a:ext uri="{FF2B5EF4-FFF2-40B4-BE49-F238E27FC236}">
                <a16:creationId xmlns:a16="http://schemas.microsoft.com/office/drawing/2014/main" id="{55F46206-6813-FC9E-ACE8-ED80D110BDE0}"/>
              </a:ext>
            </a:extLst>
          </p:cNvPr>
          <p:cNvPicPr>
            <a:picLocks noChangeAspect="1"/>
          </p:cNvPicPr>
          <p:nvPr/>
        </p:nvPicPr>
        <p:blipFill>
          <a:blip r:embed="rId4"/>
          <a:stretch>
            <a:fillRect/>
          </a:stretch>
        </p:blipFill>
        <p:spPr>
          <a:xfrm>
            <a:off x="8765751" y="2961257"/>
            <a:ext cx="2535040" cy="1690027"/>
          </a:xfrm>
          <a:prstGeom prst="rect">
            <a:avLst/>
          </a:prstGeom>
        </p:spPr>
      </p:pic>
      <p:sp>
        <p:nvSpPr>
          <p:cNvPr id="33" name="矩形: 圆角 32">
            <a:extLst>
              <a:ext uri="{FF2B5EF4-FFF2-40B4-BE49-F238E27FC236}">
                <a16:creationId xmlns:a16="http://schemas.microsoft.com/office/drawing/2014/main" id="{D16F9602-9633-229F-C227-7CC3FD6E39E8}"/>
              </a:ext>
            </a:extLst>
          </p:cNvPr>
          <p:cNvSpPr/>
          <p:nvPr/>
        </p:nvSpPr>
        <p:spPr>
          <a:xfrm>
            <a:off x="8726589" y="2974431"/>
            <a:ext cx="2915364" cy="364449"/>
          </a:xfrm>
          <a:prstGeom prst="roundRect">
            <a:avLst>
              <a:gd name="adj" fmla="val 19534"/>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Wrist Flexion/Extension ×2</a:t>
            </a:r>
          </a:p>
        </p:txBody>
      </p:sp>
      <p:pic>
        <p:nvPicPr>
          <p:cNvPr id="7" name="图片 6">
            <a:extLst>
              <a:ext uri="{FF2B5EF4-FFF2-40B4-BE49-F238E27FC236}">
                <a16:creationId xmlns:a16="http://schemas.microsoft.com/office/drawing/2014/main" id="{9D69C911-7168-8540-3E17-80F9AEB3D3D3}"/>
              </a:ext>
            </a:extLst>
          </p:cNvPr>
          <p:cNvPicPr>
            <a:picLocks noChangeAspect="1"/>
          </p:cNvPicPr>
          <p:nvPr/>
        </p:nvPicPr>
        <p:blipFill>
          <a:blip r:embed="rId5"/>
          <a:stretch>
            <a:fillRect/>
          </a:stretch>
        </p:blipFill>
        <p:spPr>
          <a:xfrm>
            <a:off x="451514" y="2186494"/>
            <a:ext cx="3914872" cy="2901239"/>
          </a:xfrm>
          <a:prstGeom prst="rect">
            <a:avLst/>
          </a:prstGeom>
        </p:spPr>
      </p:pic>
      <p:pic>
        <p:nvPicPr>
          <p:cNvPr id="9" name="图片 8">
            <a:extLst>
              <a:ext uri="{FF2B5EF4-FFF2-40B4-BE49-F238E27FC236}">
                <a16:creationId xmlns:a16="http://schemas.microsoft.com/office/drawing/2014/main" id="{56B89827-DA55-E7D6-E448-0DEABDD3B207}"/>
              </a:ext>
            </a:extLst>
          </p:cNvPr>
          <p:cNvPicPr>
            <a:picLocks noChangeAspect="1"/>
          </p:cNvPicPr>
          <p:nvPr/>
        </p:nvPicPr>
        <p:blipFill>
          <a:blip r:embed="rId6">
            <a:extLst>
              <a:ext uri="{28A0092B-C50C-407E-A947-70E740481C1C}">
                <a14:useLocalDpi xmlns:a14="http://schemas.microsoft.com/office/drawing/2010/main" val="0"/>
              </a:ext>
            </a:extLst>
          </a:blip>
          <a:srcRect l="26148" t="33620" r="17481" b="35237"/>
          <a:stretch>
            <a:fillRect/>
          </a:stretch>
        </p:blipFill>
        <p:spPr>
          <a:xfrm rot="16200000">
            <a:off x="4726333" y="2167362"/>
            <a:ext cx="3293111" cy="2431918"/>
          </a:xfrm>
          <a:prstGeom prst="rect">
            <a:avLst/>
          </a:prstGeom>
        </p:spPr>
      </p:pic>
      <p:grpSp>
        <p:nvGrpSpPr>
          <p:cNvPr id="69" name="组合 68">
            <a:extLst>
              <a:ext uri="{FF2B5EF4-FFF2-40B4-BE49-F238E27FC236}">
                <a16:creationId xmlns:a16="http://schemas.microsoft.com/office/drawing/2014/main" id="{25DCB3A2-1421-ECB7-52FB-A15FC7825F2F}"/>
              </a:ext>
            </a:extLst>
          </p:cNvPr>
          <p:cNvGrpSpPr/>
          <p:nvPr/>
        </p:nvGrpSpPr>
        <p:grpSpPr>
          <a:xfrm>
            <a:off x="8765751" y="852725"/>
            <a:ext cx="2947882" cy="1826851"/>
            <a:chOff x="7749147" y="1097348"/>
            <a:chExt cx="2947882" cy="1826851"/>
          </a:xfrm>
        </p:grpSpPr>
        <p:pic>
          <p:nvPicPr>
            <p:cNvPr id="30" name="图片 29">
              <a:extLst>
                <a:ext uri="{FF2B5EF4-FFF2-40B4-BE49-F238E27FC236}">
                  <a16:creationId xmlns:a16="http://schemas.microsoft.com/office/drawing/2014/main" id="{CD3DA8A4-8CDA-7C32-A62F-DA54768D6F18}"/>
                </a:ext>
              </a:extLst>
            </p:cNvPr>
            <p:cNvPicPr>
              <a:picLocks noChangeAspect="1"/>
            </p:cNvPicPr>
            <p:nvPr/>
          </p:nvPicPr>
          <p:blipFill>
            <a:blip r:embed="rId7"/>
            <a:srcRect l="14046" t="18320" r="6577" b="24056"/>
            <a:stretch>
              <a:fillRect/>
            </a:stretch>
          </p:blipFill>
          <p:spPr>
            <a:xfrm>
              <a:off x="8151430" y="1273947"/>
              <a:ext cx="2022055" cy="1466281"/>
            </a:xfrm>
            <a:prstGeom prst="rect">
              <a:avLst/>
            </a:prstGeom>
          </p:spPr>
        </p:pic>
        <p:sp>
          <p:nvSpPr>
            <p:cNvPr id="59" name="矩形: 圆角 58">
              <a:extLst>
                <a:ext uri="{FF2B5EF4-FFF2-40B4-BE49-F238E27FC236}">
                  <a16:creationId xmlns:a16="http://schemas.microsoft.com/office/drawing/2014/main" id="{DC0DF663-8E3E-99D9-CF2F-DC1503540381}"/>
                </a:ext>
              </a:extLst>
            </p:cNvPr>
            <p:cNvSpPr/>
            <p:nvPr/>
          </p:nvSpPr>
          <p:spPr>
            <a:xfrm>
              <a:off x="7749147" y="1097348"/>
              <a:ext cx="2947882" cy="1820868"/>
            </a:xfrm>
            <a:prstGeom prst="roundRect">
              <a:avLst>
                <a:gd name="adj" fmla="val 6146"/>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Eras Demi ITC" panose="020B0805030504020804" pitchFamily="34" charset="0"/>
                <a:ea typeface="等线" panose="02010600030101010101" pitchFamily="2" charset="-122"/>
              </a:endParaRPr>
            </a:p>
          </p:txBody>
        </p:sp>
        <p:sp>
          <p:nvSpPr>
            <p:cNvPr id="61" name="文本框 60">
              <a:extLst>
                <a:ext uri="{FF2B5EF4-FFF2-40B4-BE49-F238E27FC236}">
                  <a16:creationId xmlns:a16="http://schemas.microsoft.com/office/drawing/2014/main" id="{E84D24D9-35CF-291D-C245-BDC6E92D95D8}"/>
                </a:ext>
              </a:extLst>
            </p:cNvPr>
            <p:cNvSpPr txBox="1"/>
            <p:nvPr/>
          </p:nvSpPr>
          <p:spPr>
            <a:xfrm>
              <a:off x="8744649" y="2554867"/>
              <a:ext cx="112424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ES3301</a:t>
              </a:r>
              <a:endParaRPr lang="zh-CN" altLang="en-US" dirty="0">
                <a:latin typeface="Times New Roman" panose="02020603050405020304" pitchFamily="18" charset="0"/>
                <a:cs typeface="Times New Roman" panose="02020603050405020304" pitchFamily="18" charset="0"/>
              </a:endParaRPr>
            </a:p>
          </p:txBody>
        </p:sp>
      </p:grpSp>
      <p:sp>
        <p:nvSpPr>
          <p:cNvPr id="64" name="文本框 63">
            <a:extLst>
              <a:ext uri="{FF2B5EF4-FFF2-40B4-BE49-F238E27FC236}">
                <a16:creationId xmlns:a16="http://schemas.microsoft.com/office/drawing/2014/main" id="{FEC617BE-9449-E383-B611-736B46789571}"/>
              </a:ext>
            </a:extLst>
          </p:cNvPr>
          <p:cNvSpPr txBox="1"/>
          <p:nvPr/>
        </p:nvSpPr>
        <p:spPr>
          <a:xfrm>
            <a:off x="9444383" y="4403491"/>
            <a:ext cx="1832553" cy="369332"/>
          </a:xfrm>
          <a:prstGeom prst="rect">
            <a:avLst/>
          </a:prstGeom>
          <a:noFill/>
        </p:spPr>
        <p:txBody>
          <a:bodyPr wrap="none" rtlCol="0">
            <a:spAutoFit/>
          </a:bodyPr>
          <a:lstStyle/>
          <a:p>
            <a:r>
              <a:rPr lang="en-US" altLang="zh-CN" dirty="0" err="1">
                <a:latin typeface="Times New Roman" panose="02020603050405020304" pitchFamily="18" charset="0"/>
                <a:cs typeface="Times New Roman" panose="02020603050405020304" pitchFamily="18" charset="0"/>
              </a:rPr>
              <a:t>Feetech</a:t>
            </a:r>
            <a:r>
              <a:rPr lang="en-US" altLang="zh-CN" dirty="0">
                <a:latin typeface="Times New Roman" panose="02020603050405020304" pitchFamily="18" charset="0"/>
                <a:cs typeface="Times New Roman" panose="02020603050405020304" pitchFamily="18" charset="0"/>
              </a:rPr>
              <a:t> SCS2332</a:t>
            </a:r>
            <a:endParaRPr lang="zh-CN" altLang="en-US" dirty="0">
              <a:latin typeface="Times New Roman" panose="02020603050405020304" pitchFamily="18" charset="0"/>
              <a:cs typeface="Times New Roman" panose="02020603050405020304" pitchFamily="18" charset="0"/>
            </a:endParaRPr>
          </a:p>
        </p:txBody>
      </p:sp>
      <p:sp>
        <p:nvSpPr>
          <p:cNvPr id="74" name="任意多边形: 形状 73">
            <a:extLst>
              <a:ext uri="{FF2B5EF4-FFF2-40B4-BE49-F238E27FC236}">
                <a16:creationId xmlns:a16="http://schemas.microsoft.com/office/drawing/2014/main" id="{B6BF5F41-9E35-FFDE-F237-18D05DF9073A}"/>
              </a:ext>
            </a:extLst>
          </p:cNvPr>
          <p:cNvSpPr/>
          <p:nvPr/>
        </p:nvSpPr>
        <p:spPr>
          <a:xfrm>
            <a:off x="6776378" y="1776728"/>
            <a:ext cx="1901138" cy="987088"/>
          </a:xfrm>
          <a:custGeom>
            <a:avLst/>
            <a:gdLst>
              <a:gd name="csX0" fmla="*/ 0 w 1712686"/>
              <a:gd name="csY0" fmla="*/ 907143 h 907143"/>
              <a:gd name="csX1" fmla="*/ 377372 w 1712686"/>
              <a:gd name="csY1" fmla="*/ 384629 h 907143"/>
              <a:gd name="csX2" fmla="*/ 1712686 w 1712686"/>
              <a:gd name="csY2" fmla="*/ 0 h 907143"/>
            </a:gdLst>
            <a:ahLst/>
            <a:cxnLst>
              <a:cxn ang="0">
                <a:pos x="csX0" y="csY0"/>
              </a:cxn>
              <a:cxn ang="0">
                <a:pos x="csX1" y="csY1"/>
              </a:cxn>
              <a:cxn ang="0">
                <a:pos x="csX2" y="csY2"/>
              </a:cxn>
            </a:cxnLst>
            <a:rect l="l" t="t" r="r" b="b"/>
            <a:pathLst>
              <a:path w="1712686" h="907143">
                <a:moveTo>
                  <a:pt x="0" y="907143"/>
                </a:moveTo>
                <a:cubicBezTo>
                  <a:pt x="45962" y="721481"/>
                  <a:pt x="91924" y="535819"/>
                  <a:pt x="377372" y="384629"/>
                </a:cubicBezTo>
                <a:cubicBezTo>
                  <a:pt x="662820" y="233439"/>
                  <a:pt x="1328058" y="59267"/>
                  <a:pt x="1712686" y="0"/>
                </a:cubicBezTo>
              </a:path>
            </a:pathLst>
          </a:custGeom>
          <a:no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5" name="任意多边形: 形状 74">
            <a:extLst>
              <a:ext uri="{FF2B5EF4-FFF2-40B4-BE49-F238E27FC236}">
                <a16:creationId xmlns:a16="http://schemas.microsoft.com/office/drawing/2014/main" id="{5F966436-EB9E-FBAE-C159-1C4114CCA34C}"/>
              </a:ext>
            </a:extLst>
          </p:cNvPr>
          <p:cNvSpPr/>
          <p:nvPr/>
        </p:nvSpPr>
        <p:spPr>
          <a:xfrm flipV="1">
            <a:off x="6997480" y="3874039"/>
            <a:ext cx="1680035" cy="108858"/>
          </a:xfrm>
          <a:custGeom>
            <a:avLst/>
            <a:gdLst>
              <a:gd name="csX0" fmla="*/ 0 w 1712686"/>
              <a:gd name="csY0" fmla="*/ 907143 h 907143"/>
              <a:gd name="csX1" fmla="*/ 377372 w 1712686"/>
              <a:gd name="csY1" fmla="*/ 384629 h 907143"/>
              <a:gd name="csX2" fmla="*/ 1712686 w 1712686"/>
              <a:gd name="csY2" fmla="*/ 0 h 907143"/>
            </a:gdLst>
            <a:ahLst/>
            <a:cxnLst>
              <a:cxn ang="0">
                <a:pos x="csX0" y="csY0"/>
              </a:cxn>
              <a:cxn ang="0">
                <a:pos x="csX1" y="csY1"/>
              </a:cxn>
              <a:cxn ang="0">
                <a:pos x="csX2" y="csY2"/>
              </a:cxn>
            </a:cxnLst>
            <a:rect l="l" t="t" r="r" b="b"/>
            <a:pathLst>
              <a:path w="1712686" h="907143">
                <a:moveTo>
                  <a:pt x="0" y="907143"/>
                </a:moveTo>
                <a:cubicBezTo>
                  <a:pt x="45962" y="721481"/>
                  <a:pt x="91924" y="535819"/>
                  <a:pt x="377372" y="384629"/>
                </a:cubicBezTo>
                <a:cubicBezTo>
                  <a:pt x="662820" y="233439"/>
                  <a:pt x="1328058" y="59267"/>
                  <a:pt x="1712686" y="0"/>
                </a:cubicBezTo>
              </a:path>
            </a:pathLst>
          </a:custGeom>
          <a:no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6" name="任意多边形: 形状 75">
            <a:extLst>
              <a:ext uri="{FF2B5EF4-FFF2-40B4-BE49-F238E27FC236}">
                <a16:creationId xmlns:a16="http://schemas.microsoft.com/office/drawing/2014/main" id="{F0528F55-F4D8-8B52-C327-5806B20859B9}"/>
              </a:ext>
            </a:extLst>
          </p:cNvPr>
          <p:cNvSpPr/>
          <p:nvPr/>
        </p:nvSpPr>
        <p:spPr>
          <a:xfrm flipV="1">
            <a:off x="6887521" y="4588157"/>
            <a:ext cx="1789994" cy="1456646"/>
          </a:xfrm>
          <a:custGeom>
            <a:avLst/>
            <a:gdLst>
              <a:gd name="csX0" fmla="*/ 0 w 1712686"/>
              <a:gd name="csY0" fmla="*/ 907143 h 907143"/>
              <a:gd name="csX1" fmla="*/ 377372 w 1712686"/>
              <a:gd name="csY1" fmla="*/ 384629 h 907143"/>
              <a:gd name="csX2" fmla="*/ 1712686 w 1712686"/>
              <a:gd name="csY2" fmla="*/ 0 h 907143"/>
            </a:gdLst>
            <a:ahLst/>
            <a:cxnLst>
              <a:cxn ang="0">
                <a:pos x="csX0" y="csY0"/>
              </a:cxn>
              <a:cxn ang="0">
                <a:pos x="csX1" y="csY1"/>
              </a:cxn>
              <a:cxn ang="0">
                <a:pos x="csX2" y="csY2"/>
              </a:cxn>
            </a:cxnLst>
            <a:rect l="l" t="t" r="r" b="b"/>
            <a:pathLst>
              <a:path w="1712686" h="907143">
                <a:moveTo>
                  <a:pt x="0" y="907143"/>
                </a:moveTo>
                <a:cubicBezTo>
                  <a:pt x="45962" y="721481"/>
                  <a:pt x="91924" y="535819"/>
                  <a:pt x="377372" y="384629"/>
                </a:cubicBezTo>
                <a:cubicBezTo>
                  <a:pt x="662820" y="233439"/>
                  <a:pt x="1328058" y="59267"/>
                  <a:pt x="1712686" y="0"/>
                </a:cubicBezTo>
              </a:path>
            </a:pathLst>
          </a:custGeom>
          <a:no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9" name="文本框 78">
            <a:extLst>
              <a:ext uri="{FF2B5EF4-FFF2-40B4-BE49-F238E27FC236}">
                <a16:creationId xmlns:a16="http://schemas.microsoft.com/office/drawing/2014/main" id="{43EDA74E-8136-98C9-81AF-A1C2DF919C51}"/>
              </a:ext>
            </a:extLst>
          </p:cNvPr>
          <p:cNvSpPr txBox="1"/>
          <p:nvPr/>
        </p:nvSpPr>
        <p:spPr>
          <a:xfrm>
            <a:off x="149877" y="1243583"/>
            <a:ext cx="4481983" cy="1107996"/>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Based on </a:t>
            </a:r>
            <a:r>
              <a:rPr lang="en-US" altLang="zh-CN" sz="1600" b="1" dirty="0">
                <a:latin typeface="Times New Roman" panose="02020603050405020304" pitchFamily="18" charset="0"/>
                <a:cs typeface="Times New Roman" panose="02020603050405020304" pitchFamily="18" charset="0"/>
              </a:rPr>
              <a:t>Arduino Nano RP2040 Connect</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Fits inside the forearm</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Controls </a:t>
            </a:r>
            <a:r>
              <a:rPr lang="en-US" altLang="zh-CN" sz="1600" b="1" dirty="0">
                <a:latin typeface="Times New Roman" panose="02020603050405020304" pitchFamily="18" charset="0"/>
                <a:cs typeface="Times New Roman" panose="02020603050405020304" pitchFamily="18" charset="0"/>
              </a:rPr>
              <a:t>all 18 servos</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Supports </a:t>
            </a:r>
            <a:r>
              <a:rPr lang="en-US" altLang="zh-CN" sz="1600" b="1" dirty="0">
                <a:latin typeface="Times New Roman" panose="02020603050405020304" pitchFamily="18" charset="0"/>
                <a:cs typeface="Times New Roman" panose="02020603050405020304" pitchFamily="18" charset="0"/>
              </a:rPr>
              <a:t>USB serial</a:t>
            </a:r>
            <a:r>
              <a:rPr lang="en-US" altLang="zh-CN" sz="1600" dirty="0">
                <a:latin typeface="Times New Roman" panose="02020603050405020304" pitchFamily="18" charset="0"/>
                <a:cs typeface="Times New Roman" panose="02020603050405020304" pitchFamily="18" charset="0"/>
              </a:rPr>
              <a:t> and </a:t>
            </a:r>
            <a:r>
              <a:rPr lang="en-US" altLang="zh-CN" sz="1600" b="1" dirty="0">
                <a:latin typeface="Times New Roman" panose="02020603050405020304" pitchFamily="18" charset="0"/>
                <a:cs typeface="Times New Roman" panose="02020603050405020304" pitchFamily="18" charset="0"/>
              </a:rPr>
              <a:t>Bluetooth LE</a:t>
            </a:r>
            <a:endParaRPr lang="en-US" altLang="zh-CN" sz="1600" dirty="0">
              <a:latin typeface="Times New Roman" panose="02020603050405020304" pitchFamily="18" charset="0"/>
              <a:cs typeface="Times New Roman" panose="02020603050405020304" pitchFamily="18" charset="0"/>
            </a:endParaRPr>
          </a:p>
        </p:txBody>
      </p:sp>
      <p:sp>
        <p:nvSpPr>
          <p:cNvPr id="92" name="Rectangle 2">
            <a:extLst>
              <a:ext uri="{FF2B5EF4-FFF2-40B4-BE49-F238E27FC236}">
                <a16:creationId xmlns:a16="http://schemas.microsoft.com/office/drawing/2014/main" id="{5D7CF59A-85A2-E086-0434-B2BED5CACFEC}"/>
              </a:ext>
            </a:extLst>
          </p:cNvPr>
          <p:cNvSpPr>
            <a:spLocks noChangeArrowheads="1"/>
          </p:cNvSpPr>
          <p:nvPr/>
        </p:nvSpPr>
        <p:spPr bwMode="auto">
          <a:xfrm>
            <a:off x="149877" y="5087733"/>
            <a:ext cx="455802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fontAlgn="base">
              <a:lnSpc>
                <a:spcPct val="100000"/>
              </a:lnSpc>
              <a:spcBef>
                <a:spcPct val="0"/>
              </a:spcBef>
              <a:spcAft>
                <a:spcPct val="0"/>
              </a:spcAft>
              <a:buClrTx/>
              <a:buSzTx/>
              <a:buFont typeface="Arial" panose="020B0604020202020204" pitchFamily="34" charset="0"/>
              <a:buChar char="•"/>
              <a:tabLst/>
            </a:pPr>
            <a:r>
              <a:rPr lang="zh-CN" altLang="zh-CN" sz="1600" dirty="0">
                <a:latin typeface="Times New Roman" panose="02020603050405020304" pitchFamily="18" charset="0"/>
                <a:cs typeface="Times New Roman" panose="02020603050405020304" pitchFamily="18" charset="0"/>
              </a:rPr>
              <a:t>Built from off-the-shelf </a:t>
            </a:r>
            <a:r>
              <a:rPr lang="zh-CN" altLang="zh-CN" sz="1600" b="1" dirty="0">
                <a:latin typeface="Times New Roman" panose="02020603050405020304" pitchFamily="18" charset="0"/>
                <a:cs typeface="Times New Roman" panose="02020603050405020304" pitchFamily="18" charset="0"/>
              </a:rPr>
              <a:t>Arduino</a:t>
            </a:r>
            <a:r>
              <a:rPr lang="zh-CN" altLang="zh-CN" sz="1600" dirty="0">
                <a:latin typeface="Times New Roman" panose="02020603050405020304" pitchFamily="18" charset="0"/>
                <a:cs typeface="Times New Roman" panose="02020603050405020304" pitchFamily="18" charset="0"/>
              </a:rPr>
              <a:t> and protoboard components</a:t>
            </a:r>
          </a:p>
          <a:p>
            <a:pPr marL="285750" marR="0" lvl="0" indent="-285750" fontAlgn="base">
              <a:lnSpc>
                <a:spcPct val="100000"/>
              </a:lnSpc>
              <a:spcBef>
                <a:spcPct val="0"/>
              </a:spcBef>
              <a:spcAft>
                <a:spcPct val="0"/>
              </a:spcAft>
              <a:buClrTx/>
              <a:buSzTx/>
              <a:buFont typeface="Arial" panose="020B0604020202020204" pitchFamily="34" charset="0"/>
              <a:buChar char="•"/>
              <a:tabLst/>
            </a:pPr>
            <a:r>
              <a:rPr lang="zh-CN" altLang="zh-CN" sz="1600" dirty="0">
                <a:latin typeface="Times New Roman" panose="02020603050405020304" pitchFamily="18" charset="0"/>
                <a:cs typeface="Times New Roman" panose="02020603050405020304" pitchFamily="18" charset="0"/>
              </a:rPr>
              <a:t>Compact layout designed for forearm integration</a:t>
            </a:r>
          </a:p>
          <a:p>
            <a:pPr marL="285750" marR="0" lvl="0" indent="-285750" fontAlgn="base">
              <a:lnSpc>
                <a:spcPct val="100000"/>
              </a:lnSpc>
              <a:spcBef>
                <a:spcPct val="0"/>
              </a:spcBef>
              <a:spcAft>
                <a:spcPct val="0"/>
              </a:spcAft>
              <a:buClrTx/>
              <a:buSzTx/>
              <a:buFont typeface="Arial" panose="020B0604020202020204" pitchFamily="34" charset="0"/>
              <a:buChar char="•"/>
              <a:tabLst/>
            </a:pPr>
            <a:r>
              <a:rPr lang="zh-CN" altLang="zh-CN" sz="1600" dirty="0">
                <a:latin typeface="Times New Roman" panose="02020603050405020304" pitchFamily="18" charset="0"/>
                <a:cs typeface="Times New Roman" panose="02020603050405020304" pitchFamily="18" charset="0"/>
              </a:rPr>
              <a:t>Supports multi-servo wiring and signal distribution</a:t>
            </a:r>
          </a:p>
        </p:txBody>
      </p:sp>
      <p:sp>
        <p:nvSpPr>
          <p:cNvPr id="2" name="灯片编号占位符 1">
            <a:extLst>
              <a:ext uri="{FF2B5EF4-FFF2-40B4-BE49-F238E27FC236}">
                <a16:creationId xmlns:a16="http://schemas.microsoft.com/office/drawing/2014/main" id="{101CE81C-EED2-7D8D-7CF8-4E1CC3D12D8A}"/>
              </a:ext>
            </a:extLst>
          </p:cNvPr>
          <p:cNvSpPr>
            <a:spLocks noGrp="1"/>
          </p:cNvSpPr>
          <p:nvPr>
            <p:ph type="sldNum" sz="quarter" idx="12"/>
          </p:nvPr>
        </p:nvSpPr>
        <p:spPr>
          <a:xfrm>
            <a:off x="9444383" y="6472228"/>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7</a:t>
            </a:fld>
            <a:endParaRPr lang="zh-CN" altLang="en-US" dirty="0">
              <a:latin typeface="Times New Roman" panose="02020603050405020304" pitchFamily="18" charset="0"/>
              <a:cs typeface="Times New Roman" panose="02020603050405020304" pitchFamily="18" charset="0"/>
            </a:endParaRPr>
          </a:p>
        </p:txBody>
      </p:sp>
      <p:pic>
        <p:nvPicPr>
          <p:cNvPr id="3" name="Picture 4" descr="院长寄语 | 香港中文大学(深圳)金融EMBA">
            <a:extLst>
              <a:ext uri="{FF2B5EF4-FFF2-40B4-BE49-F238E27FC236}">
                <a16:creationId xmlns:a16="http://schemas.microsoft.com/office/drawing/2014/main" id="{689B3200-22B3-88AF-6F37-4764A762A1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22B4F24E-A264-EC57-1B8B-1059884C1E07}"/>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Electronics and Actuation </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8" name="矩形 7">
            <a:extLst>
              <a:ext uri="{FF2B5EF4-FFF2-40B4-BE49-F238E27FC236}">
                <a16:creationId xmlns:a16="http://schemas.microsoft.com/office/drawing/2014/main" id="{85317F09-4B6F-5854-BE51-3BA460ADCC74}"/>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err="1">
                <a:solidFill>
                  <a:prstClr val="white"/>
                </a:solidFill>
                <a:latin typeface="Eras Demi ITC" panose="020B0805030504020804" pitchFamily="34" charset="0"/>
                <a:ea typeface="思源黑体 CN Bold" panose="020B0800000000000000" pitchFamily="34" charset="-122"/>
              </a:rPr>
              <a:t>Eletronics</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3" name="矩形 22">
            <a:extLst>
              <a:ext uri="{FF2B5EF4-FFF2-40B4-BE49-F238E27FC236}">
                <a16:creationId xmlns:a16="http://schemas.microsoft.com/office/drawing/2014/main" id="{9B538853-D3C7-B1C8-7EBC-048282C34ED6}"/>
              </a:ext>
            </a:extLst>
          </p:cNvPr>
          <p:cNvSpPr/>
          <p:nvPr/>
        </p:nvSpPr>
        <p:spPr>
          <a:xfrm>
            <a:off x="103414" y="772609"/>
            <a:ext cx="4904587" cy="586306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sp>
        <p:nvSpPr>
          <p:cNvPr id="24" name="矩形 23">
            <a:extLst>
              <a:ext uri="{FF2B5EF4-FFF2-40B4-BE49-F238E27FC236}">
                <a16:creationId xmlns:a16="http://schemas.microsoft.com/office/drawing/2014/main" id="{4116089A-0DE1-99CA-CFCD-4836AB3E3873}"/>
              </a:ext>
            </a:extLst>
          </p:cNvPr>
          <p:cNvSpPr/>
          <p:nvPr/>
        </p:nvSpPr>
        <p:spPr>
          <a:xfrm>
            <a:off x="91016" y="755646"/>
            <a:ext cx="4904587"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Main Control</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pic>
        <p:nvPicPr>
          <p:cNvPr id="87" name="图形 86" descr="上一步 纯色填充">
            <a:extLst>
              <a:ext uri="{FF2B5EF4-FFF2-40B4-BE49-F238E27FC236}">
                <a16:creationId xmlns:a16="http://schemas.microsoft.com/office/drawing/2014/main" id="{0860AE90-CC97-4D25-4BA1-504D9CBAB22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630320">
            <a:off x="4250706" y="2955049"/>
            <a:ext cx="914400" cy="914400"/>
          </a:xfrm>
          <a:prstGeom prst="rect">
            <a:avLst/>
          </a:prstGeom>
        </p:spPr>
      </p:pic>
      <p:sp>
        <p:nvSpPr>
          <p:cNvPr id="25" name="矩形: 圆角 24">
            <a:extLst>
              <a:ext uri="{FF2B5EF4-FFF2-40B4-BE49-F238E27FC236}">
                <a16:creationId xmlns:a16="http://schemas.microsoft.com/office/drawing/2014/main" id="{C3663868-C54A-79BA-2404-A44F6A0EB5DA}"/>
              </a:ext>
            </a:extLst>
          </p:cNvPr>
          <p:cNvSpPr/>
          <p:nvPr/>
        </p:nvSpPr>
        <p:spPr>
          <a:xfrm>
            <a:off x="8782010" y="862578"/>
            <a:ext cx="2915364" cy="364449"/>
          </a:xfrm>
          <a:prstGeom prst="roundRect">
            <a:avLst>
              <a:gd name="adj" fmla="val 15950"/>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Finger and Thumb Servos ×16</a:t>
            </a:r>
          </a:p>
        </p:txBody>
      </p:sp>
      <p:sp>
        <p:nvSpPr>
          <p:cNvPr id="26" name="矩形: 圆角 25">
            <a:extLst>
              <a:ext uri="{FF2B5EF4-FFF2-40B4-BE49-F238E27FC236}">
                <a16:creationId xmlns:a16="http://schemas.microsoft.com/office/drawing/2014/main" id="{B3C9369C-6CB9-5E16-C122-AB5BE1FA8B28}"/>
              </a:ext>
            </a:extLst>
          </p:cNvPr>
          <p:cNvSpPr/>
          <p:nvPr/>
        </p:nvSpPr>
        <p:spPr>
          <a:xfrm>
            <a:off x="8705120" y="2957938"/>
            <a:ext cx="2947882" cy="1820868"/>
          </a:xfrm>
          <a:prstGeom prst="roundRect">
            <a:avLst>
              <a:gd name="adj" fmla="val 6146"/>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Eras Demi ITC" panose="020B0805030504020804" pitchFamily="34" charset="0"/>
              <a:ea typeface="等线" panose="02010600030101010101" pitchFamily="2" charset="-122"/>
            </a:endParaRPr>
          </a:p>
        </p:txBody>
      </p:sp>
    </p:spTree>
    <p:extLst>
      <p:ext uri="{BB962C8B-B14F-4D97-AF65-F5344CB8AC3E}">
        <p14:creationId xmlns:p14="http://schemas.microsoft.com/office/powerpoint/2010/main" val="1019589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CA5C-E8C6-5DC5-A812-7E6C61A30AD7}"/>
            </a:ext>
          </a:extLst>
        </p:cNvPr>
        <p:cNvGrpSpPr/>
        <p:nvPr/>
      </p:nvGrpSpPr>
      <p:grpSpPr>
        <a:xfrm>
          <a:off x="0" y="0"/>
          <a:ext cx="0" cy="0"/>
          <a:chOff x="0" y="0"/>
          <a:chExt cx="0" cy="0"/>
        </a:xfrm>
      </p:grpSpPr>
      <p:pic>
        <p:nvPicPr>
          <p:cNvPr id="11" name="ChatGPT + Robot Hand = Magic!">
            <a:hlinkClick r:id="" action="ppaction://media"/>
            <a:extLst>
              <a:ext uri="{FF2B5EF4-FFF2-40B4-BE49-F238E27FC236}">
                <a16:creationId xmlns:a16="http://schemas.microsoft.com/office/drawing/2014/main" id="{BFA3C532-BDCF-9B9E-3548-CB32DCB6DE3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904576" y="1355591"/>
            <a:ext cx="3731437" cy="5177558"/>
          </a:xfrm>
          <a:prstGeom prst="rect">
            <a:avLst/>
          </a:prstGeom>
        </p:spPr>
      </p:pic>
      <p:sp>
        <p:nvSpPr>
          <p:cNvPr id="3" name="灯片编号占位符 2">
            <a:extLst>
              <a:ext uri="{FF2B5EF4-FFF2-40B4-BE49-F238E27FC236}">
                <a16:creationId xmlns:a16="http://schemas.microsoft.com/office/drawing/2014/main" id="{0DA13D05-5DA5-CE0F-1568-04677E6AC194}"/>
              </a:ext>
            </a:extLst>
          </p:cNvPr>
          <p:cNvSpPr>
            <a:spLocks noGrp="1"/>
          </p:cNvSpPr>
          <p:nvPr>
            <p:ph type="sldNum" sz="quarter" idx="12"/>
          </p:nvPr>
        </p:nvSpPr>
        <p:spPr>
          <a:xfrm>
            <a:off x="9448800" y="6492875"/>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8</a:t>
            </a:fld>
            <a:endParaRPr lang="zh-CN" altLang="en-US" dirty="0">
              <a:latin typeface="Times New Roman" panose="02020603050405020304" pitchFamily="18" charset="0"/>
              <a:cs typeface="Times New Roman" panose="02020603050405020304" pitchFamily="18" charset="0"/>
            </a:endParaRPr>
          </a:p>
        </p:txBody>
      </p:sp>
      <p:pic>
        <p:nvPicPr>
          <p:cNvPr id="4" name="Picture 4" descr="院长寄语 | 香港中文大学(深圳)金融EMBA">
            <a:extLst>
              <a:ext uri="{FF2B5EF4-FFF2-40B4-BE49-F238E27FC236}">
                <a16:creationId xmlns:a16="http://schemas.microsoft.com/office/drawing/2014/main" id="{004D1862-8F49-6006-1A54-F5B7C0356D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412A0D69-9CAE-134A-8BC0-F5611B8B81C9}"/>
              </a:ext>
            </a:extLst>
          </p:cNvPr>
          <p:cNvSpPr/>
          <p:nvPr/>
        </p:nvSpPr>
        <p:spPr>
          <a:xfrm>
            <a:off x="2095120" y="93054"/>
            <a:ext cx="502413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LLM-Driven Control &amp; Embodied Interaction</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6" name="矩形 5">
            <a:extLst>
              <a:ext uri="{FF2B5EF4-FFF2-40B4-BE49-F238E27FC236}">
                <a16:creationId xmlns:a16="http://schemas.microsoft.com/office/drawing/2014/main" id="{2965DFDB-596E-4FF0-2C19-34EFDF84891E}"/>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Embodied AI</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12" name="矩形 11">
            <a:extLst>
              <a:ext uri="{FF2B5EF4-FFF2-40B4-BE49-F238E27FC236}">
                <a16:creationId xmlns:a16="http://schemas.microsoft.com/office/drawing/2014/main" id="{30E4D7D1-10B1-8F75-11A1-377391ED430C}"/>
              </a:ext>
            </a:extLst>
          </p:cNvPr>
          <p:cNvSpPr/>
          <p:nvPr/>
        </p:nvSpPr>
        <p:spPr>
          <a:xfrm>
            <a:off x="170138" y="991143"/>
            <a:ext cx="6785873" cy="5519333"/>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Eras Demi ITC" panose="020B0805030504020804" pitchFamily="34" charset="0"/>
              <a:ea typeface="等线" panose="02010600030101010101" pitchFamily="2" charset="-122"/>
            </a:endParaRPr>
          </a:p>
        </p:txBody>
      </p:sp>
      <p:sp>
        <p:nvSpPr>
          <p:cNvPr id="13" name="矩形 12">
            <a:extLst>
              <a:ext uri="{FF2B5EF4-FFF2-40B4-BE49-F238E27FC236}">
                <a16:creationId xmlns:a16="http://schemas.microsoft.com/office/drawing/2014/main" id="{F3391879-6C54-EDD4-CCB3-AA66459C2357}"/>
              </a:ext>
            </a:extLst>
          </p:cNvPr>
          <p:cNvSpPr/>
          <p:nvPr/>
        </p:nvSpPr>
        <p:spPr>
          <a:xfrm>
            <a:off x="179574" y="991142"/>
            <a:ext cx="6803653"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a:solidFill>
                  <a:srgbClr val="FFC000"/>
                </a:solidFill>
                <a:latin typeface="Eras Demi ITC" panose="020B0805030504020804" pitchFamily="34" charset="0"/>
                <a:ea typeface="微软雅黑" panose="020B0503020204020204" pitchFamily="34" charset="-122"/>
              </a:rPr>
              <a:t>LLM-Enabled Natural Language Control </a:t>
            </a:r>
          </a:p>
        </p:txBody>
      </p:sp>
      <p:sp>
        <p:nvSpPr>
          <p:cNvPr id="29" name="矩形 28">
            <a:extLst>
              <a:ext uri="{FF2B5EF4-FFF2-40B4-BE49-F238E27FC236}">
                <a16:creationId xmlns:a16="http://schemas.microsoft.com/office/drawing/2014/main" id="{823225DE-544E-5B5A-D853-B81C16D5A74A}"/>
              </a:ext>
            </a:extLst>
          </p:cNvPr>
          <p:cNvSpPr/>
          <p:nvPr/>
        </p:nvSpPr>
        <p:spPr>
          <a:xfrm>
            <a:off x="179573" y="3745035"/>
            <a:ext cx="6803653"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a:solidFill>
                  <a:srgbClr val="FFC000"/>
                </a:solidFill>
                <a:latin typeface="Eras Demi ITC" panose="020B0805030504020804" pitchFamily="34" charset="0"/>
                <a:ea typeface="微软雅黑" panose="020B0503020204020204" pitchFamily="34" charset="-122"/>
              </a:rPr>
              <a:t>Semantic Task Execution</a:t>
            </a:r>
          </a:p>
        </p:txBody>
      </p:sp>
      <p:sp>
        <p:nvSpPr>
          <p:cNvPr id="31" name="文本框 30">
            <a:extLst>
              <a:ext uri="{FF2B5EF4-FFF2-40B4-BE49-F238E27FC236}">
                <a16:creationId xmlns:a16="http://schemas.microsoft.com/office/drawing/2014/main" id="{D51C15F6-9DA9-7226-6F51-5441D3E98414}"/>
              </a:ext>
            </a:extLst>
          </p:cNvPr>
          <p:cNvSpPr txBox="1"/>
          <p:nvPr/>
        </p:nvSpPr>
        <p:spPr>
          <a:xfrm>
            <a:off x="213475" y="1843968"/>
            <a:ext cx="6769751" cy="1444883"/>
          </a:xfrm>
          <a:prstGeom prst="rect">
            <a:avLst/>
          </a:prstGeom>
          <a:noFill/>
        </p:spPr>
        <p:txBody>
          <a:bodyPr wrap="square">
            <a:spAutoFit/>
          </a:bodyPr>
          <a:lstStyle/>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LLM to ROS 2 Bridge</a:t>
            </a:r>
            <a:r>
              <a:rPr lang="en-US" altLang="zh-CN" dirty="0">
                <a:latin typeface="Times New Roman" panose="02020603050405020304" pitchFamily="18" charset="0"/>
                <a:cs typeface="Times New Roman" panose="02020603050405020304" pitchFamily="18" charset="0"/>
              </a:rPr>
              <a:t>: Acts as a </a:t>
            </a:r>
            <a:r>
              <a:rPr lang="en-US" altLang="zh-CN" b="1" i="1" dirty="0">
                <a:latin typeface="Times New Roman" panose="02020603050405020304" pitchFamily="18" charset="0"/>
                <a:cs typeface="Times New Roman" panose="02020603050405020304" pitchFamily="18" charset="0"/>
              </a:rPr>
              <a:t>seamless communication link </a:t>
            </a:r>
            <a:r>
              <a:rPr lang="en-US" altLang="zh-CN" dirty="0">
                <a:latin typeface="Times New Roman" panose="02020603050405020304" pitchFamily="18" charset="0"/>
                <a:cs typeface="Times New Roman" panose="02020603050405020304" pitchFamily="18" charset="0"/>
              </a:rPr>
              <a:t>between LLM and the DexHand Gesture Controller.</a:t>
            </a:r>
          </a:p>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Embodied Actuation</a:t>
            </a:r>
            <a:r>
              <a:rPr lang="en-US" altLang="zh-CN" dirty="0">
                <a:latin typeface="Times New Roman" panose="02020603050405020304" pitchFamily="18" charset="0"/>
                <a:cs typeface="Times New Roman" panose="02020603050405020304" pitchFamily="18" charset="0"/>
              </a:rPr>
              <a:t>: Enables actions where the dexterous hand serves as a physical output medium for AI-generated responses.</a:t>
            </a:r>
          </a:p>
        </p:txBody>
      </p:sp>
      <p:sp>
        <p:nvSpPr>
          <p:cNvPr id="34" name="文本框 33">
            <a:extLst>
              <a:ext uri="{FF2B5EF4-FFF2-40B4-BE49-F238E27FC236}">
                <a16:creationId xmlns:a16="http://schemas.microsoft.com/office/drawing/2014/main" id="{EEEA2535-55EB-B13A-3213-5A86F48C4852}"/>
              </a:ext>
            </a:extLst>
          </p:cNvPr>
          <p:cNvSpPr txBox="1"/>
          <p:nvPr/>
        </p:nvSpPr>
        <p:spPr>
          <a:xfrm>
            <a:off x="213475" y="4263161"/>
            <a:ext cx="6742536" cy="1791131"/>
          </a:xfrm>
          <a:prstGeom prst="rect">
            <a:avLst/>
          </a:prstGeom>
          <a:noFill/>
        </p:spPr>
        <p:txBody>
          <a:bodyPr wrap="square">
            <a:spAutoFit/>
          </a:bodyPr>
          <a:lstStyle/>
          <a:p>
            <a:pPr>
              <a:lnSpc>
                <a:spcPct val="125000"/>
              </a:lnSpc>
            </a:pPr>
            <a:endParaRPr lang="en-US" altLang="zh-CN" b="1" dirty="0">
              <a:latin typeface="Times New Roman" panose="02020603050405020304" pitchFamily="18" charset="0"/>
              <a:cs typeface="Times New Roman" panose="02020603050405020304" pitchFamily="18" charset="0"/>
            </a:endParaRPr>
          </a:p>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Mathematical Interaction:</a:t>
            </a:r>
            <a:r>
              <a:rPr lang="en-US" altLang="zh-CN" dirty="0">
                <a:latin typeface="Times New Roman" panose="02020603050405020304" pitchFamily="18" charset="0"/>
                <a:cs typeface="Times New Roman" panose="02020603050405020304" pitchFamily="18" charset="0"/>
              </a:rPr>
              <a:t> LLM can be asked math questions and use hand poses to indicate answers or logic.</a:t>
            </a:r>
          </a:p>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Gesture Synthesis: </a:t>
            </a:r>
            <a:r>
              <a:rPr lang="en-US" altLang="zh-CN" dirty="0">
                <a:latin typeface="Times New Roman" panose="02020603050405020304" pitchFamily="18" charset="0"/>
                <a:cs typeface="Times New Roman" panose="02020603050405020304" pitchFamily="18" charset="0"/>
              </a:rPr>
              <a:t>Interprets natural language commands to perform specific gestures, such as a “</a:t>
            </a:r>
            <a:r>
              <a:rPr lang="en-US" altLang="zh-CN" b="1" i="1" dirty="0">
                <a:latin typeface="Times New Roman" panose="02020603050405020304" pitchFamily="18" charset="0"/>
                <a:cs typeface="Times New Roman" panose="02020603050405020304" pitchFamily="18" charset="0"/>
              </a:rPr>
              <a:t>Devil Horns</a:t>
            </a:r>
            <a:r>
              <a:rPr lang="en-US" altLang="zh-CN" dirty="0">
                <a:latin typeface="Times New Roman" panose="02020603050405020304" pitchFamily="18" charset="0"/>
                <a:cs typeface="Times New Roman" panose="02020603050405020304" pitchFamily="18" charset="0"/>
              </a:rPr>
              <a:t>".</a:t>
            </a:r>
          </a:p>
        </p:txBody>
      </p:sp>
      <p:sp>
        <p:nvSpPr>
          <p:cNvPr id="35" name="矩形 34">
            <a:extLst>
              <a:ext uri="{FF2B5EF4-FFF2-40B4-BE49-F238E27FC236}">
                <a16:creationId xmlns:a16="http://schemas.microsoft.com/office/drawing/2014/main" id="{AF673EC8-2376-6001-A645-A00C2B993775}"/>
              </a:ext>
            </a:extLst>
          </p:cNvPr>
          <p:cNvSpPr/>
          <p:nvPr/>
        </p:nvSpPr>
        <p:spPr>
          <a:xfrm>
            <a:off x="7877361" y="1019578"/>
            <a:ext cx="3758652" cy="5519333"/>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Eras Demi ITC" panose="020B0805030504020804" pitchFamily="34" charset="0"/>
            </a:endParaRPr>
          </a:p>
        </p:txBody>
      </p:sp>
      <p:sp>
        <p:nvSpPr>
          <p:cNvPr id="36" name="矩形 35">
            <a:extLst>
              <a:ext uri="{FF2B5EF4-FFF2-40B4-BE49-F238E27FC236}">
                <a16:creationId xmlns:a16="http://schemas.microsoft.com/office/drawing/2014/main" id="{37BC7D63-DA5D-06C1-B0AB-32359C1BE96F}"/>
              </a:ext>
            </a:extLst>
          </p:cNvPr>
          <p:cNvSpPr/>
          <p:nvPr/>
        </p:nvSpPr>
        <p:spPr>
          <a:xfrm>
            <a:off x="7877361" y="999903"/>
            <a:ext cx="3758652" cy="349926"/>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a:solidFill>
                  <a:srgbClr val="FFC000"/>
                </a:solidFill>
                <a:latin typeface="Eras Demi ITC" panose="020B0805030504020804" pitchFamily="34" charset="0"/>
                <a:ea typeface="微软雅黑" panose="020B0503020204020204" pitchFamily="34" charset="-122"/>
              </a:rPr>
              <a:t>Video Demonstrate</a:t>
            </a:r>
          </a:p>
        </p:txBody>
      </p:sp>
    </p:spTree>
    <p:extLst>
      <p:ext uri="{BB962C8B-B14F-4D97-AF65-F5344CB8AC3E}">
        <p14:creationId xmlns:p14="http://schemas.microsoft.com/office/powerpoint/2010/main" val="122458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292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CA5C-E8C6-5DC5-A812-7E6C61A30AD7}"/>
            </a:ext>
          </a:extLst>
        </p:cNvPr>
        <p:cNvGrpSpPr/>
        <p:nvPr/>
      </p:nvGrpSpPr>
      <p:grpSpPr>
        <a:xfrm>
          <a:off x="0" y="0"/>
          <a:ext cx="0" cy="0"/>
          <a:chOff x="0" y="0"/>
          <a:chExt cx="0" cy="0"/>
        </a:xfrm>
      </p:grpSpPr>
      <p:sp>
        <p:nvSpPr>
          <p:cNvPr id="29" name="文本框 28">
            <a:extLst>
              <a:ext uri="{FF2B5EF4-FFF2-40B4-BE49-F238E27FC236}">
                <a16:creationId xmlns:a16="http://schemas.microsoft.com/office/drawing/2014/main" id="{162E5B32-2C47-A855-A1D8-5EC6F3EB5C21}"/>
              </a:ext>
            </a:extLst>
          </p:cNvPr>
          <p:cNvSpPr txBox="1"/>
          <p:nvPr/>
        </p:nvSpPr>
        <p:spPr>
          <a:xfrm>
            <a:off x="5335641" y="1416491"/>
            <a:ext cx="6132284" cy="2599045"/>
          </a:xfrm>
          <a:prstGeom prst="rect">
            <a:avLst/>
          </a:prstGeom>
          <a:noFill/>
        </p:spPr>
        <p:txBody>
          <a:bodyPr wrap="square">
            <a:spAutoFit/>
          </a:bodyPr>
          <a:lstStyle/>
          <a:p>
            <a:pPr>
              <a:lnSpc>
                <a:spcPct val="150000"/>
              </a:lnSpc>
            </a:pPr>
            <a:r>
              <a:rPr lang="en-US" altLang="zh-CN" sz="2000" b="1"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Speech-to-Text Processing: </a:t>
            </a:r>
            <a:r>
              <a:rPr lang="en-US" altLang="zh-CN" dirty="0" err="1">
                <a:latin typeface="Times New Roman" panose="02020603050405020304" pitchFamily="18" charset="0"/>
                <a:cs typeface="Times New Roman" panose="02020603050405020304" pitchFamily="18" charset="0"/>
              </a:rPr>
              <a:t>SpeechRecognition</a:t>
            </a:r>
            <a:r>
              <a:rPr lang="en-US" altLang="zh-CN" dirty="0">
                <a:latin typeface="Times New Roman" panose="02020603050405020304" pitchFamily="18" charset="0"/>
                <a:cs typeface="Times New Roman" panose="02020603050405020304" pitchFamily="18" charset="0"/>
              </a:rPr>
              <a:t> package and Google Speech Recognition. </a:t>
            </a:r>
          </a:p>
          <a:p>
            <a:pPr marL="285750" indent="-285750">
              <a:lnSpc>
                <a:spcPct val="125000"/>
              </a:lnSpc>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LLM Intelligence Layer: </a:t>
            </a:r>
            <a:r>
              <a:rPr lang="en-US" altLang="zh-CN" dirty="0">
                <a:latin typeface="Times New Roman" panose="02020603050405020304" pitchFamily="18" charset="0"/>
                <a:cs typeface="Times New Roman" panose="02020603050405020304" pitchFamily="18" charset="0"/>
              </a:rPr>
              <a:t>Forwards the text to LLM via the API to parse intent and identify specific hand gestures.</a:t>
            </a:r>
          </a:p>
          <a:p>
            <a:pPr marL="285750" indent="-285750">
              <a:lnSpc>
                <a:spcPct val="125000"/>
              </a:lnSpc>
              <a:buFont typeface="Arial" panose="020B0604020202020204" pitchFamily="34" charset="0"/>
              <a:buChar char="•"/>
            </a:pPr>
            <a:r>
              <a:rPr lang="en-US" altLang="zh-CN" sz="1800" b="1" dirty="0">
                <a:latin typeface="Times New Roman" panose="02020603050405020304" pitchFamily="18" charset="0"/>
                <a:cs typeface="Times New Roman" panose="02020603050405020304" pitchFamily="18" charset="0"/>
              </a:rPr>
              <a:t>Message Dispatch: </a:t>
            </a:r>
            <a:r>
              <a:rPr lang="en-US" altLang="zh-CN" sz="1800" dirty="0">
                <a:latin typeface="Times New Roman" panose="02020603050405020304" pitchFamily="18" charset="0"/>
                <a:cs typeface="Times New Roman" panose="02020603050405020304" pitchFamily="18" charset="0"/>
              </a:rPr>
              <a:t>Sends validated poses or gestures to the DexHand Gesture Controller.</a:t>
            </a:r>
          </a:p>
        </p:txBody>
      </p:sp>
      <p:pic>
        <p:nvPicPr>
          <p:cNvPr id="5" name="图片 4">
            <a:extLst>
              <a:ext uri="{FF2B5EF4-FFF2-40B4-BE49-F238E27FC236}">
                <a16:creationId xmlns:a16="http://schemas.microsoft.com/office/drawing/2014/main" id="{2E3A997D-5C80-44F2-C706-F655B539AC19}"/>
              </a:ext>
            </a:extLst>
          </p:cNvPr>
          <p:cNvPicPr>
            <a:picLocks noChangeAspect="1"/>
          </p:cNvPicPr>
          <p:nvPr/>
        </p:nvPicPr>
        <p:blipFill>
          <a:blip r:embed="rId3"/>
          <a:stretch>
            <a:fillRect/>
          </a:stretch>
        </p:blipFill>
        <p:spPr>
          <a:xfrm>
            <a:off x="104187" y="2487705"/>
            <a:ext cx="4927910" cy="2268926"/>
          </a:xfrm>
          <a:prstGeom prst="rect">
            <a:avLst/>
          </a:prstGeom>
        </p:spPr>
      </p:pic>
      <p:sp>
        <p:nvSpPr>
          <p:cNvPr id="4" name="文本框 3">
            <a:extLst>
              <a:ext uri="{FF2B5EF4-FFF2-40B4-BE49-F238E27FC236}">
                <a16:creationId xmlns:a16="http://schemas.microsoft.com/office/drawing/2014/main" id="{F318433B-2BC4-D67F-DD67-85DB6C772070}"/>
              </a:ext>
            </a:extLst>
          </p:cNvPr>
          <p:cNvSpPr txBox="1"/>
          <p:nvPr/>
        </p:nvSpPr>
        <p:spPr>
          <a:xfrm>
            <a:off x="5353974" y="4378478"/>
            <a:ext cx="6132285" cy="1560299"/>
          </a:xfrm>
          <a:prstGeom prst="rect">
            <a:avLst/>
          </a:prstGeom>
          <a:noFill/>
        </p:spPr>
        <p:txBody>
          <a:bodyPr wrap="square">
            <a:spAutoFit/>
          </a:bodyPr>
          <a:lstStyle/>
          <a:p>
            <a:pPr>
              <a:lnSpc>
                <a:spcPct val="150000"/>
              </a:lnSpc>
            </a:pPr>
            <a:r>
              <a:rPr lang="en-US" altLang="zh-CN" sz="2000" b="1"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a:lnSpc>
                <a:spcPct val="125000"/>
              </a:lnSpc>
            </a:pPr>
            <a:r>
              <a:rPr lang="en-US" altLang="zh-CN" sz="1800" b="1" dirty="0">
                <a:latin typeface="Times New Roman" panose="02020603050405020304" pitchFamily="18" charset="0"/>
                <a:cs typeface="Times New Roman" panose="02020603050405020304" pitchFamily="18" charset="0"/>
              </a:rPr>
              <a:t>Generalizable Motion Synthesis: </a:t>
            </a:r>
            <a:r>
              <a:rPr lang="en-US" altLang="zh-CN" sz="1800" dirty="0">
                <a:latin typeface="Times New Roman" panose="02020603050405020304" pitchFamily="18" charset="0"/>
                <a:cs typeface="Times New Roman" panose="02020603050405020304" pitchFamily="18" charset="0"/>
              </a:rPr>
              <a:t>Aims to </a:t>
            </a:r>
            <a:r>
              <a:rPr lang="en-US" altLang="zh-CN" b="1" dirty="0">
                <a:solidFill>
                  <a:srgbClr val="002060"/>
                </a:solidFill>
                <a:latin typeface="Eras Demi ITC" panose="020B0805030504020804" pitchFamily="34" charset="0"/>
                <a:ea typeface="微软雅黑" panose="020B0503020204020204" pitchFamily="34" charset="-122"/>
              </a:rPr>
              <a:t>shift the control logic</a:t>
            </a:r>
            <a:r>
              <a:rPr lang="en-US" altLang="zh-CN" sz="1800" dirty="0">
                <a:latin typeface="Times New Roman" panose="02020603050405020304" pitchFamily="18" charset="0"/>
                <a:cs typeface="Times New Roman" panose="02020603050405020304" pitchFamily="18" charset="0"/>
              </a:rPr>
              <a:t> away from relying solely on built-in firmware actions and pre-defined poses.</a:t>
            </a:r>
            <a:endParaRPr lang="en-US" altLang="zh-CN"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408E5CB0-F48D-0188-6805-0F86078833F5}"/>
              </a:ext>
            </a:extLst>
          </p:cNvPr>
          <p:cNvSpPr>
            <a:spLocks noGrp="1"/>
          </p:cNvSpPr>
          <p:nvPr>
            <p:ph type="sldNum" sz="quarter" idx="12"/>
          </p:nvPr>
        </p:nvSpPr>
        <p:spPr>
          <a:xfrm>
            <a:off x="9437188" y="6504751"/>
            <a:ext cx="2743200" cy="365125"/>
          </a:xfrm>
        </p:spPr>
        <p:txBody>
          <a:bodyPr/>
          <a:lstStyle/>
          <a:p>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p:txBody>
      </p:sp>
      <p:pic>
        <p:nvPicPr>
          <p:cNvPr id="6" name="Picture 4" descr="院长寄语 | 香港中文大学(深圳)金融EMBA">
            <a:extLst>
              <a:ext uri="{FF2B5EF4-FFF2-40B4-BE49-F238E27FC236}">
                <a16:creationId xmlns:a16="http://schemas.microsoft.com/office/drawing/2014/main" id="{D9DC9276-C134-D11F-B05B-EA1BC5130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2F12A550-3957-A01F-29CA-1339BA8146D0}"/>
              </a:ext>
            </a:extLst>
          </p:cNvPr>
          <p:cNvSpPr/>
          <p:nvPr/>
        </p:nvSpPr>
        <p:spPr>
          <a:xfrm>
            <a:off x="2095120" y="93054"/>
            <a:ext cx="502413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LLM-Driven Control &amp; Embodied Interaction</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16" name="矩形 15">
            <a:extLst>
              <a:ext uri="{FF2B5EF4-FFF2-40B4-BE49-F238E27FC236}">
                <a16:creationId xmlns:a16="http://schemas.microsoft.com/office/drawing/2014/main" id="{FB4E4581-DC56-72A2-1049-221D9A264AAF}"/>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Embodied AI</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19" name="矩形 18">
            <a:extLst>
              <a:ext uri="{FF2B5EF4-FFF2-40B4-BE49-F238E27FC236}">
                <a16:creationId xmlns:a16="http://schemas.microsoft.com/office/drawing/2014/main" id="{67F1EE3C-A1E4-8968-8532-750388ADA72E}"/>
              </a:ext>
            </a:extLst>
          </p:cNvPr>
          <p:cNvSpPr/>
          <p:nvPr/>
        </p:nvSpPr>
        <p:spPr>
          <a:xfrm>
            <a:off x="118039" y="1660211"/>
            <a:ext cx="4927910" cy="4363840"/>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Eras Demi ITC" panose="020B0805030504020804" pitchFamily="34" charset="0"/>
              <a:ea typeface="等线" panose="02010600030101010101" pitchFamily="2" charset="-122"/>
            </a:endParaRPr>
          </a:p>
        </p:txBody>
      </p:sp>
      <p:sp>
        <p:nvSpPr>
          <p:cNvPr id="20" name="矩形 19">
            <a:extLst>
              <a:ext uri="{FF2B5EF4-FFF2-40B4-BE49-F238E27FC236}">
                <a16:creationId xmlns:a16="http://schemas.microsoft.com/office/drawing/2014/main" id="{4784826E-461D-91D3-523F-9E44849F27D3}"/>
              </a:ext>
            </a:extLst>
          </p:cNvPr>
          <p:cNvSpPr/>
          <p:nvPr/>
        </p:nvSpPr>
        <p:spPr>
          <a:xfrm>
            <a:off x="104187" y="1341600"/>
            <a:ext cx="4988962"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err="1">
                <a:solidFill>
                  <a:srgbClr val="FFC000"/>
                </a:solidFill>
                <a:latin typeface="Eras Demi ITC" panose="020B0805030504020804" pitchFamily="34" charset="0"/>
                <a:ea typeface="微软雅黑" panose="020B0503020204020204" pitchFamily="34" charset="-122"/>
              </a:rPr>
              <a:t>WorkFlow</a:t>
            </a:r>
            <a:endParaRPr kumimoji="0" lang="zh-CN" altLang="en-US"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endParaRPr>
          </a:p>
        </p:txBody>
      </p:sp>
      <p:sp>
        <p:nvSpPr>
          <p:cNvPr id="21" name="矩形 20">
            <a:extLst>
              <a:ext uri="{FF2B5EF4-FFF2-40B4-BE49-F238E27FC236}">
                <a16:creationId xmlns:a16="http://schemas.microsoft.com/office/drawing/2014/main" id="{35182E3E-7A07-EF60-3CD2-E4CFE7830A54}"/>
              </a:ext>
            </a:extLst>
          </p:cNvPr>
          <p:cNvSpPr/>
          <p:nvPr/>
        </p:nvSpPr>
        <p:spPr>
          <a:xfrm>
            <a:off x="5147598" y="1181463"/>
            <a:ext cx="6562818" cy="5499755"/>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Eras Demi ITC" panose="020B0805030504020804" pitchFamily="34" charset="0"/>
              <a:ea typeface="等线" panose="02010600030101010101" pitchFamily="2" charset="-122"/>
            </a:endParaRPr>
          </a:p>
        </p:txBody>
      </p:sp>
      <p:sp>
        <p:nvSpPr>
          <p:cNvPr id="22" name="矩形 21">
            <a:extLst>
              <a:ext uri="{FF2B5EF4-FFF2-40B4-BE49-F238E27FC236}">
                <a16:creationId xmlns:a16="http://schemas.microsoft.com/office/drawing/2014/main" id="{0E35309A-08EF-B77B-7299-9609F5FFC708}"/>
              </a:ext>
            </a:extLst>
          </p:cNvPr>
          <p:cNvSpPr/>
          <p:nvPr/>
        </p:nvSpPr>
        <p:spPr>
          <a:xfrm>
            <a:off x="5129818" y="803380"/>
            <a:ext cx="6580598"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dirty="0">
                <a:solidFill>
                  <a:srgbClr val="FFC000"/>
                </a:solidFill>
                <a:latin typeface="Eras Demi ITC" panose="020B0805030504020804" pitchFamily="34" charset="0"/>
                <a:ea typeface="微软雅黑" panose="020B0503020204020204" pitchFamily="34" charset="-122"/>
              </a:rPr>
              <a:t>How language control achieved</a:t>
            </a:r>
            <a:endParaRPr kumimoji="0" lang="zh-CN" altLang="en-US"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endParaRPr>
          </a:p>
        </p:txBody>
      </p:sp>
      <p:sp>
        <p:nvSpPr>
          <p:cNvPr id="23" name="矩形 22">
            <a:extLst>
              <a:ext uri="{FF2B5EF4-FFF2-40B4-BE49-F238E27FC236}">
                <a16:creationId xmlns:a16="http://schemas.microsoft.com/office/drawing/2014/main" id="{EFE14019-EFD2-9188-2C87-FD253468CE69}"/>
              </a:ext>
            </a:extLst>
          </p:cNvPr>
          <p:cNvSpPr/>
          <p:nvPr/>
        </p:nvSpPr>
        <p:spPr>
          <a:xfrm>
            <a:off x="5335641" y="1349343"/>
            <a:ext cx="45719" cy="261140"/>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26" name="矩形 25">
            <a:extLst>
              <a:ext uri="{FF2B5EF4-FFF2-40B4-BE49-F238E27FC236}">
                <a16:creationId xmlns:a16="http://schemas.microsoft.com/office/drawing/2014/main" id="{51CAB884-D4C0-3905-CB09-00BD3471BD1F}"/>
              </a:ext>
            </a:extLst>
          </p:cNvPr>
          <p:cNvSpPr/>
          <p:nvPr/>
        </p:nvSpPr>
        <p:spPr>
          <a:xfrm>
            <a:off x="5335641" y="1349343"/>
            <a:ext cx="45719" cy="261140"/>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27" name="文本框 26">
            <a:extLst>
              <a:ext uri="{FF2B5EF4-FFF2-40B4-BE49-F238E27FC236}">
                <a16:creationId xmlns:a16="http://schemas.microsoft.com/office/drawing/2014/main" id="{9C788ABF-087E-D8F4-832C-FD3A09915C0E}"/>
              </a:ext>
            </a:extLst>
          </p:cNvPr>
          <p:cNvSpPr txBox="1"/>
          <p:nvPr/>
        </p:nvSpPr>
        <p:spPr>
          <a:xfrm>
            <a:off x="5393615" y="1320407"/>
            <a:ext cx="4043573" cy="523220"/>
          </a:xfrm>
          <a:prstGeom prst="rect">
            <a:avLst/>
          </a:prstGeom>
          <a:noFill/>
        </p:spPr>
        <p:txBody>
          <a:bodyPr wrap="square">
            <a:spAutoFit/>
          </a:bodyPr>
          <a:lstStyle/>
          <a:p>
            <a:pPr algn="ctr"/>
            <a:r>
              <a:rPr lang="en-US" altLang="zh-CN" sz="1400" b="1" dirty="0">
                <a:latin typeface="Eras Demi ITC" panose="020B0805030504020804" pitchFamily="34" charset="0"/>
                <a:ea typeface="微软雅黑" panose="020B0503020204020204" pitchFamily="34" charset="-122"/>
              </a:rPr>
              <a:t>System Architecture and Control Workflow:	</a:t>
            </a:r>
          </a:p>
        </p:txBody>
      </p:sp>
      <p:sp>
        <p:nvSpPr>
          <p:cNvPr id="30" name="矩形 29">
            <a:extLst>
              <a:ext uri="{FF2B5EF4-FFF2-40B4-BE49-F238E27FC236}">
                <a16:creationId xmlns:a16="http://schemas.microsoft.com/office/drawing/2014/main" id="{6DD3699B-AC93-E0E8-B0E6-E2F9B149B67C}"/>
              </a:ext>
            </a:extLst>
          </p:cNvPr>
          <p:cNvSpPr/>
          <p:nvPr/>
        </p:nvSpPr>
        <p:spPr>
          <a:xfrm>
            <a:off x="5335641" y="4239891"/>
            <a:ext cx="45719" cy="261140"/>
          </a:xfrm>
          <a:prstGeom prst="rect">
            <a:avLst/>
          </a:prstGeom>
          <a:solidFill>
            <a:srgbClr val="1C3F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Eras Demi ITC" panose="020B0805030504020804" pitchFamily="34" charset="0"/>
              <a:ea typeface="思源黑体 CN Normal" panose="020B0400000000000000" pitchFamily="34" charset="-122"/>
            </a:endParaRPr>
          </a:p>
        </p:txBody>
      </p:sp>
      <p:sp>
        <p:nvSpPr>
          <p:cNvPr id="31" name="文本框 30">
            <a:extLst>
              <a:ext uri="{FF2B5EF4-FFF2-40B4-BE49-F238E27FC236}">
                <a16:creationId xmlns:a16="http://schemas.microsoft.com/office/drawing/2014/main" id="{46C05014-CFC3-5A8F-0D04-FA93F4C02C30}"/>
              </a:ext>
            </a:extLst>
          </p:cNvPr>
          <p:cNvSpPr txBox="1"/>
          <p:nvPr/>
        </p:nvSpPr>
        <p:spPr>
          <a:xfrm>
            <a:off x="5393616" y="4210955"/>
            <a:ext cx="3564606" cy="307777"/>
          </a:xfrm>
          <a:prstGeom prst="rect">
            <a:avLst/>
          </a:prstGeom>
          <a:noFill/>
        </p:spPr>
        <p:txBody>
          <a:bodyPr wrap="square">
            <a:spAutoFit/>
          </a:bodyPr>
          <a:lstStyle/>
          <a:p>
            <a:pPr algn="ctr"/>
            <a:r>
              <a:rPr lang="en-US" altLang="zh-CN" sz="1400" b="1" dirty="0">
                <a:latin typeface="Eras Demi ITC" panose="020B0805030504020804" pitchFamily="34" charset="0"/>
                <a:ea typeface="微软雅黑" panose="020B0503020204020204" pitchFamily="34" charset="-122"/>
              </a:rPr>
              <a:t>Dynamic Motion Synthesis(optional):</a:t>
            </a:r>
          </a:p>
        </p:txBody>
      </p:sp>
    </p:spTree>
    <p:extLst>
      <p:ext uri="{BB962C8B-B14F-4D97-AF65-F5344CB8AC3E}">
        <p14:creationId xmlns:p14="http://schemas.microsoft.com/office/powerpoint/2010/main" val="1049540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DF9E-421F-839C-6FC0-4AB635BAEFBA}"/>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47BB8CE7-C437-3C27-22AA-4531831A95FF}"/>
              </a:ext>
            </a:extLst>
          </p:cNvPr>
          <p:cNvPicPr>
            <a:picLocks noChangeAspect="1"/>
          </p:cNvPicPr>
          <p:nvPr/>
        </p:nvPicPr>
        <p:blipFill>
          <a:blip r:embed="rId3"/>
          <a:srcRect t="29216" r="1181" b="26429"/>
          <a:stretch>
            <a:fillRect/>
          </a:stretch>
        </p:blipFill>
        <p:spPr>
          <a:xfrm>
            <a:off x="876166" y="3212493"/>
            <a:ext cx="10165444" cy="3041853"/>
          </a:xfrm>
          <a:prstGeom prst="rect">
            <a:avLst/>
          </a:prstGeom>
        </p:spPr>
      </p:pic>
      <p:sp>
        <p:nvSpPr>
          <p:cNvPr id="3" name="灯片编号占位符 2">
            <a:extLst>
              <a:ext uri="{FF2B5EF4-FFF2-40B4-BE49-F238E27FC236}">
                <a16:creationId xmlns:a16="http://schemas.microsoft.com/office/drawing/2014/main" id="{AE10B020-691C-EE3C-0DE1-C8A99EC976A6}"/>
              </a:ext>
            </a:extLst>
          </p:cNvPr>
          <p:cNvSpPr>
            <a:spLocks noGrp="1"/>
          </p:cNvSpPr>
          <p:nvPr>
            <p:ph type="sldNum" sz="quarter" idx="12"/>
          </p:nvPr>
        </p:nvSpPr>
        <p:spPr>
          <a:xfrm>
            <a:off x="9448800" y="6472237"/>
            <a:ext cx="2743200" cy="365125"/>
          </a:xfrm>
        </p:spPr>
        <p:txBody>
          <a:bodyPr/>
          <a:lstStyle/>
          <a:p>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p:txBody>
      </p:sp>
      <p:pic>
        <p:nvPicPr>
          <p:cNvPr id="6" name="Picture 4" descr="院长寄语 | 香港中文大学(深圳)金融EMBA">
            <a:extLst>
              <a:ext uri="{FF2B5EF4-FFF2-40B4-BE49-F238E27FC236}">
                <a16:creationId xmlns:a16="http://schemas.microsoft.com/office/drawing/2014/main" id="{02E73E8E-8258-9023-A405-F366DB923A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0A6F22A6-AA5D-B996-548E-E24A76C761C9}"/>
              </a:ext>
            </a:extLst>
          </p:cNvPr>
          <p:cNvSpPr/>
          <p:nvPr/>
        </p:nvSpPr>
        <p:spPr>
          <a:xfrm>
            <a:off x="2095120" y="93054"/>
            <a:ext cx="502413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dirty="0">
                <a:solidFill>
                  <a:schemeClr val="tx1"/>
                </a:solidFill>
                <a:latin typeface="Eras Demi ITC" panose="020B0805030504020804" pitchFamily="34" charset="0"/>
                <a:ea typeface="思源黑体 CN Normal" panose="020B0400000000000000" pitchFamily="34" charset="-122"/>
              </a:rPr>
              <a:t>Division of labor for the project</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16" name="矩形 15">
            <a:extLst>
              <a:ext uri="{FF2B5EF4-FFF2-40B4-BE49-F238E27FC236}">
                <a16:creationId xmlns:a16="http://schemas.microsoft.com/office/drawing/2014/main" id="{CA713FF3-AE6F-BAD4-EE71-80ECF869C71D}"/>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Division</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graphicFrame>
        <p:nvGraphicFramePr>
          <p:cNvPr id="9" name="表格 8">
            <a:extLst>
              <a:ext uri="{FF2B5EF4-FFF2-40B4-BE49-F238E27FC236}">
                <a16:creationId xmlns:a16="http://schemas.microsoft.com/office/drawing/2014/main" id="{119BFE75-4893-0457-F433-9AD7544419AD}"/>
              </a:ext>
            </a:extLst>
          </p:cNvPr>
          <p:cNvGraphicFramePr>
            <a:graphicFrameLocks noGrp="1"/>
          </p:cNvGraphicFramePr>
          <p:nvPr>
            <p:extLst>
              <p:ext uri="{D42A27DB-BD31-4B8C-83A1-F6EECF244321}">
                <p14:modId xmlns:p14="http://schemas.microsoft.com/office/powerpoint/2010/main" val="2653662514"/>
              </p:ext>
            </p:extLst>
          </p:nvPr>
        </p:nvGraphicFramePr>
        <p:xfrm>
          <a:off x="132177" y="682582"/>
          <a:ext cx="11653422" cy="2179932"/>
        </p:xfrm>
        <a:graphic>
          <a:graphicData uri="http://schemas.openxmlformats.org/drawingml/2006/table">
            <a:tbl>
              <a:tblPr firstRow="1" bandRow="1">
                <a:tableStyleId>{6E25E649-3F16-4E02-A733-19D2CDBF48F0}</a:tableStyleId>
              </a:tblPr>
              <a:tblGrid>
                <a:gridCol w="2630939">
                  <a:extLst>
                    <a:ext uri="{9D8B030D-6E8A-4147-A177-3AD203B41FA5}">
                      <a16:colId xmlns:a16="http://schemas.microsoft.com/office/drawing/2014/main" val="3489930416"/>
                    </a:ext>
                  </a:extLst>
                </a:gridCol>
                <a:gridCol w="3195772">
                  <a:extLst>
                    <a:ext uri="{9D8B030D-6E8A-4147-A177-3AD203B41FA5}">
                      <a16:colId xmlns:a16="http://schemas.microsoft.com/office/drawing/2014/main" val="2506253478"/>
                    </a:ext>
                  </a:extLst>
                </a:gridCol>
                <a:gridCol w="2270747">
                  <a:extLst>
                    <a:ext uri="{9D8B030D-6E8A-4147-A177-3AD203B41FA5}">
                      <a16:colId xmlns:a16="http://schemas.microsoft.com/office/drawing/2014/main" val="3872295562"/>
                    </a:ext>
                  </a:extLst>
                </a:gridCol>
                <a:gridCol w="3555964">
                  <a:extLst>
                    <a:ext uri="{9D8B030D-6E8A-4147-A177-3AD203B41FA5}">
                      <a16:colId xmlns:a16="http://schemas.microsoft.com/office/drawing/2014/main" val="210134375"/>
                    </a:ext>
                  </a:extLst>
                </a:gridCol>
              </a:tblGrid>
              <a:tr h="343932">
                <a:tc>
                  <a:txBody>
                    <a:bodyPr/>
                    <a:lstStyle/>
                    <a:p>
                      <a:pPr>
                        <a:buNone/>
                      </a:pPr>
                      <a:r>
                        <a:rPr lang="en-US" sz="1600" b="1" dirty="0">
                          <a:latin typeface="Times New Roman" panose="02020603050405020304" pitchFamily="18" charset="0"/>
                          <a:cs typeface="Times New Roman" panose="02020603050405020304" pitchFamily="18" charset="0"/>
                        </a:rPr>
                        <a:t>Work Package</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tc>
                  <a:txBody>
                    <a:bodyPr/>
                    <a:lstStyle/>
                    <a:p>
                      <a:pPr>
                        <a:buNone/>
                      </a:pPr>
                      <a:r>
                        <a:rPr lang="en-US" sz="1600" b="1" dirty="0">
                          <a:latin typeface="Times New Roman" panose="02020603050405020304" pitchFamily="18" charset="0"/>
                          <a:cs typeface="Times New Roman" panose="02020603050405020304" pitchFamily="18" charset="0"/>
                        </a:rPr>
                        <a:t>Main Tasks</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tc>
                  <a:txBody>
                    <a:bodyPr/>
                    <a:lstStyle/>
                    <a:p>
                      <a:pPr>
                        <a:buNone/>
                      </a:pPr>
                      <a:r>
                        <a:rPr lang="en-US" sz="1600" b="1" dirty="0">
                          <a:latin typeface="Times New Roman" panose="02020603050405020304" pitchFamily="18" charset="0"/>
                          <a:cs typeface="Times New Roman" panose="02020603050405020304" pitchFamily="18" charset="0"/>
                        </a:rPr>
                        <a:t>Responsible Member(s)</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tc>
                  <a:txBody>
                    <a:bodyPr/>
                    <a:lstStyle/>
                    <a:p>
                      <a:pPr>
                        <a:buNone/>
                      </a:pPr>
                      <a:r>
                        <a:rPr lang="en-US" sz="1600" b="1" dirty="0">
                          <a:latin typeface="Times New Roman" panose="02020603050405020304" pitchFamily="18" charset="0"/>
                          <a:cs typeface="Times New Roman" panose="02020603050405020304" pitchFamily="18" charset="0"/>
                        </a:rPr>
                        <a:t>Expected Output</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extLst>
                  <a:ext uri="{0D108BD9-81ED-4DB2-BD59-A6C34878D82A}">
                    <a16:rowId xmlns:a16="http://schemas.microsoft.com/office/drawing/2014/main" val="3926165430"/>
                  </a:ext>
                </a:extLst>
              </a:tr>
              <a:tr h="496155">
                <a:tc>
                  <a:txBody>
                    <a:bodyPr/>
                    <a:lstStyle/>
                    <a:p>
                      <a:pPr algn="ctr">
                        <a:buNone/>
                      </a:pPr>
                      <a:r>
                        <a:rPr lang="en-US" sz="1800" b="1" dirty="0">
                          <a:solidFill>
                            <a:schemeClr val="tx1"/>
                          </a:solidFill>
                          <a:latin typeface="Times New Roman" panose="02020603050405020304" pitchFamily="18" charset="0"/>
                          <a:cs typeface="Times New Roman" panose="02020603050405020304" pitchFamily="18" charset="0"/>
                        </a:rPr>
                        <a:t>Mechanical Assembly</a:t>
                      </a:r>
                      <a:endParaRPr lang="en-US" sz="1800" dirty="0">
                        <a:solidFill>
                          <a:schemeClr val="tx1"/>
                        </a:solidFill>
                        <a:latin typeface="Times New Roman" panose="02020603050405020304" pitchFamily="18" charset="0"/>
                        <a:cs typeface="Times New Roman" panose="02020603050405020304" pitchFamily="18" charset="0"/>
                      </a:endParaRPr>
                    </a:p>
                  </a:txBody>
                  <a:tcPr marL="83680" marR="83680" marT="41840" marB="4184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kern="1200" dirty="0">
                          <a:solidFill>
                            <a:schemeClr val="dk1"/>
                          </a:solidFill>
                          <a:latin typeface="Times New Roman" panose="02020603050405020304" pitchFamily="18" charset="0"/>
                          <a:ea typeface="+mn-ea"/>
                          <a:cs typeface="Times New Roman" panose="02020603050405020304" pitchFamily="18" charset="0"/>
                        </a:rPr>
                        <a:t>3D-printed part preparation, tendon routing, joint assembly, overall hand structure integration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err="1">
                          <a:solidFill>
                            <a:schemeClr val="dk1"/>
                          </a:solidFill>
                          <a:latin typeface="Times New Roman" panose="02020603050405020304" pitchFamily="18" charset="0"/>
                          <a:ea typeface="+mn-ea"/>
                          <a:cs typeface="Times New Roman" panose="02020603050405020304" pitchFamily="18" charset="0"/>
                        </a:rPr>
                        <a:t>G</a:t>
                      </a:r>
                      <a:r>
                        <a:rPr lang="en-US" altLang="zh-CN" sz="1600" kern="1200" dirty="0" err="1">
                          <a:solidFill>
                            <a:schemeClr val="dk1"/>
                          </a:solidFill>
                          <a:latin typeface="Times New Roman" panose="02020603050405020304" pitchFamily="18" charset="0"/>
                          <a:ea typeface="+mn-ea"/>
                          <a:cs typeface="Times New Roman" panose="02020603050405020304" pitchFamily="18" charset="0"/>
                        </a:rPr>
                        <a:t>uangTian</a:t>
                      </a:r>
                      <a:r>
                        <a:rPr lang="en-US" altLang="zh-CN" sz="1600" kern="1200" dirty="0">
                          <a:solidFill>
                            <a:schemeClr val="dk1"/>
                          </a:solidFill>
                          <a:latin typeface="Times New Roman" panose="02020603050405020304" pitchFamily="18" charset="0"/>
                          <a:ea typeface="+mn-ea"/>
                          <a:cs typeface="Times New Roman" panose="02020603050405020304" pitchFamily="18" charset="0"/>
                        </a:rPr>
                        <a:t> Liu</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a:solidFill>
                            <a:schemeClr val="dk1"/>
                          </a:solidFill>
                          <a:latin typeface="Times New Roman" panose="02020603050405020304" pitchFamily="18" charset="0"/>
                          <a:ea typeface="+mn-ea"/>
                          <a:cs typeface="Times New Roman" panose="02020603050405020304" pitchFamily="18" charset="0"/>
                        </a:rPr>
                        <a:t>Completed mechanical structure of DexHand</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3227494"/>
                  </a:ext>
                </a:extLst>
              </a:tr>
              <a:tr h="549092">
                <a:tc>
                  <a:txBody>
                    <a:bodyPr/>
                    <a:lstStyle/>
                    <a:p>
                      <a:pPr algn="ctr">
                        <a:buNone/>
                      </a:pPr>
                      <a:r>
                        <a:rPr lang="en-US" sz="1800" b="1" dirty="0">
                          <a:solidFill>
                            <a:schemeClr val="tx1"/>
                          </a:solidFill>
                          <a:latin typeface="Times New Roman" panose="02020603050405020304" pitchFamily="18" charset="0"/>
                          <a:cs typeface="Times New Roman" panose="02020603050405020304" pitchFamily="18" charset="0"/>
                        </a:rPr>
                        <a:t>Electronics and Embedded Testing</a:t>
                      </a:r>
                      <a:endParaRPr lang="en-US" sz="1800" dirty="0">
                        <a:solidFill>
                          <a:schemeClr val="tx1"/>
                        </a:solidFill>
                        <a:latin typeface="Times New Roman" panose="02020603050405020304" pitchFamily="18" charset="0"/>
                        <a:cs typeface="Times New Roman" panose="02020603050405020304" pitchFamily="18" charset="0"/>
                      </a:endParaRPr>
                    </a:p>
                  </a:txBody>
                  <a:tcPr marL="83680" marR="83680" marT="41840" marB="4184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kern="1200" dirty="0">
                          <a:solidFill>
                            <a:schemeClr val="dk1"/>
                          </a:solidFill>
                          <a:latin typeface="Times New Roman" panose="02020603050405020304" pitchFamily="18" charset="0"/>
                          <a:ea typeface="+mn-ea"/>
                          <a:cs typeface="Times New Roman" panose="02020603050405020304" pitchFamily="18" charset="0"/>
                        </a:rPr>
                        <a:t>Circuit assembly, PCB soldering, firmware upload, microcontroller debugging, servo testing</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a:solidFill>
                            <a:schemeClr val="dk1"/>
                          </a:solidFill>
                          <a:latin typeface="Times New Roman" panose="02020603050405020304" pitchFamily="18" charset="0"/>
                          <a:ea typeface="+mn-ea"/>
                          <a:cs typeface="Times New Roman" panose="02020603050405020304" pitchFamily="18" charset="0"/>
                        </a:rPr>
                        <a:t>Jincheng Tian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a:solidFill>
                            <a:schemeClr val="dk1"/>
                          </a:solidFill>
                          <a:latin typeface="Times New Roman" panose="02020603050405020304" pitchFamily="18" charset="0"/>
                          <a:ea typeface="+mn-ea"/>
                          <a:cs typeface="Times New Roman" panose="02020603050405020304" pitchFamily="18" charset="0"/>
                        </a:rPr>
                        <a:t>Functional control board and basic actuator testing</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2714049"/>
                  </a:ext>
                </a:extLst>
              </a:tr>
              <a:tr h="549092">
                <a:tc>
                  <a:txBody>
                    <a:bodyPr/>
                    <a:lstStyle/>
                    <a:p>
                      <a:pPr algn="ctr">
                        <a:buNone/>
                      </a:pPr>
                      <a:r>
                        <a:rPr lang="en-US" sz="1800" b="1" dirty="0">
                          <a:solidFill>
                            <a:schemeClr val="tx1"/>
                          </a:solidFill>
                          <a:latin typeface="Times New Roman" panose="02020603050405020304" pitchFamily="18" charset="0"/>
                          <a:cs typeface="Times New Roman" panose="02020603050405020304" pitchFamily="18" charset="0"/>
                        </a:rPr>
                        <a:t>LLM Integration</a:t>
                      </a:r>
                      <a:endParaRPr lang="en-US" sz="1800" dirty="0">
                        <a:solidFill>
                          <a:schemeClr val="tx1"/>
                        </a:solidFill>
                        <a:latin typeface="Times New Roman" panose="02020603050405020304" pitchFamily="18" charset="0"/>
                        <a:cs typeface="Times New Roman" panose="02020603050405020304" pitchFamily="18" charset="0"/>
                      </a:endParaRPr>
                    </a:p>
                  </a:txBody>
                  <a:tcPr marL="83680" marR="83680" marT="41840" marB="4184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kern="1200" dirty="0">
                          <a:solidFill>
                            <a:schemeClr val="dk1"/>
                          </a:solidFill>
                          <a:latin typeface="Times New Roman" panose="02020603050405020304" pitchFamily="18" charset="0"/>
                          <a:ea typeface="+mn-ea"/>
                          <a:cs typeface="Times New Roman" panose="02020603050405020304" pitchFamily="18" charset="0"/>
                        </a:rPr>
                        <a:t>Study of DexHand software interface, API connection, command design, initial intelligent control exploration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err="1">
                          <a:solidFill>
                            <a:schemeClr val="dk1"/>
                          </a:solidFill>
                          <a:latin typeface="Times New Roman" panose="02020603050405020304" pitchFamily="18" charset="0"/>
                          <a:ea typeface="+mn-ea"/>
                          <a:cs typeface="Times New Roman" panose="02020603050405020304" pitchFamily="18" charset="0"/>
                        </a:rPr>
                        <a:t>ZhongHao</a:t>
                      </a:r>
                      <a:r>
                        <a:rPr lang="en-US" sz="1600" kern="1200" dirty="0">
                          <a:solidFill>
                            <a:schemeClr val="dk1"/>
                          </a:solidFill>
                          <a:latin typeface="Times New Roman" panose="02020603050405020304" pitchFamily="18" charset="0"/>
                          <a:ea typeface="+mn-ea"/>
                          <a:cs typeface="Times New Roman" panose="02020603050405020304" pitchFamily="18" charset="0"/>
                        </a:rPr>
                        <a:t> Zhao</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600" kern="1200" dirty="0">
                          <a:solidFill>
                            <a:schemeClr val="dk1"/>
                          </a:solidFill>
                          <a:latin typeface="Times New Roman" panose="02020603050405020304" pitchFamily="18" charset="0"/>
                          <a:ea typeface="+mn-ea"/>
                          <a:cs typeface="Times New Roman" panose="02020603050405020304" pitchFamily="18" charset="0"/>
                        </a:rPr>
                        <a:t>Preliminary LLM-based interaction and control framework</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273258"/>
                  </a:ext>
                </a:extLst>
              </a:tr>
            </a:tbl>
          </a:graphicData>
        </a:graphic>
      </p:graphicFrame>
      <p:sp>
        <p:nvSpPr>
          <p:cNvPr id="11" name="矩形 10">
            <a:extLst>
              <a:ext uri="{FF2B5EF4-FFF2-40B4-BE49-F238E27FC236}">
                <a16:creationId xmlns:a16="http://schemas.microsoft.com/office/drawing/2014/main" id="{CC0D0DEE-DACD-1C91-1EAF-BD8C721654FC}"/>
              </a:ext>
            </a:extLst>
          </p:cNvPr>
          <p:cNvSpPr/>
          <p:nvPr/>
        </p:nvSpPr>
        <p:spPr>
          <a:xfrm>
            <a:off x="132177" y="682581"/>
            <a:ext cx="11653423" cy="5972220"/>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326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B909088A-FEAB-25A2-B9C8-0E395815A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3512" y="663743"/>
            <a:ext cx="4038488" cy="6057732"/>
          </a:xfrm>
          <a:prstGeom prst="rect">
            <a:avLst/>
          </a:prstGeom>
        </p:spPr>
      </p:pic>
      <p:sp>
        <p:nvSpPr>
          <p:cNvPr id="11" name="矩形 10">
            <a:extLst>
              <a:ext uri="{FF2B5EF4-FFF2-40B4-BE49-F238E27FC236}">
                <a16:creationId xmlns:a16="http://schemas.microsoft.com/office/drawing/2014/main" id="{E76C0926-386B-6249-BA05-0B90D204EA72}"/>
              </a:ext>
            </a:extLst>
          </p:cNvPr>
          <p:cNvSpPr/>
          <p:nvPr/>
        </p:nvSpPr>
        <p:spPr>
          <a:xfrm>
            <a:off x="857" y="0"/>
            <a:ext cx="12192000" cy="6858000"/>
          </a:xfrm>
          <a:prstGeom prst="rect">
            <a:avLst/>
          </a:prstGeom>
          <a:solidFill>
            <a:srgbClr val="0F1C45">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灯片编号占位符 1">
            <a:extLst>
              <a:ext uri="{FF2B5EF4-FFF2-40B4-BE49-F238E27FC236}">
                <a16:creationId xmlns:a16="http://schemas.microsoft.com/office/drawing/2014/main" id="{D456C875-0639-E55F-5F62-8D9D11E93DAF}"/>
              </a:ext>
            </a:extLst>
          </p:cNvPr>
          <p:cNvSpPr>
            <a:spLocks noGrp="1"/>
          </p:cNvSpPr>
          <p:nvPr>
            <p:ph type="sldNum" sz="quarter" idx="12"/>
          </p:nvPr>
        </p:nvSpPr>
        <p:spPr>
          <a:xfrm>
            <a:off x="9447943" y="6487186"/>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11</a:t>
            </a:fld>
            <a:endParaRPr lang="zh-CN" altLang="en-US" dirty="0">
              <a:latin typeface="Times New Roman" panose="02020603050405020304" pitchFamily="18" charset="0"/>
              <a:cs typeface="Times New Roman" panose="02020603050405020304" pitchFamily="18" charset="0"/>
            </a:endParaRPr>
          </a:p>
        </p:txBody>
      </p:sp>
      <p:pic>
        <p:nvPicPr>
          <p:cNvPr id="9" name="Picture 4" descr="院长寄语 | 香港中文大学(深圳)金融EMBA">
            <a:extLst>
              <a:ext uri="{FF2B5EF4-FFF2-40B4-BE49-F238E27FC236}">
                <a16:creationId xmlns:a16="http://schemas.microsoft.com/office/drawing/2014/main" id="{FF92A82D-99B3-7478-950A-F26186CCF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C7A3F6BA-918F-4C2A-216A-234F9B28191B}"/>
              </a:ext>
            </a:extLst>
          </p:cNvPr>
          <p:cNvSpPr txBox="1"/>
          <p:nvPr/>
        </p:nvSpPr>
        <p:spPr>
          <a:xfrm>
            <a:off x="724620" y="2040985"/>
            <a:ext cx="10742759"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u="none" strike="noStrike" kern="1200" cap="none" spc="0" normalizeH="0" baseline="0" noProof="0" dirty="0">
                <a:ln>
                  <a:noFill/>
                </a:ln>
                <a:solidFill>
                  <a:schemeClr val="accent4">
                    <a:lumMod val="60000"/>
                    <a:lumOff val="40000"/>
                  </a:schemeClr>
                </a:solidFill>
                <a:effectLst/>
                <a:uLnTx/>
                <a:uFillTx/>
                <a:latin typeface="Eras Demi ITC" panose="020B0805030504020804" pitchFamily="34" charset="0"/>
                <a:ea typeface="阿里巴巴普惠体 2.0 95 ExtraBold" panose="00020600040101010101" pitchFamily="18" charset="-122"/>
                <a:cs typeface="阿里巴巴普惠体 2.0 95 ExtraBold" panose="00020600040101010101" pitchFamily="18" charset="-122"/>
              </a:rPr>
              <a:t>Thank you for listening!</a:t>
            </a:r>
            <a:endParaRPr kumimoji="0" lang="zh-CN" altLang="en-US" sz="6000" b="1" u="none" strike="noStrike" kern="1200" cap="none" spc="0" normalizeH="0" baseline="0" noProof="0" dirty="0">
              <a:ln>
                <a:noFill/>
              </a:ln>
              <a:solidFill>
                <a:schemeClr val="accent4">
                  <a:lumMod val="60000"/>
                  <a:lumOff val="40000"/>
                </a:schemeClr>
              </a:solidFill>
              <a:effectLst/>
              <a:uLnTx/>
              <a:uFillTx/>
              <a:latin typeface="Eras Demi ITC" panose="020B0805030504020804" pitchFamily="34" charset="0"/>
              <a:ea typeface="阿里巴巴普惠体 2.0 95 ExtraBold" panose="00020600040101010101" pitchFamily="18" charset="-122"/>
              <a:cs typeface="阿里巴巴普惠体 2.0 95 ExtraBold" panose="00020600040101010101" pitchFamily="18" charset="-122"/>
            </a:endParaRPr>
          </a:p>
        </p:txBody>
      </p:sp>
      <p:sp>
        <p:nvSpPr>
          <p:cNvPr id="14" name="文本框 13">
            <a:extLst>
              <a:ext uri="{FF2B5EF4-FFF2-40B4-BE49-F238E27FC236}">
                <a16:creationId xmlns:a16="http://schemas.microsoft.com/office/drawing/2014/main" id="{209F2D71-5ECA-AF9F-5A53-FC13CF1EA2C1}"/>
              </a:ext>
            </a:extLst>
          </p:cNvPr>
          <p:cNvSpPr txBox="1"/>
          <p:nvPr/>
        </p:nvSpPr>
        <p:spPr>
          <a:xfrm>
            <a:off x="1994039" y="4568141"/>
            <a:ext cx="85612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chemeClr val="accent4">
                    <a:lumMod val="60000"/>
                    <a:lumOff val="40000"/>
                  </a:schemeClr>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Team Members</a:t>
            </a:r>
            <a:r>
              <a:rPr kumimoji="0" lang="en-US" altLang="zh-CN" sz="1800" b="1" i="0" u="none" strike="noStrike" kern="1200" cap="none" spc="0" normalizeH="0" baseline="0" noProof="0" dirty="0">
                <a:ln>
                  <a:noFill/>
                </a:ln>
                <a:solidFill>
                  <a:srgbClr val="FFC000"/>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Jincheng Tian,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GuangTian</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Liu,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ZhongHao</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Zhao</a:t>
            </a:r>
            <a:endParaRPr lang="en-US" altLang="zh-CN" sz="1800"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endParaRPr>
          </a:p>
        </p:txBody>
      </p:sp>
      <p:sp>
        <p:nvSpPr>
          <p:cNvPr id="15" name="文本框 14">
            <a:extLst>
              <a:ext uri="{FF2B5EF4-FFF2-40B4-BE49-F238E27FC236}">
                <a16:creationId xmlns:a16="http://schemas.microsoft.com/office/drawing/2014/main" id="{E7176DCC-5627-35A7-3A1D-FC93F90B3BBA}"/>
              </a:ext>
            </a:extLst>
          </p:cNvPr>
          <p:cNvSpPr txBox="1"/>
          <p:nvPr/>
        </p:nvSpPr>
        <p:spPr>
          <a:xfrm>
            <a:off x="2838334" y="6328433"/>
            <a:ext cx="6111024" cy="369332"/>
          </a:xfrm>
          <a:prstGeom prst="rect">
            <a:avLst/>
          </a:prstGeom>
          <a:noFill/>
        </p:spPr>
        <p:txBody>
          <a:bodyPr wrap="square">
            <a:spAutoFit/>
          </a:bodyPr>
          <a:lstStyle/>
          <a:p>
            <a:pPr lvl="0" algn="ctr">
              <a:defRPr/>
            </a:pPr>
            <a:r>
              <a:rPr lang="en-US" altLang="zh-CN" dirty="0">
                <a:solidFill>
                  <a:schemeClr val="bg1"/>
                </a:solidFill>
                <a:latin typeface="Times New Roman" panose="02020603050405020304" pitchFamily="18" charset="0"/>
                <a:cs typeface="Times New Roman" panose="02020603050405020304" pitchFamily="18" charset="0"/>
              </a:rPr>
              <a:t>2026/3/11</a:t>
            </a:r>
            <a:endParaRPr kumimoji="0" lang="zh-CN" altLang="en-US" i="0" u="none" strike="noStrike" kern="1200" cap="none" spc="0" normalizeH="0" baseline="0" noProof="0" dirty="0">
              <a:ln>
                <a:noFill/>
              </a:ln>
              <a:solidFill>
                <a:schemeClr val="bg1"/>
              </a:solidFill>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TotalTime>
  <Words>2538</Words>
  <Application>Microsoft Office PowerPoint</Application>
  <PresentationFormat>宽屏</PresentationFormat>
  <Paragraphs>261</Paragraphs>
  <Slides>11</Slides>
  <Notes>11</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阿里巴巴普惠体 2.0 75 SemiBold</vt:lpstr>
      <vt:lpstr>等线</vt:lpstr>
      <vt:lpstr>等线 Light</vt:lpstr>
      <vt:lpstr>Arial</vt:lpstr>
      <vt:lpstr>Eras Demi ITC</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金成 田</dc:creator>
  <cp:lastModifiedBy>金成 田</cp:lastModifiedBy>
  <cp:revision>49</cp:revision>
  <dcterms:created xsi:type="dcterms:W3CDTF">2026-03-08T01:19:17Z</dcterms:created>
  <dcterms:modified xsi:type="dcterms:W3CDTF">2026-03-11T08:58:29Z</dcterms:modified>
</cp:coreProperties>
</file>