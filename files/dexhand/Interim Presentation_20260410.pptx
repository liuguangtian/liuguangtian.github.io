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9" r:id="rId2"/>
    <p:sldId id="272" r:id="rId3"/>
    <p:sldId id="277" r:id="rId4"/>
    <p:sldId id="276" r:id="rId5"/>
    <p:sldId id="266" r:id="rId6"/>
    <p:sldId id="273" r:id="rId7"/>
    <p:sldId id="274" r:id="rId8"/>
    <p:sldId id="265" r:id="rId9"/>
    <p:sldId id="270"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0" autoAdjust="0"/>
    <p:restoredTop sz="73421" autoAdjust="0"/>
  </p:normalViewPr>
  <p:slideViewPr>
    <p:cSldViewPr snapToGrid="0">
      <p:cViewPr varScale="1">
        <p:scale>
          <a:sx n="66" d="100"/>
          <a:sy n="66" d="100"/>
        </p:scale>
        <p:origin x="806"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2E6AE9-79CB-48A0-936D-A8EEA77EC2E6}" type="datetimeFigureOut">
              <a:rPr lang="zh-CN" altLang="en-US" smtClean="0"/>
              <a:t>2026/4/10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533A1-B050-4D81-BD0A-78A13E0FD0B9}" type="slidenum">
              <a:rPr lang="zh-CN" altLang="en-US" smtClean="0"/>
              <a:t>‹#›</a:t>
            </a:fld>
            <a:endParaRPr lang="zh-CN" altLang="en-US"/>
          </a:p>
        </p:txBody>
      </p:sp>
    </p:spTree>
    <p:extLst>
      <p:ext uri="{BB962C8B-B14F-4D97-AF65-F5344CB8AC3E}">
        <p14:creationId xmlns:p14="http://schemas.microsoft.com/office/powerpoint/2010/main" val="1206890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37A1E4-B503-4197-BF28-554B36E2F436}" type="slidenum">
              <a:rPr lang="zh-CN" altLang="en-US" smtClean="0"/>
              <a:t>1</a:t>
            </a:fld>
            <a:endParaRPr lang="zh-CN" altLang="en-US"/>
          </a:p>
        </p:txBody>
      </p:sp>
    </p:spTree>
    <p:extLst>
      <p:ext uri="{BB962C8B-B14F-4D97-AF65-F5344CB8AC3E}">
        <p14:creationId xmlns:p14="http://schemas.microsoft.com/office/powerpoint/2010/main" val="3822498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E2BED-A2EF-4B6B-BA9E-FB0EA17C01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5F6C36-0101-43EB-40A4-3869EFD8D975}"/>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27CD545-6F86-8799-181A-0D00BA079BD9}"/>
              </a:ext>
            </a:extLst>
          </p:cNvPr>
          <p:cNvSpPr>
            <a:spLocks noGrp="1"/>
          </p:cNvSpPr>
          <p:nvPr>
            <p:ph type="body" idx="1"/>
          </p:nvPr>
        </p:nvSpPr>
        <p:spPr/>
        <p:txBody>
          <a:bodyPr/>
          <a:lstStyle/>
          <a:p>
            <a:r>
              <a:rPr lang="en-US" altLang="zh-CN" b="1" dirty="0"/>
              <a:t>This slide gives an overview of our </a:t>
            </a:r>
            <a:r>
              <a:rPr lang="en-US" altLang="zh-CN" b="1" dirty="0" err="1"/>
              <a:t>DexHand</a:t>
            </a:r>
            <a:r>
              <a:rPr lang="en-US" altLang="zh-CN" b="1" dirty="0"/>
              <a:t> project.</a:t>
            </a:r>
            <a:br>
              <a:rPr lang="en-US" altLang="zh-CN" dirty="0"/>
            </a:br>
            <a:r>
              <a:rPr lang="en-US" altLang="zh-CN" dirty="0"/>
              <a:t>We use </a:t>
            </a:r>
            <a:r>
              <a:rPr lang="en-US" altLang="zh-CN" dirty="0" err="1"/>
              <a:t>DexHand</a:t>
            </a:r>
            <a:r>
              <a:rPr lang="en-US" altLang="zh-CN" dirty="0"/>
              <a:t> as an open-source dexterous hand platform for system reproduction and validation. The project combines simulation, hardware implementation, and intelligent control exploration.</a:t>
            </a:r>
          </a:p>
          <a:p>
            <a:r>
              <a:rPr lang="en-US" altLang="zh-CN" dirty="0"/>
              <a:t>Our goal is to reproduce the main workflow of </a:t>
            </a:r>
            <a:r>
              <a:rPr lang="en-US" altLang="zh-CN" dirty="0" err="1"/>
              <a:t>DexHand</a:t>
            </a:r>
            <a:r>
              <a:rPr lang="en-US" altLang="zh-CN" dirty="0"/>
              <a:t> as a course project, understand its mechanical, electronic, and control architecture, and prepare for later integrated testing and intelligent control development.</a:t>
            </a:r>
          </a:p>
          <a:p>
            <a:r>
              <a:rPr lang="en-US" altLang="zh-CN" dirty="0"/>
              <a:t>At this stage, our work is divided into three main packages: </a:t>
            </a:r>
            <a:r>
              <a:rPr lang="en-US" altLang="zh-CN" b="1" dirty="0"/>
              <a:t>mechanical assembly</a:t>
            </a:r>
            <a:r>
              <a:rPr lang="en-US" altLang="zh-CN" dirty="0"/>
              <a:t>, </a:t>
            </a:r>
            <a:r>
              <a:rPr lang="en-US" altLang="zh-CN" b="1" dirty="0"/>
              <a:t>electronics and embedded testing</a:t>
            </a:r>
            <a:r>
              <a:rPr lang="en-US" altLang="zh-CN" dirty="0"/>
              <a:t>, and </a:t>
            </a:r>
            <a:r>
              <a:rPr lang="en-US" altLang="zh-CN" b="1" dirty="0"/>
              <a:t>simulation or RL exploration</a:t>
            </a:r>
            <a:r>
              <a:rPr lang="en-US" altLang="zh-CN" dirty="0"/>
              <a:t>.</a:t>
            </a:r>
          </a:p>
          <a:p>
            <a:r>
              <a:rPr lang="en-US" altLang="zh-CN" dirty="0"/>
              <a:t>So far, we have reproduced the ROS2 simulation workflow, analyzed the hardware architecture and actuator selection, and started mechanical assembly and PCB preparation.</a:t>
            </a:r>
          </a:p>
          <a:p>
            <a:endParaRPr lang="zh-CN" altLang="en-US" dirty="0"/>
          </a:p>
        </p:txBody>
      </p:sp>
      <p:sp>
        <p:nvSpPr>
          <p:cNvPr id="4" name="灯片编号占位符 3">
            <a:extLst>
              <a:ext uri="{FF2B5EF4-FFF2-40B4-BE49-F238E27FC236}">
                <a16:creationId xmlns:a16="http://schemas.microsoft.com/office/drawing/2014/main" id="{6BDE02BA-2231-947C-79A6-AF2982590F1C}"/>
              </a:ext>
            </a:extLst>
          </p:cNvPr>
          <p:cNvSpPr>
            <a:spLocks noGrp="1"/>
          </p:cNvSpPr>
          <p:nvPr>
            <p:ph type="sldNum" sz="quarter" idx="5"/>
          </p:nvPr>
        </p:nvSpPr>
        <p:spPr/>
        <p:txBody>
          <a:bodyPr/>
          <a:lstStyle/>
          <a:p>
            <a:fld id="{2137A1E4-B503-4197-BF28-554B36E2F436}" type="slidenum">
              <a:rPr lang="zh-CN" altLang="en-US" smtClean="0"/>
              <a:t>2</a:t>
            </a:fld>
            <a:endParaRPr lang="zh-CN" altLang="en-US"/>
          </a:p>
        </p:txBody>
      </p:sp>
    </p:spTree>
    <p:extLst>
      <p:ext uri="{BB962C8B-B14F-4D97-AF65-F5344CB8AC3E}">
        <p14:creationId xmlns:p14="http://schemas.microsoft.com/office/powerpoint/2010/main" val="558265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980DE-F741-D682-58C5-91C9346A42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F9A0B4-9EF7-8828-5256-EFDA709FAE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4F77DF-DB38-D1F4-5EA8-BF501AD4CE20}"/>
              </a:ext>
            </a:extLst>
          </p:cNvPr>
          <p:cNvSpPr>
            <a:spLocks noGrp="1"/>
          </p:cNvSpPr>
          <p:nvPr>
            <p:ph type="body" idx="1"/>
          </p:nvPr>
        </p:nvSpPr>
        <p:spPr/>
        <p:txBody>
          <a:bodyPr/>
          <a:lstStyle/>
          <a:p>
            <a:r>
              <a:rPr lang="en-US" altLang="zh-CN" dirty="0"/>
              <a:t>This slide shows the overall progress of the mechanical assembly.</a:t>
            </a:r>
          </a:p>
          <a:p>
            <a:r>
              <a:rPr lang="en-US" altLang="zh-CN" dirty="0"/>
              <a:t> The image on the left presents our latest progress. </a:t>
            </a:r>
          </a:p>
          <a:p>
            <a:r>
              <a:rPr lang="en-US" altLang="zh-CN" dirty="0"/>
              <a:t>So far, about </a:t>
            </a:r>
            <a:r>
              <a:rPr lang="en-US" altLang="zh-CN" b="1" dirty="0"/>
              <a:t>75% of the whole structure</a:t>
            </a:r>
            <a:r>
              <a:rPr lang="en-US" altLang="zh-CN" dirty="0"/>
              <a:t> has been completed, including the assembly of the </a:t>
            </a:r>
            <a:r>
              <a:rPr lang="en-US" altLang="zh-CN" b="1" dirty="0"/>
              <a:t>fingers</a:t>
            </a:r>
            <a:r>
              <a:rPr lang="en-US" altLang="zh-CN" dirty="0"/>
              <a:t> and the </a:t>
            </a:r>
            <a:r>
              <a:rPr lang="en-US" altLang="zh-CN" b="1" dirty="0"/>
              <a:t>wrist</a:t>
            </a:r>
            <a:r>
              <a:rPr lang="en-US" altLang="zh-CN" dirty="0"/>
              <a:t>, as well as the preparation of the </a:t>
            </a:r>
            <a:r>
              <a:rPr lang="en-US" altLang="zh-CN" b="1" dirty="0"/>
              <a:t>forearm components</a:t>
            </a:r>
            <a:r>
              <a:rPr lang="en-US" altLang="zh-CN" dirty="0"/>
              <a:t>.</a:t>
            </a:r>
          </a:p>
        </p:txBody>
      </p:sp>
      <p:sp>
        <p:nvSpPr>
          <p:cNvPr id="4" name="灯片编号占位符 3">
            <a:extLst>
              <a:ext uri="{FF2B5EF4-FFF2-40B4-BE49-F238E27FC236}">
                <a16:creationId xmlns:a16="http://schemas.microsoft.com/office/drawing/2014/main" id="{4D758F19-39AF-6DAF-EEFD-5B7B8D2D85A3}"/>
              </a:ext>
            </a:extLst>
          </p:cNvPr>
          <p:cNvSpPr>
            <a:spLocks noGrp="1"/>
          </p:cNvSpPr>
          <p:nvPr>
            <p:ph type="sldNum" sz="quarter" idx="5"/>
          </p:nvPr>
        </p:nvSpPr>
        <p:spPr/>
        <p:txBody>
          <a:bodyPr/>
          <a:lstStyle/>
          <a:p>
            <a:fld id="{2137A1E4-B503-4197-BF28-554B36E2F436}" type="slidenum">
              <a:rPr lang="zh-CN" altLang="en-US" smtClean="0"/>
              <a:t>3</a:t>
            </a:fld>
            <a:endParaRPr lang="zh-CN" altLang="en-US"/>
          </a:p>
        </p:txBody>
      </p:sp>
    </p:spTree>
    <p:extLst>
      <p:ext uri="{BB962C8B-B14F-4D97-AF65-F5344CB8AC3E}">
        <p14:creationId xmlns:p14="http://schemas.microsoft.com/office/powerpoint/2010/main" val="2654928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CF91F-1D2D-A3FF-A542-26B9685E85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3E1BFB-E456-D54C-5492-6AB187E9AB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28D679-9277-CF8F-0A13-A191076657D0}"/>
              </a:ext>
            </a:extLst>
          </p:cNvPr>
          <p:cNvSpPr>
            <a:spLocks noGrp="1"/>
          </p:cNvSpPr>
          <p:nvPr>
            <p:ph type="body" idx="1"/>
          </p:nvPr>
        </p:nvSpPr>
        <p:spPr/>
        <p:txBody>
          <a:bodyPr/>
          <a:lstStyle/>
          <a:p>
            <a:r>
              <a:rPr lang="en-US" altLang="zh-CN" dirty="0"/>
              <a:t>This slide shows the detailed assembly work, which mainly includes the </a:t>
            </a:r>
            <a:r>
              <a:rPr lang="en-US" altLang="zh-CN" b="1" dirty="0"/>
              <a:t>fingers, palm, and wrist</a:t>
            </a:r>
            <a:r>
              <a:rPr lang="en-US" altLang="zh-CN" dirty="0"/>
              <a:t>.</a:t>
            </a:r>
          </a:p>
          <a:p>
            <a:r>
              <a:rPr lang="en-US" altLang="zh-CN" b="1" dirty="0"/>
              <a:t>For the finger part</a:t>
            </a:r>
            <a:r>
              <a:rPr lang="en-US" altLang="zh-CN" dirty="0"/>
              <a:t>, we assembled </a:t>
            </a:r>
            <a:r>
              <a:rPr lang="en-US" altLang="zh-CN" b="1" dirty="0"/>
              <a:t>five fingers</a:t>
            </a:r>
            <a:r>
              <a:rPr lang="en-US" altLang="zh-CN" dirty="0"/>
              <a:t>. </a:t>
            </a:r>
          </a:p>
          <a:p>
            <a:r>
              <a:rPr lang="en-US" altLang="zh-CN" dirty="0"/>
              <a:t>Each finger has </a:t>
            </a:r>
            <a:r>
              <a:rPr lang="en-US" altLang="zh-CN" b="1" dirty="0"/>
              <a:t>four degrees of freedom</a:t>
            </a:r>
            <a:r>
              <a:rPr lang="en-US" altLang="zh-CN" dirty="0"/>
              <a:t>, which support </a:t>
            </a:r>
            <a:r>
              <a:rPr lang="en-US" altLang="zh-CN" b="1" dirty="0"/>
              <a:t>flexion, extension, and lateral motion</a:t>
            </a:r>
            <a:r>
              <a:rPr lang="en-US" altLang="zh-CN" dirty="0"/>
              <a:t>. </a:t>
            </a:r>
          </a:p>
          <a:p>
            <a:r>
              <a:rPr lang="en-US" altLang="zh-CN" dirty="0"/>
              <a:t>In total, the hand has </a:t>
            </a:r>
            <a:r>
              <a:rPr lang="en-US" altLang="zh-CN" b="1" dirty="0"/>
              <a:t>20 degrees of freedom</a:t>
            </a:r>
            <a:r>
              <a:rPr lang="en-US" altLang="zh-CN" dirty="0"/>
              <a:t> in the fingers.</a:t>
            </a:r>
          </a:p>
          <a:p>
            <a:r>
              <a:rPr lang="en-US" altLang="zh-CN" b="1" dirty="0">
                <a:solidFill>
                  <a:srgbClr val="FF0000"/>
                </a:solidFill>
              </a:rPr>
              <a:t>For the wrist part</a:t>
            </a:r>
            <a:r>
              <a:rPr lang="en-US" altLang="zh-CN" dirty="0"/>
              <a:t>, we installed several key components, such as </a:t>
            </a:r>
            <a:r>
              <a:rPr lang="en-US" altLang="zh-CN" b="1" dirty="0"/>
              <a:t>springs</a:t>
            </a:r>
            <a:r>
              <a:rPr lang="en-US" altLang="zh-CN" dirty="0"/>
              <a:t> and </a:t>
            </a:r>
            <a:r>
              <a:rPr lang="en-US" altLang="zh-CN" b="1" dirty="0"/>
              <a:t>motors</a:t>
            </a:r>
            <a:r>
              <a:rPr lang="en-US" altLang="zh-CN" dirty="0"/>
              <a:t>. </a:t>
            </a:r>
          </a:p>
          <a:p>
            <a:r>
              <a:rPr lang="en-US" altLang="zh-CN" dirty="0"/>
              <a:t>The springs help keep the hand in a </a:t>
            </a:r>
            <a:r>
              <a:rPr lang="en-US" altLang="zh-CN" b="1" dirty="0"/>
              <a:t>straightened position</a:t>
            </a:r>
            <a:r>
              <a:rPr lang="en-US" altLang="zh-CN" dirty="0"/>
              <a:t>, while the motors provide the driving force for the </a:t>
            </a:r>
            <a:r>
              <a:rPr lang="en-US" altLang="zh-CN" b="1" dirty="0"/>
              <a:t>lateral movement of the fingers</a:t>
            </a:r>
            <a:r>
              <a:rPr lang="en-US" altLang="zh-CN" dirty="0"/>
              <a:t>.</a:t>
            </a:r>
          </a:p>
          <a:p>
            <a:r>
              <a:rPr lang="en-US" altLang="zh-CN" b="1" dirty="0"/>
              <a:t>The wrist </a:t>
            </a:r>
            <a:r>
              <a:rPr lang="en-US" altLang="zh-CN" dirty="0"/>
              <a:t>supports </a:t>
            </a:r>
            <a:r>
              <a:rPr lang="en-US" altLang="zh-CN" b="1" dirty="0"/>
              <a:t>pitch and yaw</a:t>
            </a:r>
            <a:r>
              <a:rPr lang="en-US" altLang="zh-CN" dirty="0"/>
              <a:t>, but it does </a:t>
            </a:r>
            <a:r>
              <a:rPr lang="en-US" altLang="zh-CN" b="1" dirty="0"/>
              <a:t>not support rotation</a:t>
            </a:r>
            <a:r>
              <a:rPr lang="en-US" altLang="zh-CN" dirty="0"/>
              <a:t>. Therefore, the wrist has </a:t>
            </a:r>
            <a:r>
              <a:rPr lang="en-US" altLang="zh-CN" b="1" dirty="0"/>
              <a:t>two degrees of freedom</a:t>
            </a:r>
            <a:r>
              <a:rPr lang="en-US" altLang="zh-CN" dirty="0"/>
              <a:t>.</a:t>
            </a:r>
          </a:p>
        </p:txBody>
      </p:sp>
      <p:sp>
        <p:nvSpPr>
          <p:cNvPr id="4" name="灯片编号占位符 3">
            <a:extLst>
              <a:ext uri="{FF2B5EF4-FFF2-40B4-BE49-F238E27FC236}">
                <a16:creationId xmlns:a16="http://schemas.microsoft.com/office/drawing/2014/main" id="{E13BDD33-8A0D-E770-123D-5C694240DEE5}"/>
              </a:ext>
            </a:extLst>
          </p:cNvPr>
          <p:cNvSpPr>
            <a:spLocks noGrp="1"/>
          </p:cNvSpPr>
          <p:nvPr>
            <p:ph type="sldNum" sz="quarter" idx="5"/>
          </p:nvPr>
        </p:nvSpPr>
        <p:spPr/>
        <p:txBody>
          <a:bodyPr/>
          <a:lstStyle/>
          <a:p>
            <a:fld id="{2137A1E4-B503-4197-BF28-554B36E2F436}" type="slidenum">
              <a:rPr lang="zh-CN" altLang="en-US" smtClean="0"/>
              <a:t>4</a:t>
            </a:fld>
            <a:endParaRPr lang="zh-CN" altLang="en-US"/>
          </a:p>
        </p:txBody>
      </p:sp>
    </p:spTree>
    <p:extLst>
      <p:ext uri="{BB962C8B-B14F-4D97-AF65-F5344CB8AC3E}">
        <p14:creationId xmlns:p14="http://schemas.microsoft.com/office/powerpoint/2010/main" val="464002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This slide shows our current progress in electronics and embedded testing.</a:t>
            </a:r>
            <a:br>
              <a:rPr lang="en-US" altLang="zh-CN" dirty="0"/>
            </a:br>
            <a:r>
              <a:rPr lang="en-US" altLang="zh-CN" dirty="0"/>
              <a:t>So far, we have completed the PCB soldering and the preparation of the control board. We have also finished firmware flashing for the controller board and expanded the related circuit connections for hardware testing.</a:t>
            </a:r>
          </a:p>
          <a:p>
            <a:r>
              <a:rPr lang="en-US" altLang="zh-CN" dirty="0"/>
              <a:t>At the current stage, the control board can be programmed successfully, and the basic circuit expansion has already been completed. This means that the hardware platform is now ready for the next stage of actuator-level testing.</a:t>
            </a:r>
          </a:p>
          <a:p>
            <a:r>
              <a:rPr lang="en-US" altLang="zh-CN" dirty="0"/>
              <a:t>Our next step is to connect the board to the servo system, verify the signal output and actuator response, and continue the integrated debugging together with the mechanical structure.</a:t>
            </a:r>
          </a:p>
          <a:p>
            <a:endParaRPr lang="zh-CN" altLang="en-US" dirty="0"/>
          </a:p>
        </p:txBody>
      </p:sp>
      <p:sp>
        <p:nvSpPr>
          <p:cNvPr id="4" name="灯片编号占位符 3"/>
          <p:cNvSpPr>
            <a:spLocks noGrp="1"/>
          </p:cNvSpPr>
          <p:nvPr>
            <p:ph type="sldNum" sz="quarter" idx="5"/>
          </p:nvPr>
        </p:nvSpPr>
        <p:spPr/>
        <p:txBody>
          <a:bodyPr/>
          <a:lstStyle/>
          <a:p>
            <a:fld id="{2137A1E4-B503-4197-BF28-554B36E2F436}" type="slidenum">
              <a:rPr lang="zh-CN" altLang="en-US" smtClean="0"/>
              <a:t>5</a:t>
            </a:fld>
            <a:endParaRPr lang="zh-CN" altLang="en-US"/>
          </a:p>
        </p:txBody>
      </p:sp>
    </p:spTree>
    <p:extLst>
      <p:ext uri="{BB962C8B-B14F-4D97-AF65-F5344CB8AC3E}">
        <p14:creationId xmlns:p14="http://schemas.microsoft.com/office/powerpoint/2010/main" val="3525741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DD36D-186B-2577-45CF-FBB6CAA1D9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056921-171C-B2E2-2572-32F9CE5C0E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9E1CE2-B616-0AC9-77E5-5B457DC5F7A2}"/>
              </a:ext>
            </a:extLst>
          </p:cNvPr>
          <p:cNvSpPr>
            <a:spLocks noGrp="1"/>
          </p:cNvSpPr>
          <p:nvPr>
            <p:ph type="body" idx="1"/>
          </p:nvPr>
        </p:nvSpPr>
        <p:spPr/>
        <p:txBody>
          <a:bodyPr/>
          <a:lstStyle/>
          <a:p>
            <a:r>
              <a:rPr lang="en-US" altLang="zh-CN" b="1" dirty="0"/>
              <a:t>This slide shows our current progress in RL learning and environment setup.</a:t>
            </a:r>
            <a:br>
              <a:rPr lang="en-US" altLang="zh-CN" dirty="0"/>
            </a:br>
            <a:r>
              <a:rPr lang="en-US" altLang="zh-CN" dirty="0"/>
              <a:t>At this stage, we are first studying the basic concepts of reinforcement learning, especially how to define the state, action, and reward for dexterous hand control.</a:t>
            </a:r>
          </a:p>
          <a:p>
            <a:r>
              <a:rPr lang="en-US" altLang="zh-CN" dirty="0"/>
              <a:t>At the same time, we have started building the simulation environment in </a:t>
            </a:r>
            <a:r>
              <a:rPr lang="en-US" altLang="zh-CN" dirty="0" err="1"/>
              <a:t>MuJoCo</a:t>
            </a:r>
            <a:r>
              <a:rPr lang="en-US" altLang="zh-CN" dirty="0"/>
              <a:t>. The current workflow is to convert the dexterous hand model from the ROS URDF description into the </a:t>
            </a:r>
            <a:r>
              <a:rPr lang="en-US" altLang="zh-CN" dirty="0" err="1"/>
              <a:t>MuJoCo</a:t>
            </a:r>
            <a:r>
              <a:rPr lang="en-US" altLang="zh-CN" dirty="0"/>
              <a:t> XML format, and then import the converted model into </a:t>
            </a:r>
            <a:r>
              <a:rPr lang="en-US" altLang="zh-CN" dirty="0" err="1"/>
              <a:t>MuJoCo</a:t>
            </a:r>
            <a:r>
              <a:rPr lang="en-US" altLang="zh-CN" dirty="0"/>
              <a:t>.</a:t>
            </a:r>
          </a:p>
          <a:p>
            <a:r>
              <a:rPr lang="en-US" altLang="zh-CN" dirty="0"/>
              <a:t>This provides the foundation for later validation of the hand model, environment refinement, and preliminary RL experiments for hand motion control.</a:t>
            </a:r>
          </a:p>
        </p:txBody>
      </p:sp>
      <p:sp>
        <p:nvSpPr>
          <p:cNvPr id="4" name="灯片编号占位符 3">
            <a:extLst>
              <a:ext uri="{FF2B5EF4-FFF2-40B4-BE49-F238E27FC236}">
                <a16:creationId xmlns:a16="http://schemas.microsoft.com/office/drawing/2014/main" id="{1E286E1E-6FAD-7C7B-742C-1D9801CA4675}"/>
              </a:ext>
            </a:extLst>
          </p:cNvPr>
          <p:cNvSpPr>
            <a:spLocks noGrp="1"/>
          </p:cNvSpPr>
          <p:nvPr>
            <p:ph type="sldNum" sz="quarter" idx="5"/>
          </p:nvPr>
        </p:nvSpPr>
        <p:spPr/>
        <p:txBody>
          <a:bodyPr/>
          <a:lstStyle/>
          <a:p>
            <a:fld id="{2137A1E4-B503-4197-BF28-554B36E2F436}" type="slidenum">
              <a:rPr lang="zh-CN" altLang="en-US" smtClean="0"/>
              <a:t>6</a:t>
            </a:fld>
            <a:endParaRPr lang="zh-CN" altLang="en-US"/>
          </a:p>
        </p:txBody>
      </p:sp>
    </p:spTree>
    <p:extLst>
      <p:ext uri="{BB962C8B-B14F-4D97-AF65-F5344CB8AC3E}">
        <p14:creationId xmlns:p14="http://schemas.microsoft.com/office/powerpoint/2010/main" val="1220444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F867-AD56-BF3C-C2DF-961A8A5E70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868458-0FD6-5A13-68B1-7EAF6A3C8DD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95A7A18-40CC-7CE9-23DB-E5FE5F206AFD}"/>
              </a:ext>
            </a:extLst>
          </p:cNvPr>
          <p:cNvSpPr>
            <a:spLocks noGrp="1"/>
          </p:cNvSpPr>
          <p:nvPr>
            <p:ph type="body" idx="1"/>
          </p:nvPr>
        </p:nvSpPr>
        <p:spPr/>
        <p:txBody>
          <a:bodyPr/>
          <a:lstStyle/>
          <a:p>
            <a:r>
              <a:rPr lang="en-US" altLang="zh-CN" sz="2800" b="1" dirty="0"/>
              <a:t>This slide summarizes our next step plan and expected final outcomes.</a:t>
            </a:r>
            <a:br>
              <a:rPr lang="en-US" altLang="zh-CN" sz="2800" dirty="0"/>
            </a:br>
            <a:r>
              <a:rPr lang="en-US" altLang="zh-CN" sz="2800" dirty="0"/>
              <a:t>In the next stage, we will continue working on three areas: mechanical assembly, electronics integration, and RL or intelligent control exploration.</a:t>
            </a:r>
          </a:p>
          <a:p>
            <a:r>
              <a:rPr lang="en-US" altLang="zh-CN" sz="2800" dirty="0"/>
              <a:t>Our expected outcome is to build a functional dexterous hand prototype, verify basic actuator control and hand motion, and complete an initial simulation-to-hardware validation of the </a:t>
            </a:r>
            <a:r>
              <a:rPr lang="en-US" altLang="zh-CN" sz="2800" dirty="0" err="1"/>
              <a:t>DexHand</a:t>
            </a:r>
            <a:r>
              <a:rPr lang="en-US" altLang="zh-CN" sz="2800" dirty="0"/>
              <a:t> workflow.</a:t>
            </a:r>
          </a:p>
          <a:p>
            <a:r>
              <a:rPr lang="en-US" altLang="zh-CN" sz="2800" dirty="0"/>
              <a:t>The timeline below shows the remaining schedule from the interim report to the final presentation and final report submission.</a:t>
            </a:r>
          </a:p>
        </p:txBody>
      </p:sp>
      <p:sp>
        <p:nvSpPr>
          <p:cNvPr id="4" name="灯片编号占位符 3">
            <a:extLst>
              <a:ext uri="{FF2B5EF4-FFF2-40B4-BE49-F238E27FC236}">
                <a16:creationId xmlns:a16="http://schemas.microsoft.com/office/drawing/2014/main" id="{32933EC4-7F1A-536C-81B4-34F7FC715AF9}"/>
              </a:ext>
            </a:extLst>
          </p:cNvPr>
          <p:cNvSpPr>
            <a:spLocks noGrp="1"/>
          </p:cNvSpPr>
          <p:nvPr>
            <p:ph type="sldNum" sz="quarter" idx="5"/>
          </p:nvPr>
        </p:nvSpPr>
        <p:spPr/>
        <p:txBody>
          <a:bodyPr/>
          <a:lstStyle/>
          <a:p>
            <a:fld id="{2137A1E4-B503-4197-BF28-554B36E2F436}" type="slidenum">
              <a:rPr lang="zh-CN" altLang="en-US" smtClean="0"/>
              <a:t>7</a:t>
            </a:fld>
            <a:endParaRPr lang="zh-CN" altLang="en-US"/>
          </a:p>
        </p:txBody>
      </p:sp>
    </p:spTree>
    <p:extLst>
      <p:ext uri="{BB962C8B-B14F-4D97-AF65-F5344CB8AC3E}">
        <p14:creationId xmlns:p14="http://schemas.microsoft.com/office/powerpoint/2010/main" val="173234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6B06-E31D-091E-99BA-D89A99CAB7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437264-326C-B5B5-64DC-1E75C25B38C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C62E9-FD24-7D46-3C03-CD3235CE197A}"/>
              </a:ext>
            </a:extLst>
          </p:cNvPr>
          <p:cNvSpPr>
            <a:spLocks noGrp="1"/>
          </p:cNvSpPr>
          <p:nvPr>
            <p:ph type="body" idx="1"/>
          </p:nvPr>
        </p:nvSpPr>
        <p:spPr/>
        <p:txBody>
          <a:bodyPr/>
          <a:lstStyle/>
          <a:p>
            <a:r>
              <a:rPr lang="en-US" altLang="zh-CN" dirty="0"/>
              <a:t>This slide shows our material purchasing progress.</a:t>
            </a:r>
            <a:br>
              <a:rPr lang="en-US" altLang="zh-CN" dirty="0"/>
            </a:br>
            <a:r>
              <a:rPr lang="en-US" altLang="zh-CN" dirty="0"/>
              <a:t>Compared with our original plan, we had to buy some extra parts during assembly that were not included in the BOM, which caused an additional cost of around 200 RMB.</a:t>
            </a:r>
            <a:br>
              <a:rPr lang="en-US" altLang="zh-CN" dirty="0"/>
            </a:br>
            <a:r>
              <a:rPr lang="en-US" altLang="zh-CN" dirty="0"/>
              <a:t>Overall, all the required parts are now ready.</a:t>
            </a:r>
            <a:br>
              <a:rPr lang="en-US" altLang="zh-CN" dirty="0"/>
            </a:br>
            <a:r>
              <a:rPr lang="en-US" altLang="zh-CN" dirty="0"/>
              <a:t>We will try to finish the assembly as soon as possible and then develop different functions based on the dexterous hand.</a:t>
            </a:r>
            <a:endParaRPr lang="zh-CN" altLang="en-US" dirty="0"/>
          </a:p>
        </p:txBody>
      </p:sp>
      <p:sp>
        <p:nvSpPr>
          <p:cNvPr id="4" name="灯片编号占位符 3">
            <a:extLst>
              <a:ext uri="{FF2B5EF4-FFF2-40B4-BE49-F238E27FC236}">
                <a16:creationId xmlns:a16="http://schemas.microsoft.com/office/drawing/2014/main" id="{BE4ECB92-E0F5-9115-ED87-01234A974FA8}"/>
              </a:ext>
            </a:extLst>
          </p:cNvPr>
          <p:cNvSpPr>
            <a:spLocks noGrp="1"/>
          </p:cNvSpPr>
          <p:nvPr>
            <p:ph type="sldNum" sz="quarter" idx="5"/>
          </p:nvPr>
        </p:nvSpPr>
        <p:spPr/>
        <p:txBody>
          <a:bodyPr/>
          <a:lstStyle/>
          <a:p>
            <a:fld id="{2137A1E4-B503-4197-BF28-554B36E2F436}" type="slidenum">
              <a:rPr lang="zh-CN" altLang="en-US" smtClean="0"/>
              <a:t>8</a:t>
            </a:fld>
            <a:endParaRPr lang="zh-CN" altLang="en-US"/>
          </a:p>
        </p:txBody>
      </p:sp>
    </p:spTree>
    <p:extLst>
      <p:ext uri="{BB962C8B-B14F-4D97-AF65-F5344CB8AC3E}">
        <p14:creationId xmlns:p14="http://schemas.microsoft.com/office/powerpoint/2010/main" val="3537906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37A1E4-B503-4197-BF28-554B36E2F436}" type="slidenum">
              <a:rPr lang="zh-CN" altLang="en-US" smtClean="0"/>
              <a:t>9</a:t>
            </a:fld>
            <a:endParaRPr lang="zh-CN" altLang="en-US"/>
          </a:p>
        </p:txBody>
      </p:sp>
    </p:spTree>
    <p:extLst>
      <p:ext uri="{BB962C8B-B14F-4D97-AF65-F5344CB8AC3E}">
        <p14:creationId xmlns:p14="http://schemas.microsoft.com/office/powerpoint/2010/main" val="2761588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3926A-2BE4-4C26-FC48-D57C2859B6E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F74AB20-49B4-6419-5B3B-650ACA4D53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B8D0660-116B-2FB3-1358-F0355A98CB37}"/>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C670D287-3934-DC1D-EF12-27F6EDB61C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5C46AA-61D2-6DC1-1877-95F27A9BA74D}"/>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762920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3E277-B6E3-5A90-997A-002D0FB39C0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8F0EB9B-99FE-EFF2-958E-677734E5B65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BF44DE7-9953-A9DC-39E0-B751DFF0678A}"/>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9920A310-527A-3F8B-5463-D19E421DFAC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5F7F1D-C3AA-2D5E-16A5-D609E4C9A5B5}"/>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3596293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27C798-AECE-AFD8-2DE8-5E992ADE6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4CCAE3F-2850-A30E-B480-6DB791CF2B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2E587FA-3162-C656-4DD0-49CD890B2B2D}"/>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AA9291C8-071A-54C5-847A-4CCEA2FB7B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312893-A38B-A86D-9011-5A4525E6428E}"/>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2352177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75A8B8-1449-EFC2-FCC1-E1EB0866456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BE184A6-5D1D-602C-8358-2C6A99ABBD1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A2C1A1E-3F88-E665-2CC1-22A7237A9B1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194717C-3444-0C69-6277-04A9C07B61A9}"/>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6" name="页脚占位符 5">
            <a:extLst>
              <a:ext uri="{FF2B5EF4-FFF2-40B4-BE49-F238E27FC236}">
                <a16:creationId xmlns:a16="http://schemas.microsoft.com/office/drawing/2014/main" id="{48C9B8B5-47AF-6DD7-3E3B-ADD99AAFB8E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622B62-6BC7-10CD-99BF-ABDA56937095}"/>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1314266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092EE5-7516-301A-3850-53FE144ACF9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D957068-D46A-88AA-8315-AC3A574475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1B45E6E-393A-CFDE-0277-29B3C5E4A0D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CEEE296-EC2F-6E33-FC48-59542708FA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B391B44-89E0-B8BD-2CC6-8B759886E6F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153675-BDFB-5B95-4AD7-606D17B730F0}"/>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8" name="页脚占位符 7">
            <a:extLst>
              <a:ext uri="{FF2B5EF4-FFF2-40B4-BE49-F238E27FC236}">
                <a16:creationId xmlns:a16="http://schemas.microsoft.com/office/drawing/2014/main" id="{FDC932C1-ECCE-9A3C-AA9A-DDB2C36A7F3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DE9C11C-DF26-D55B-743C-AB956EAE8DF1}"/>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806077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A592BB-4B95-C781-5769-7FA571F1563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E1ADE03-6662-6F3E-DBFA-E5AFF1F8EB38}"/>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4" name="页脚占位符 3">
            <a:extLst>
              <a:ext uri="{FF2B5EF4-FFF2-40B4-BE49-F238E27FC236}">
                <a16:creationId xmlns:a16="http://schemas.microsoft.com/office/drawing/2014/main" id="{1C465890-BC6C-4CB7-CFFD-773DEC67AF3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D0BB05E-EF61-5335-0EC1-875256A6BAA9}"/>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851154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D73F30A-9F4E-1C2C-FD63-86BABD9247FB}"/>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3" name="页脚占位符 2">
            <a:extLst>
              <a:ext uri="{FF2B5EF4-FFF2-40B4-BE49-F238E27FC236}">
                <a16:creationId xmlns:a16="http://schemas.microsoft.com/office/drawing/2014/main" id="{5666617A-7CF7-4134-DA93-DBEDEC7B2CF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E1BFC14-A7E8-ED60-0F26-7351FD923AC1}"/>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1117968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077FB2-1801-1FB8-A444-ED079417E0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F864E1B-7F14-7AD2-5C98-5CF17CFCB1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8BDF051-86DF-BC85-0433-B9E718E690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493F6FC-BF89-538C-BE3B-B5C3213EB62A}"/>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6" name="页脚占位符 5">
            <a:extLst>
              <a:ext uri="{FF2B5EF4-FFF2-40B4-BE49-F238E27FC236}">
                <a16:creationId xmlns:a16="http://schemas.microsoft.com/office/drawing/2014/main" id="{A8ECDE26-EC54-CA50-F760-9889D3C269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0C15F91-DC9E-0F38-99A7-F8D6022C7D4E}"/>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3229184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F73DB-5127-7F5B-215B-87BF067B66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815B829-6EC8-7BDD-F0DE-A20F9081F6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31E849D-7087-3E19-2EA9-F8D137F149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A39BBD-0E4D-AB0D-B59F-3284B2E92FB6}"/>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6" name="页脚占位符 5">
            <a:extLst>
              <a:ext uri="{FF2B5EF4-FFF2-40B4-BE49-F238E27FC236}">
                <a16:creationId xmlns:a16="http://schemas.microsoft.com/office/drawing/2014/main" id="{4BA4C76C-0F91-B419-1828-E17E44E85E8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5EB465E-1C9F-9DB5-4DB7-540A3D39EED8}"/>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1870065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21C385-882F-A585-5F72-03B7190C5C0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51B85C2-10E1-6C02-301A-73813E486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90AA61-B15F-C1D4-FB47-2E064FBE1636}"/>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43956D0D-3FCE-CD81-BE10-9F1EDF25FB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77E141-F1A8-1A7F-BA5F-F1BC372BB039}"/>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1563448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0716F1A-2763-B79C-06FB-A6F5D31CDF0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0F4B474-9FAD-0691-ADD4-D7B38507007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3CD46DA-DFE2-12C1-8BEE-E4C0BC226B69}"/>
              </a:ext>
            </a:extLst>
          </p:cNvPr>
          <p:cNvSpPr>
            <a:spLocks noGrp="1"/>
          </p:cNvSpPr>
          <p:nvPr>
            <p:ph type="dt" sz="half" idx="10"/>
          </p:nvPr>
        </p:nvSpPr>
        <p:spPr/>
        <p:txBody>
          <a:bodyPr/>
          <a:lstStyle/>
          <a:p>
            <a:fld id="{60775215-7F67-4382-B36D-EFB844D581DE}"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53352AB3-86F0-0C2F-389C-E5E5012F0D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C53B18-B71D-687F-5B06-2BB810FA59D4}"/>
              </a:ext>
            </a:extLst>
          </p:cNvPr>
          <p:cNvSpPr>
            <a:spLocks noGrp="1"/>
          </p:cNvSpPr>
          <p:nvPr>
            <p:ph type="sldNum" sz="quarter" idx="12"/>
          </p:nvPr>
        </p:nvSpPr>
        <p:spPr/>
        <p:txBody>
          <a:body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1390442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E955FA3-87A0-DBAB-53DE-4EDCFB5D5B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93D75C6-16B4-34C3-C749-754E19342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D18D05-9B37-9C46-0248-2B1F8B27CC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775215-7F67-4382-B36D-EFB844D581DE}"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A7E2F42C-67F8-7E37-D389-85DA123D72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534CD13-85BB-C8AD-D4D7-61CA17321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50FDD3-49F4-4D83-9E33-89C9535B13BD}" type="slidenum">
              <a:rPr lang="zh-CN" altLang="en-US" smtClean="0"/>
              <a:t>‹#›</a:t>
            </a:fld>
            <a:endParaRPr lang="zh-CN" altLang="en-US"/>
          </a:p>
        </p:txBody>
      </p:sp>
    </p:spTree>
    <p:extLst>
      <p:ext uri="{BB962C8B-B14F-4D97-AF65-F5344CB8AC3E}">
        <p14:creationId xmlns:p14="http://schemas.microsoft.com/office/powerpoint/2010/main" val="161993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59B4DD59-BD5A-B827-13ED-04FBEDD14983}"/>
              </a:ext>
            </a:extLst>
          </p:cNvPr>
          <p:cNvSpPr/>
          <p:nvPr/>
        </p:nvSpPr>
        <p:spPr>
          <a:xfrm>
            <a:off x="0" y="0"/>
            <a:ext cx="12192000" cy="6858000"/>
          </a:xfrm>
          <a:prstGeom prst="rect">
            <a:avLst/>
          </a:prstGeom>
          <a:solidFill>
            <a:srgbClr val="0F1C45">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4" name="TextBox 3"/>
          <p:cNvSpPr txBox="1"/>
          <p:nvPr/>
        </p:nvSpPr>
        <p:spPr>
          <a:xfrm>
            <a:off x="418055" y="1894778"/>
            <a:ext cx="11373472" cy="1920526"/>
          </a:xfrm>
          <a:prstGeom prst="rect">
            <a:avLst/>
          </a:prstGeom>
          <a:noFill/>
        </p:spPr>
        <p:txBody>
          <a:bodyPr wrap="square" lIns="36576" tIns="36576" rIns="36576" bIns="36576" anchor="t">
            <a:spAutoFit/>
          </a:bodyPr>
          <a:lstStyle/>
          <a:p>
            <a:pPr algn="ctr">
              <a:defRPr/>
            </a:pPr>
            <a:r>
              <a:rPr lang="en-US" sz="6000" b="1" dirty="0">
                <a:solidFill>
                  <a:schemeClr val="accent4">
                    <a:lumMod val="60000"/>
                    <a:lumOff val="40000"/>
                  </a:schemeClr>
                </a:solidFill>
                <a:latin typeface="Eras Demi ITC" panose="020B0805030504020804" pitchFamily="34" charset="0"/>
                <a:ea typeface="阿里巴巴普惠体 2.0 95 ExtraBold" panose="00020600040101010101" pitchFamily="18" charset="-122"/>
              </a:rPr>
              <a:t>Development and Validation of a Dexterous Hand System</a:t>
            </a:r>
            <a:endParaRPr sz="6000" b="1" dirty="0">
              <a:solidFill>
                <a:schemeClr val="accent4">
                  <a:lumMod val="60000"/>
                  <a:lumOff val="40000"/>
                </a:schemeClr>
              </a:solidFill>
              <a:latin typeface="Eras Demi ITC" panose="020B0805030504020804" pitchFamily="34" charset="0"/>
              <a:ea typeface="阿里巴巴普惠体 2.0 95 ExtraBold" panose="00020600040101010101" pitchFamily="18" charset="-122"/>
            </a:endParaRPr>
          </a:p>
        </p:txBody>
      </p:sp>
      <p:sp>
        <p:nvSpPr>
          <p:cNvPr id="5" name="灯片编号占位符 4">
            <a:extLst>
              <a:ext uri="{FF2B5EF4-FFF2-40B4-BE49-F238E27FC236}">
                <a16:creationId xmlns:a16="http://schemas.microsoft.com/office/drawing/2014/main" id="{E8DC393A-8132-20BE-68B9-BE3E8DE3D007}"/>
              </a:ext>
            </a:extLst>
          </p:cNvPr>
          <p:cNvSpPr>
            <a:spLocks noGrp="1"/>
          </p:cNvSpPr>
          <p:nvPr>
            <p:ph type="sldNum" sz="quarter" idx="12"/>
          </p:nvPr>
        </p:nvSpPr>
        <p:spPr>
          <a:xfrm>
            <a:off x="9448800" y="6474308"/>
            <a:ext cx="2743200" cy="365125"/>
          </a:xfrm>
        </p:spPr>
        <p:txBody>
          <a:bodyPr/>
          <a:lstStyle/>
          <a:p>
            <a:fld id="{B902579E-E4E5-4A9F-9BB8-B4A9B8D6FEA4}" type="slidenum">
              <a:rPr lang="zh-CN" altLang="en-US" smtClean="0"/>
              <a:t>1</a:t>
            </a:fld>
            <a:endParaRPr lang="zh-CN" altLang="en-US" dirty="0"/>
          </a:p>
        </p:txBody>
      </p:sp>
      <p:pic>
        <p:nvPicPr>
          <p:cNvPr id="1028" name="Picture 4" descr="院长寄语 | 香港中文大学(深圳)金融EMBA">
            <a:extLst>
              <a:ext uri="{FF2B5EF4-FFF2-40B4-BE49-F238E27FC236}">
                <a16:creationId xmlns:a16="http://schemas.microsoft.com/office/drawing/2014/main" id="{19E4CC00-B42F-6E7C-EA2B-CBB3D3C3E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组合 7">
            <a:extLst>
              <a:ext uri="{FF2B5EF4-FFF2-40B4-BE49-F238E27FC236}">
                <a16:creationId xmlns:a16="http://schemas.microsoft.com/office/drawing/2014/main" id="{C9E682DC-5797-1324-2B14-E979A9339D74}"/>
              </a:ext>
            </a:extLst>
          </p:cNvPr>
          <p:cNvGrpSpPr/>
          <p:nvPr/>
        </p:nvGrpSpPr>
        <p:grpSpPr>
          <a:xfrm>
            <a:off x="2314330" y="1514108"/>
            <a:ext cx="7556172" cy="400110"/>
            <a:chOff x="2043212" y="1514003"/>
            <a:chExt cx="7556172" cy="400110"/>
          </a:xfrm>
        </p:grpSpPr>
        <p:sp>
          <p:nvSpPr>
            <p:cNvPr id="9" name="文本框 8">
              <a:extLst>
                <a:ext uri="{FF2B5EF4-FFF2-40B4-BE49-F238E27FC236}">
                  <a16:creationId xmlns:a16="http://schemas.microsoft.com/office/drawing/2014/main" id="{B6FE3FD2-CB17-1C4B-37A4-0EC394BD928B}"/>
                </a:ext>
              </a:extLst>
            </p:cNvPr>
            <p:cNvSpPr txBox="1"/>
            <p:nvPr/>
          </p:nvSpPr>
          <p:spPr>
            <a:xfrm>
              <a:off x="2442224" y="1514003"/>
              <a:ext cx="680524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bg1"/>
                  </a:solidFill>
                  <a:latin typeface="Times New Roman" panose="02020603050405020304" pitchFamily="18" charset="0"/>
                  <a:ea typeface="阿里巴巴普惠体 2.0 55 Regular" panose="00020600040101010101" pitchFamily="18" charset="-122"/>
                  <a:cs typeface="Times New Roman" panose="02020603050405020304" pitchFamily="18" charset="0"/>
                </a:rPr>
                <a:t>Interim Presentation</a:t>
              </a:r>
              <a:endParaRPr kumimoji="0" lang="zh-CN" altLang="en-US" i="0" u="none" strike="noStrike" kern="1200" cap="none" spc="0" normalizeH="0" baseline="0" noProof="0" dirty="0">
                <a:ln>
                  <a:noFill/>
                </a:ln>
                <a:solidFill>
                  <a:schemeClr val="bg1"/>
                </a:solidFill>
                <a:effectLst/>
                <a:uLnTx/>
                <a:uFillTx/>
                <a:latin typeface="Times New Roman" panose="02020603050405020304" pitchFamily="18" charset="0"/>
                <a:ea typeface="阿里巴巴普惠体 2.0 55 Regular" panose="00020600040101010101" pitchFamily="18"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C1F14671-D448-6E07-2EAF-180D54BA3ADA}"/>
                </a:ext>
              </a:extLst>
            </p:cNvPr>
            <p:cNvCxnSpPr>
              <a:cxnSpLocks/>
            </p:cNvCxnSpPr>
            <p:nvPr/>
          </p:nvCxnSpPr>
          <p:spPr>
            <a:xfrm flipV="1">
              <a:off x="2043212" y="1690062"/>
              <a:ext cx="2552292" cy="507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3F9D318-5292-A5BB-D893-E0234B9B9B28}"/>
                </a:ext>
              </a:extLst>
            </p:cNvPr>
            <p:cNvCxnSpPr>
              <a:cxnSpLocks/>
            </p:cNvCxnSpPr>
            <p:nvPr/>
          </p:nvCxnSpPr>
          <p:spPr>
            <a:xfrm flipV="1">
              <a:off x="7047092" y="1690062"/>
              <a:ext cx="2552292" cy="507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2" name="文本框 21">
            <a:extLst>
              <a:ext uri="{FF2B5EF4-FFF2-40B4-BE49-F238E27FC236}">
                <a16:creationId xmlns:a16="http://schemas.microsoft.com/office/drawing/2014/main" id="{A6FB110F-EA38-0715-5BAF-A6F4270AF0CE}"/>
              </a:ext>
            </a:extLst>
          </p:cNvPr>
          <p:cNvSpPr txBox="1"/>
          <p:nvPr/>
        </p:nvSpPr>
        <p:spPr>
          <a:xfrm>
            <a:off x="1994039" y="4568141"/>
            <a:ext cx="85612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chemeClr val="accent4">
                    <a:lumMod val="60000"/>
                    <a:lumOff val="40000"/>
                  </a:schemeClr>
                </a:solidFill>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Team Members</a:t>
            </a:r>
            <a:r>
              <a:rPr kumimoji="0" lang="en-US" altLang="zh-CN" sz="1800" b="1" i="0" u="none" strike="noStrike" kern="1200" cap="none" spc="0" normalizeH="0" baseline="0" noProof="0" dirty="0">
                <a:ln>
                  <a:noFill/>
                </a:ln>
                <a:solidFill>
                  <a:srgbClr val="FFC000"/>
                </a:solidFill>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Jincheng Tian, </a:t>
            </a:r>
            <a:r>
              <a:rPr lang="en-US" altLang="zh-CN" b="1" dirty="0" err="1">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GuangTian</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Liu, </a:t>
            </a:r>
            <a:r>
              <a:rPr lang="en-US" altLang="zh-CN" b="1" dirty="0" err="1">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ZhongHao</a:t>
            </a:r>
            <a:r>
              <a:rPr lang="en-US" altLang="zh-CN" b="1"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Zhao</a:t>
            </a:r>
            <a:endParaRPr lang="en-US" altLang="zh-CN" sz="1800" dirty="0">
              <a:solidFill>
                <a:prstClr val="white"/>
              </a:solidFill>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endParaRPr>
          </a:p>
        </p:txBody>
      </p:sp>
      <p:sp>
        <p:nvSpPr>
          <p:cNvPr id="24" name="文本框 23">
            <a:extLst>
              <a:ext uri="{FF2B5EF4-FFF2-40B4-BE49-F238E27FC236}">
                <a16:creationId xmlns:a16="http://schemas.microsoft.com/office/drawing/2014/main" id="{DCA729F3-96E6-0B28-1244-0743874B19D1}"/>
              </a:ext>
            </a:extLst>
          </p:cNvPr>
          <p:cNvSpPr txBox="1"/>
          <p:nvPr/>
        </p:nvSpPr>
        <p:spPr>
          <a:xfrm>
            <a:off x="2838334" y="6328433"/>
            <a:ext cx="6111024" cy="369332"/>
          </a:xfrm>
          <a:prstGeom prst="rect">
            <a:avLst/>
          </a:prstGeom>
          <a:noFill/>
        </p:spPr>
        <p:txBody>
          <a:bodyPr wrap="square">
            <a:spAutoFit/>
          </a:bodyPr>
          <a:lstStyle/>
          <a:p>
            <a:pPr lvl="0" algn="ctr">
              <a:defRPr/>
            </a:pPr>
            <a:r>
              <a:rPr lang="en-US" altLang="zh-CN" dirty="0">
                <a:solidFill>
                  <a:schemeClr val="bg1"/>
                </a:solidFill>
                <a:latin typeface="Times New Roman" panose="02020603050405020304" pitchFamily="18" charset="0"/>
                <a:cs typeface="Times New Roman" panose="02020603050405020304" pitchFamily="18" charset="0"/>
              </a:rPr>
              <a:t>2026/4/10</a:t>
            </a:r>
            <a:endParaRPr kumimoji="0" lang="zh-CN" altLang="en-US" i="0" u="none" strike="noStrike" kern="1200" cap="none" spc="0" normalizeH="0" baseline="0" noProof="0" dirty="0">
              <a:ln>
                <a:noFill/>
              </a:ln>
              <a:solidFill>
                <a:schemeClr val="bg1"/>
              </a:solidFill>
              <a:effectLst/>
              <a:uLnTx/>
              <a:uFillTx/>
              <a:latin typeface="Times New Roman" panose="02020603050405020304" pitchFamily="18" charset="0"/>
              <a:ea typeface="阿里巴巴普惠体 2.0 55 Regular" panose="00020600040101010101" pitchFamily="18" charset="-122"/>
              <a:cs typeface="Times New Roman" panose="02020603050405020304" pitchFamily="18" charset="0"/>
            </a:endParaRPr>
          </a:p>
        </p:txBody>
      </p:sp>
      <p:sp>
        <p:nvSpPr>
          <p:cNvPr id="25" name="文本框 24">
            <a:extLst>
              <a:ext uri="{FF2B5EF4-FFF2-40B4-BE49-F238E27FC236}">
                <a16:creationId xmlns:a16="http://schemas.microsoft.com/office/drawing/2014/main" id="{96AD25A8-4FA7-4C2B-8453-A9569C9B7470}"/>
              </a:ext>
            </a:extLst>
          </p:cNvPr>
          <p:cNvSpPr txBox="1"/>
          <p:nvPr/>
        </p:nvSpPr>
        <p:spPr>
          <a:xfrm>
            <a:off x="1701194" y="3722449"/>
            <a:ext cx="878961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3200" dirty="0">
                <a:solidFill>
                  <a:prstClr val="white"/>
                </a:solidFill>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a:t>
            </a:r>
            <a:r>
              <a:rPr lang="en-US" altLang="zh-CN" sz="2800" dirty="0">
                <a:solidFill>
                  <a:prstClr val="white"/>
                </a:solidFill>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 </a:t>
            </a:r>
            <a:r>
              <a:rPr lang="en-US" altLang="zh-CN" sz="2400" dirty="0">
                <a:solidFill>
                  <a:schemeClr val="bg1"/>
                </a:solidFill>
                <a:latin typeface="Times New Roman" panose="02020603050405020304" pitchFamily="18" charset="0"/>
                <a:ea typeface="阿里巴巴普惠体 2.0 55 Regular" panose="00020600040101010101" pitchFamily="18" charset="-122"/>
                <a:cs typeface="Times New Roman" panose="02020603050405020304" pitchFamily="18" charset="0"/>
              </a:rPr>
              <a:t>Dexhand Designed by The Robot Studio</a:t>
            </a:r>
            <a:r>
              <a:rPr kumimoji="0" lang="en-US" altLang="zh-CN" sz="3200" b="0" i="0" u="none" strike="noStrike" kern="1200" cap="none" spc="0" normalizeH="0" baseline="0" noProof="0" dirty="0">
                <a:ln>
                  <a:noFill/>
                </a:ln>
                <a:solidFill>
                  <a:prstClr val="white"/>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rPr>
              <a:t>···</a:t>
            </a:r>
            <a:endParaRPr kumimoji="0" lang="zh-CN" altLang="en-US" sz="2800" b="0" i="0" u="none" strike="noStrike" kern="1200" cap="none" spc="0" normalizeH="0" baseline="0" noProof="0" dirty="0">
              <a:ln>
                <a:noFill/>
              </a:ln>
              <a:solidFill>
                <a:prstClr val="white"/>
              </a:solidFill>
              <a:effectLst/>
              <a:uLnTx/>
              <a:uFillTx/>
              <a:latin typeface="阿里巴巴普惠体 2.0 75 SemiBold" panose="00020600040101010101" pitchFamily="18" charset="-122"/>
              <a:ea typeface="阿里巴巴普惠体 2.0 75 SemiBold" panose="00020600040101010101" pitchFamily="18" charset="-122"/>
              <a:cs typeface="阿里巴巴普惠体 2.0 75 SemiBold" panose="00020600040101010101" pitchFamily="18"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347D-3A15-C472-BAB8-152237CF7116}"/>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08643A4-395D-1F76-BBFB-5409DB960A68}"/>
              </a:ext>
            </a:extLst>
          </p:cNvPr>
          <p:cNvSpPr txBox="1"/>
          <p:nvPr/>
        </p:nvSpPr>
        <p:spPr>
          <a:xfrm>
            <a:off x="4037621" y="1714030"/>
            <a:ext cx="11389477" cy="3323987"/>
          </a:xfrm>
          <a:prstGeom prst="rect">
            <a:avLst/>
          </a:prstGeom>
          <a:noFill/>
        </p:spPr>
        <p:txBody>
          <a:bodyPr wrap="square">
            <a:spAutoFit/>
          </a:bodyPr>
          <a:lstStyle/>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Project Background</a:t>
            </a:r>
          </a:p>
          <a:p>
            <a:pPr marL="285750" indent="-285750">
              <a:buFont typeface="Arial" panose="020B0604020202020204" pitchFamily="34" charset="0"/>
              <a:buChar char="•"/>
            </a:pP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DexHand</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is used in this project as an open-source dexterous hand platform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The project combines simulation, hardware implementation, and intelligent control exploration </a:t>
            </a:r>
          </a:p>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Project Goal</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Reproduce the main workflow of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DexHand</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as a course project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Understand its mechanical, electronic, and control architecture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Prepare for later integrated testing and intelligent control development </a:t>
            </a:r>
          </a:p>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Main Work Packages</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Mechanical Assembly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Electronics and Embedded Testing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Simulation / RL Exploration </a:t>
            </a:r>
          </a:p>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Interim Progress Focus</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ROS2 simulation workflow reproduced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Hardware architecture and actuator selection analyzed </a:t>
            </a:r>
          </a:p>
          <a:p>
            <a:pPr marL="285750" indent="-285750">
              <a:buFont typeface="Arial" panose="020B0604020202020204" pitchFamily="34" charset="0"/>
              <a:buChar char="•"/>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Mechanical assembly and PCB preparation started </a:t>
            </a:r>
          </a:p>
        </p:txBody>
      </p:sp>
      <p:pic>
        <p:nvPicPr>
          <p:cNvPr id="1026" name="Picture 2" descr="DEXHAND-ROS">
            <a:extLst>
              <a:ext uri="{FF2B5EF4-FFF2-40B4-BE49-F238E27FC236}">
                <a16:creationId xmlns:a16="http://schemas.microsoft.com/office/drawing/2014/main" id="{5B65A486-2148-7712-64E6-C5B15100FA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4588"/>
          <a:stretch>
            <a:fillRect/>
          </a:stretch>
        </p:blipFill>
        <p:spPr bwMode="auto">
          <a:xfrm>
            <a:off x="8817267" y="3541203"/>
            <a:ext cx="3037996" cy="3185084"/>
          </a:xfrm>
          <a:prstGeom prst="rect">
            <a:avLst/>
          </a:prstGeom>
          <a:noFill/>
          <a:extLst>
            <a:ext uri="{909E8E84-426E-40DD-AFC4-6F175D3DCCD1}">
              <a14:hiddenFill xmlns:a14="http://schemas.microsoft.com/office/drawing/2010/main">
                <a:solidFill>
                  <a:srgbClr val="FFFFFF"/>
                </a:solidFill>
              </a14:hiddenFill>
            </a:ext>
          </a:extLst>
        </p:spPr>
      </p:pic>
      <p:sp>
        <p:nvSpPr>
          <p:cNvPr id="31" name="灯片编号占位符 30">
            <a:extLst>
              <a:ext uri="{FF2B5EF4-FFF2-40B4-BE49-F238E27FC236}">
                <a16:creationId xmlns:a16="http://schemas.microsoft.com/office/drawing/2014/main" id="{C305DB6D-6062-C097-ABC6-71A17CB84BB8}"/>
              </a:ext>
            </a:extLst>
          </p:cNvPr>
          <p:cNvSpPr>
            <a:spLocks noGrp="1"/>
          </p:cNvSpPr>
          <p:nvPr>
            <p:ph type="sldNum" sz="quarter" idx="12"/>
          </p:nvPr>
        </p:nvSpPr>
        <p:spPr>
          <a:xfrm>
            <a:off x="9448800" y="6492875"/>
            <a:ext cx="2743200" cy="365125"/>
          </a:xfrm>
        </p:spPr>
        <p:txBody>
          <a:bodyPr/>
          <a:lstStyle/>
          <a:p>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p:txBody>
      </p:sp>
      <p:pic>
        <p:nvPicPr>
          <p:cNvPr id="33" name="Picture 4" descr="院长寄语 | 香港中文大学(深圳)金融EMBA">
            <a:extLst>
              <a:ext uri="{FF2B5EF4-FFF2-40B4-BE49-F238E27FC236}">
                <a16:creationId xmlns:a16="http://schemas.microsoft.com/office/drawing/2014/main" id="{1FA7111C-4A8A-D27D-AFD2-D70C264486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33">
            <a:extLst>
              <a:ext uri="{FF2B5EF4-FFF2-40B4-BE49-F238E27FC236}">
                <a16:creationId xmlns:a16="http://schemas.microsoft.com/office/drawing/2014/main" id="{54C3E1DF-4E46-08F9-D296-89814EFA7736}"/>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Project </a:t>
            </a:r>
            <a:r>
              <a:rPr kumimoji="0" lang="en-US" altLang="zh-CN" sz="1800" b="0" i="0" u="none" strike="noStrike" kern="1200" cap="none" spc="0" normalizeH="0" baseline="0" noProof="0" dirty="0" err="1">
                <a:ln>
                  <a:noFill/>
                </a:ln>
                <a:solidFill>
                  <a:schemeClr val="tx1"/>
                </a:solidFill>
                <a:effectLst/>
                <a:uLnTx/>
                <a:uFillTx/>
                <a:latin typeface="Eras Demi ITC" panose="020B0805030504020804" pitchFamily="34" charset="0"/>
                <a:ea typeface="思源黑体 CN Normal" panose="020B0400000000000000" pitchFamily="34" charset="-122"/>
              </a:rPr>
              <a:t>OverView</a:t>
            </a:r>
            <a:endPar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35" name="矩形 34">
            <a:extLst>
              <a:ext uri="{FF2B5EF4-FFF2-40B4-BE49-F238E27FC236}">
                <a16:creationId xmlns:a16="http://schemas.microsoft.com/office/drawing/2014/main" id="{3F271C95-6AF5-B06E-3C21-AA2CCDEECF9E}"/>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prstClr val="white"/>
                </a:solidFill>
                <a:effectLst/>
                <a:uLnTx/>
                <a:uFillTx/>
                <a:latin typeface="Eras Demi ITC" panose="020B0805030504020804" pitchFamily="34" charset="0"/>
                <a:ea typeface="思源黑体 CN Bold" panose="020B0800000000000000" pitchFamily="34" charset="-122"/>
              </a:rPr>
              <a:t>Dexhand</a:t>
            </a:r>
            <a:endParaRPr kumimoji="0" lang="zh-CN" altLang="en-US"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cs typeface="Open Sans" panose="020B0606030504020204" pitchFamily="34" charset="0"/>
            </a:endParaRPr>
          </a:p>
        </p:txBody>
      </p:sp>
      <p:sp>
        <p:nvSpPr>
          <p:cNvPr id="39" name="文本框 38">
            <a:extLst>
              <a:ext uri="{FF2B5EF4-FFF2-40B4-BE49-F238E27FC236}">
                <a16:creationId xmlns:a16="http://schemas.microsoft.com/office/drawing/2014/main" id="{59017DCD-2E38-2480-C6BD-6B512BB2E55B}"/>
              </a:ext>
            </a:extLst>
          </p:cNvPr>
          <p:cNvSpPr txBox="1"/>
          <p:nvPr/>
        </p:nvSpPr>
        <p:spPr>
          <a:xfrm>
            <a:off x="336737" y="6567586"/>
            <a:ext cx="2638351" cy="307777"/>
          </a:xfrm>
          <a:prstGeom prst="rect">
            <a:avLst/>
          </a:prstGeom>
          <a:noFill/>
        </p:spPr>
        <p:txBody>
          <a:bodyPr wrap="none" rtlCol="0">
            <a:spAutoFit/>
          </a:bodyPr>
          <a:lstStyle/>
          <a:p>
            <a:r>
              <a:rPr lang="en-US" altLang="zh-CN" sz="1400" dirty="0">
                <a:latin typeface="Times New Roman" panose="02020603050405020304" pitchFamily="18" charset="0"/>
                <a:cs typeface="Times New Roman" panose="02020603050405020304" pitchFamily="18" charset="0"/>
              </a:rPr>
              <a:t>Source:</a:t>
            </a:r>
            <a:r>
              <a:rPr lang="zh-CN" altLang="en-US" sz="1400" dirty="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https://www.dexhand.org/</a:t>
            </a:r>
            <a:endParaRPr lang="zh-CN" altLang="en-US" sz="1400" dirty="0">
              <a:latin typeface="Times New Roman" panose="02020603050405020304" pitchFamily="18" charset="0"/>
              <a:cs typeface="Times New Roman" panose="02020603050405020304" pitchFamily="18" charset="0"/>
            </a:endParaRPr>
          </a:p>
        </p:txBody>
      </p:sp>
      <p:sp>
        <p:nvSpPr>
          <p:cNvPr id="58" name="Shape 4">
            <a:extLst>
              <a:ext uri="{FF2B5EF4-FFF2-40B4-BE49-F238E27FC236}">
                <a16:creationId xmlns:a16="http://schemas.microsoft.com/office/drawing/2014/main" id="{72055B2A-2278-C4AE-6E0F-7EA0FC3957D6}"/>
              </a:ext>
            </a:extLst>
          </p:cNvPr>
          <p:cNvSpPr/>
          <p:nvPr/>
        </p:nvSpPr>
        <p:spPr>
          <a:xfrm>
            <a:off x="619506" y="3102007"/>
            <a:ext cx="219456" cy="219456"/>
          </a:xfrm>
          <a:prstGeom prst="ellipse">
            <a:avLst/>
          </a:prstGeom>
          <a:solidFill>
            <a:srgbClr val="FFFFFF"/>
          </a:solidFill>
          <a:ln w="2540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59" name="Shape 9">
            <a:extLst>
              <a:ext uri="{FF2B5EF4-FFF2-40B4-BE49-F238E27FC236}">
                <a16:creationId xmlns:a16="http://schemas.microsoft.com/office/drawing/2014/main" id="{DAA63788-CF41-5810-242A-7CAD7FDA44A5}"/>
              </a:ext>
            </a:extLst>
          </p:cNvPr>
          <p:cNvSpPr/>
          <p:nvPr/>
        </p:nvSpPr>
        <p:spPr>
          <a:xfrm>
            <a:off x="619506" y="4232181"/>
            <a:ext cx="219456" cy="219456"/>
          </a:xfrm>
          <a:prstGeom prst="ellipse">
            <a:avLst/>
          </a:prstGeom>
          <a:solidFill>
            <a:srgbClr val="FFFFFF"/>
          </a:solidFill>
          <a:ln w="2540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60" name="Shape 14">
            <a:extLst>
              <a:ext uri="{FF2B5EF4-FFF2-40B4-BE49-F238E27FC236}">
                <a16:creationId xmlns:a16="http://schemas.microsoft.com/office/drawing/2014/main" id="{593EF81C-8C80-C19B-A4C6-65DBD60400A9}"/>
              </a:ext>
            </a:extLst>
          </p:cNvPr>
          <p:cNvSpPr/>
          <p:nvPr/>
        </p:nvSpPr>
        <p:spPr>
          <a:xfrm>
            <a:off x="619506" y="5422591"/>
            <a:ext cx="219456" cy="219456"/>
          </a:xfrm>
          <a:prstGeom prst="ellipse">
            <a:avLst/>
          </a:prstGeom>
          <a:solidFill>
            <a:srgbClr val="FFFFFF"/>
          </a:solidFill>
          <a:ln w="25400">
            <a:solidFill>
              <a:srgbClr val="245A8D"/>
            </a:solidFill>
            <a:prstDash val="solid"/>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61" name="Shape 22">
            <a:extLst>
              <a:ext uri="{FF2B5EF4-FFF2-40B4-BE49-F238E27FC236}">
                <a16:creationId xmlns:a16="http://schemas.microsoft.com/office/drawing/2014/main" id="{87407658-DA41-E2A1-C163-E3111F29E85A}"/>
              </a:ext>
            </a:extLst>
          </p:cNvPr>
          <p:cNvSpPr>
            <a:spLocks/>
          </p:cNvSpPr>
          <p:nvPr/>
        </p:nvSpPr>
        <p:spPr>
          <a:xfrm>
            <a:off x="138812" y="2237433"/>
            <a:ext cx="3597013" cy="3404613"/>
          </a:xfrm>
          <a:prstGeom prst="roundRect">
            <a:avLst>
              <a:gd name="adj" fmla="val 865"/>
            </a:avLst>
          </a:prstGeom>
          <a:solidFill>
            <a:srgbClr val="FFFFFF"/>
          </a:solidFill>
          <a:ln w="12700">
            <a:solidFill>
              <a:srgbClr val="C8D2DC"/>
            </a:solidFill>
            <a:prstDash val="solid"/>
          </a:ln>
          <a:effectLst>
            <a:outerShdw blurRad="15240" dist="6350" dir="2700000" algn="bl" rotWithShape="0">
              <a:srgbClr val="000000">
                <a:alpha val="12000"/>
              </a:srgbClr>
            </a:outerShdw>
          </a:effec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2" name="矩形: 圆角 61">
            <a:extLst>
              <a:ext uri="{FF2B5EF4-FFF2-40B4-BE49-F238E27FC236}">
                <a16:creationId xmlns:a16="http://schemas.microsoft.com/office/drawing/2014/main" id="{B0CF5037-761C-13D2-D950-169C18347E11}"/>
              </a:ext>
            </a:extLst>
          </p:cNvPr>
          <p:cNvSpPr/>
          <p:nvPr/>
        </p:nvSpPr>
        <p:spPr>
          <a:xfrm>
            <a:off x="221588" y="2371357"/>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Mechanical Assembly</a:t>
            </a:r>
          </a:p>
        </p:txBody>
      </p:sp>
      <p:sp>
        <p:nvSpPr>
          <p:cNvPr id="63" name="矩形: 圆角 62">
            <a:extLst>
              <a:ext uri="{FF2B5EF4-FFF2-40B4-BE49-F238E27FC236}">
                <a16:creationId xmlns:a16="http://schemas.microsoft.com/office/drawing/2014/main" id="{BAE3AA3D-F3CE-0010-0C06-A3AB3E812FF7}"/>
              </a:ext>
            </a:extLst>
          </p:cNvPr>
          <p:cNvSpPr/>
          <p:nvPr/>
        </p:nvSpPr>
        <p:spPr>
          <a:xfrm>
            <a:off x="221588" y="3643489"/>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Electronics &amp; Embedded Testing</a:t>
            </a:r>
          </a:p>
        </p:txBody>
      </p:sp>
      <p:sp>
        <p:nvSpPr>
          <p:cNvPr id="1024" name="矩形: 圆角 1023">
            <a:extLst>
              <a:ext uri="{FF2B5EF4-FFF2-40B4-BE49-F238E27FC236}">
                <a16:creationId xmlns:a16="http://schemas.microsoft.com/office/drawing/2014/main" id="{7AA5E069-A8D0-5CCE-1370-656869BF7731}"/>
              </a:ext>
            </a:extLst>
          </p:cNvPr>
          <p:cNvSpPr/>
          <p:nvPr/>
        </p:nvSpPr>
        <p:spPr>
          <a:xfrm>
            <a:off x="221588" y="4767855"/>
            <a:ext cx="3418115" cy="69756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Simulation</a:t>
            </a:r>
          </a:p>
        </p:txBody>
      </p:sp>
      <p:cxnSp>
        <p:nvCxnSpPr>
          <p:cNvPr id="1025" name="直接箭头连接符 1024">
            <a:extLst>
              <a:ext uri="{FF2B5EF4-FFF2-40B4-BE49-F238E27FC236}">
                <a16:creationId xmlns:a16="http://schemas.microsoft.com/office/drawing/2014/main" id="{E824EC0C-1057-1425-0154-42D15141D2D9}"/>
              </a:ext>
            </a:extLst>
          </p:cNvPr>
          <p:cNvCxnSpPr>
            <a:cxnSpLocks/>
            <a:stCxn id="62" idx="2"/>
            <a:endCxn id="63" idx="0"/>
          </p:cNvCxnSpPr>
          <p:nvPr/>
        </p:nvCxnSpPr>
        <p:spPr>
          <a:xfrm>
            <a:off x="1930646" y="3068919"/>
            <a:ext cx="0" cy="57457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027" name="直接箭头连接符 1026">
            <a:extLst>
              <a:ext uri="{FF2B5EF4-FFF2-40B4-BE49-F238E27FC236}">
                <a16:creationId xmlns:a16="http://schemas.microsoft.com/office/drawing/2014/main" id="{335BCC0B-DCBB-794E-8336-2082A046D955}"/>
              </a:ext>
            </a:extLst>
          </p:cNvPr>
          <p:cNvCxnSpPr>
            <a:cxnSpLocks/>
            <a:stCxn id="63" idx="2"/>
            <a:endCxn id="1024" idx="0"/>
          </p:cNvCxnSpPr>
          <p:nvPr/>
        </p:nvCxnSpPr>
        <p:spPr>
          <a:xfrm>
            <a:off x="1930646" y="4341051"/>
            <a:ext cx="0" cy="426804"/>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028" name="矩形 1027">
            <a:extLst>
              <a:ext uri="{FF2B5EF4-FFF2-40B4-BE49-F238E27FC236}">
                <a16:creationId xmlns:a16="http://schemas.microsoft.com/office/drawing/2014/main" id="{DD8B10BD-8EE5-374D-7560-338CC0CD8ED1}"/>
              </a:ext>
            </a:extLst>
          </p:cNvPr>
          <p:cNvSpPr/>
          <p:nvPr/>
        </p:nvSpPr>
        <p:spPr>
          <a:xfrm>
            <a:off x="138464" y="1714030"/>
            <a:ext cx="3597362" cy="3928017"/>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Eras Demi ITC" panose="020B0805030504020804" pitchFamily="34" charset="0"/>
              <a:ea typeface="等线" panose="02010600030101010101" pitchFamily="2" charset="-122"/>
            </a:endParaRPr>
          </a:p>
        </p:txBody>
      </p:sp>
      <p:sp>
        <p:nvSpPr>
          <p:cNvPr id="1029" name="矩形 1028">
            <a:extLst>
              <a:ext uri="{FF2B5EF4-FFF2-40B4-BE49-F238E27FC236}">
                <a16:creationId xmlns:a16="http://schemas.microsoft.com/office/drawing/2014/main" id="{F747E33C-D070-544F-9E03-E45123215087}"/>
              </a:ext>
            </a:extLst>
          </p:cNvPr>
          <p:cNvSpPr/>
          <p:nvPr/>
        </p:nvSpPr>
        <p:spPr>
          <a:xfrm>
            <a:off x="120684" y="1335947"/>
            <a:ext cx="3623967" cy="378083"/>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kumimoji="0" lang="en-US" altLang="zh-CN"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rPr>
              <a:t>Overall Workflow</a:t>
            </a:r>
            <a:endParaRPr kumimoji="0" lang="zh-CN" altLang="en-US" sz="1400" b="1" i="0" u="none" strike="noStrike" kern="1200" cap="none" spc="0" normalizeH="0" baseline="0" noProof="0" dirty="0">
              <a:ln>
                <a:noFill/>
              </a:ln>
              <a:solidFill>
                <a:srgbClr val="FFC000"/>
              </a:solidFill>
              <a:effectLst/>
              <a:uLnTx/>
              <a:uFillTx/>
              <a:latin typeface="Eras Demi ITC" panose="020B0805030504020804" pitchFamily="34" charset="0"/>
              <a:ea typeface="微软雅黑" panose="020B0503020204020204" pitchFamily="34" charset="-122"/>
            </a:endParaRPr>
          </a:p>
        </p:txBody>
      </p:sp>
    </p:spTree>
    <p:extLst>
      <p:ext uri="{BB962C8B-B14F-4D97-AF65-F5344CB8AC3E}">
        <p14:creationId xmlns:p14="http://schemas.microsoft.com/office/powerpoint/2010/main" val="3909022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CAE38-06F3-0CAF-0476-D1A5E01CEB0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C2ADF82-06AD-8BEB-FD40-BE2639AA3F1B}"/>
              </a:ext>
            </a:extLst>
          </p:cNvPr>
          <p:cNvSpPr>
            <a:spLocks noGrp="1"/>
          </p:cNvSpPr>
          <p:nvPr>
            <p:ph type="sldNum" sz="quarter" idx="12"/>
          </p:nvPr>
        </p:nvSpPr>
        <p:spPr>
          <a:xfrm>
            <a:off x="9444383" y="6472228"/>
            <a:ext cx="2743200" cy="365125"/>
          </a:xfrm>
        </p:spPr>
        <p:txBody>
          <a:bodyPr/>
          <a:lstStyle/>
          <a:p>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p:txBody>
      </p:sp>
      <p:pic>
        <p:nvPicPr>
          <p:cNvPr id="3" name="Picture 4" descr="院长寄语 | 香港中文大学(深圳)金融EMBA">
            <a:extLst>
              <a:ext uri="{FF2B5EF4-FFF2-40B4-BE49-F238E27FC236}">
                <a16:creationId xmlns:a16="http://schemas.microsoft.com/office/drawing/2014/main" id="{C4B1E585-A61D-283E-6474-C8CEE1F543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52D42346-EFCC-C99F-CE58-6C14180766AA}"/>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Mechanical structure</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8" name="矩形 7">
            <a:extLst>
              <a:ext uri="{FF2B5EF4-FFF2-40B4-BE49-F238E27FC236}">
                <a16:creationId xmlns:a16="http://schemas.microsoft.com/office/drawing/2014/main" id="{20F26946-49A5-2711-B0EA-11C0D569581B}"/>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Progress</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23" name="矩形 22">
            <a:extLst>
              <a:ext uri="{FF2B5EF4-FFF2-40B4-BE49-F238E27FC236}">
                <a16:creationId xmlns:a16="http://schemas.microsoft.com/office/drawing/2014/main" id="{4C5F0389-18D9-B665-C132-0455EBCCED9B}"/>
              </a:ext>
            </a:extLst>
          </p:cNvPr>
          <p:cNvSpPr/>
          <p:nvPr/>
        </p:nvSpPr>
        <p:spPr>
          <a:xfrm>
            <a:off x="6701245" y="772609"/>
            <a:ext cx="4558738" cy="586306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Eras Demi ITC" panose="020B0805030504020804" pitchFamily="34" charset="0"/>
              <a:ea typeface="等线" panose="02010600030101010101" pitchFamily="2" charset="-122"/>
            </a:endParaRPr>
          </a:p>
        </p:txBody>
      </p:sp>
      <p:sp>
        <p:nvSpPr>
          <p:cNvPr id="24" name="矩形 23">
            <a:extLst>
              <a:ext uri="{FF2B5EF4-FFF2-40B4-BE49-F238E27FC236}">
                <a16:creationId xmlns:a16="http://schemas.microsoft.com/office/drawing/2014/main" id="{510FDCFC-CC61-290F-388D-EF44E9E492F0}"/>
              </a:ext>
            </a:extLst>
          </p:cNvPr>
          <p:cNvSpPr/>
          <p:nvPr/>
        </p:nvSpPr>
        <p:spPr>
          <a:xfrm>
            <a:off x="6688847" y="755646"/>
            <a:ext cx="4558738"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C000"/>
                </a:solidFill>
                <a:latin typeface="Eras Demi ITC" panose="020B0805030504020804" pitchFamily="34" charset="0"/>
                <a:ea typeface="微软雅黑" panose="020B0503020204020204" pitchFamily="34" charset="-122"/>
              </a:rPr>
              <a:t>Ideal Effect</a:t>
            </a:r>
            <a:endParaRPr lang="zh-CN" altLang="en-US" sz="1400" b="1" dirty="0">
              <a:solidFill>
                <a:srgbClr val="FFC000"/>
              </a:solidFill>
              <a:latin typeface="Eras Demi ITC" panose="020B0805030504020804" pitchFamily="34" charset="0"/>
              <a:ea typeface="微软雅黑" panose="020B0503020204020204" pitchFamily="34" charset="-122"/>
            </a:endParaRPr>
          </a:p>
        </p:txBody>
      </p:sp>
      <p:pic>
        <p:nvPicPr>
          <p:cNvPr id="5" name="图片 4">
            <a:extLst>
              <a:ext uri="{FF2B5EF4-FFF2-40B4-BE49-F238E27FC236}">
                <a16:creationId xmlns:a16="http://schemas.microsoft.com/office/drawing/2014/main" id="{74C7F178-8BDB-F9F9-F5D4-B5D64BDB6984}"/>
              </a:ext>
            </a:extLst>
          </p:cNvPr>
          <p:cNvPicPr>
            <a:picLocks noChangeAspect="1"/>
          </p:cNvPicPr>
          <p:nvPr/>
        </p:nvPicPr>
        <p:blipFill>
          <a:blip r:embed="rId4"/>
          <a:stretch>
            <a:fillRect/>
          </a:stretch>
        </p:blipFill>
        <p:spPr>
          <a:xfrm>
            <a:off x="7151780" y="1229040"/>
            <a:ext cx="3657668" cy="5297684"/>
          </a:xfrm>
          <a:prstGeom prst="rect">
            <a:avLst/>
          </a:prstGeom>
        </p:spPr>
      </p:pic>
      <p:sp>
        <p:nvSpPr>
          <p:cNvPr id="4" name="矩形 3">
            <a:extLst>
              <a:ext uri="{FF2B5EF4-FFF2-40B4-BE49-F238E27FC236}">
                <a16:creationId xmlns:a16="http://schemas.microsoft.com/office/drawing/2014/main" id="{11F33840-C748-DBBF-835D-5259095D511B}"/>
              </a:ext>
            </a:extLst>
          </p:cNvPr>
          <p:cNvSpPr/>
          <p:nvPr/>
        </p:nvSpPr>
        <p:spPr>
          <a:xfrm>
            <a:off x="958366" y="772609"/>
            <a:ext cx="4558738" cy="586306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Eras Demi ITC" panose="020B0805030504020804" pitchFamily="34" charset="0"/>
              <a:ea typeface="等线" panose="02010600030101010101" pitchFamily="2" charset="-122"/>
            </a:endParaRPr>
          </a:p>
        </p:txBody>
      </p:sp>
      <p:sp>
        <p:nvSpPr>
          <p:cNvPr id="7" name="矩形 6">
            <a:extLst>
              <a:ext uri="{FF2B5EF4-FFF2-40B4-BE49-F238E27FC236}">
                <a16:creationId xmlns:a16="http://schemas.microsoft.com/office/drawing/2014/main" id="{0520E899-A156-4AF1-EC1A-CC6EBBB0FFE3}"/>
              </a:ext>
            </a:extLst>
          </p:cNvPr>
          <p:cNvSpPr/>
          <p:nvPr/>
        </p:nvSpPr>
        <p:spPr>
          <a:xfrm>
            <a:off x="958366" y="770518"/>
            <a:ext cx="4558738"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altLang="zh-CN" sz="1400" b="1" dirty="0">
                <a:solidFill>
                  <a:srgbClr val="FFC000"/>
                </a:solidFill>
                <a:latin typeface="Eras Demi ITC" panose="020B0805030504020804" pitchFamily="34" charset="0"/>
                <a:ea typeface="微软雅黑" panose="020B0503020204020204" pitchFamily="34" charset="-122"/>
              </a:rPr>
              <a:t>Overall Progress of Mechanical structure</a:t>
            </a:r>
            <a:endParaRPr lang="zh-CN" altLang="en-US" sz="1400" dirty="0">
              <a:solidFill>
                <a:schemeClr val="tx1"/>
              </a:solidFill>
              <a:latin typeface="Eras Demi ITC" panose="020B0805030504020804" pitchFamily="34" charset="0"/>
              <a:ea typeface="思源黑体 CN Normal" panose="020B0400000000000000" pitchFamily="34" charset="-122"/>
            </a:endParaRPr>
          </a:p>
        </p:txBody>
      </p:sp>
      <p:sp>
        <p:nvSpPr>
          <p:cNvPr id="12" name="箭头: 右 11">
            <a:extLst>
              <a:ext uri="{FF2B5EF4-FFF2-40B4-BE49-F238E27FC236}">
                <a16:creationId xmlns:a16="http://schemas.microsoft.com/office/drawing/2014/main" id="{7E942FBB-B584-3551-4FEF-31ED485B887B}"/>
              </a:ext>
            </a:extLst>
          </p:cNvPr>
          <p:cNvSpPr/>
          <p:nvPr/>
        </p:nvSpPr>
        <p:spPr>
          <a:xfrm rot="5400000">
            <a:off x="1636299" y="2619834"/>
            <a:ext cx="418686" cy="172433"/>
          </a:xfrm>
          <a:prstGeom prst="rightArrow">
            <a:avLst>
              <a:gd name="adj1" fmla="val 50000"/>
              <a:gd name="adj2" fmla="val 69433"/>
            </a:avLst>
          </a:prstGeom>
          <a:solidFill>
            <a:srgbClr val="1C3F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4A860486-91B7-A0C3-5C18-AD3E8FB76279}"/>
              </a:ext>
            </a:extLst>
          </p:cNvPr>
          <p:cNvSpPr txBox="1"/>
          <p:nvPr/>
        </p:nvSpPr>
        <p:spPr>
          <a:xfrm>
            <a:off x="5768803" y="3406346"/>
            <a:ext cx="668344" cy="369332"/>
          </a:xfrm>
          <a:prstGeom prst="rect">
            <a:avLst/>
          </a:prstGeom>
          <a:noFill/>
        </p:spPr>
        <p:txBody>
          <a:bodyPr wrap="square" rtlCol="0">
            <a:spAutoFit/>
          </a:bodyPr>
          <a:lstStyle/>
          <a:p>
            <a:r>
              <a:rPr lang="en-US" altLang="zh-CN" b="1" dirty="0">
                <a:solidFill>
                  <a:srgbClr val="1C3F62"/>
                </a:solidFill>
                <a:latin typeface="Times New Roman" panose="02020603050405020304" pitchFamily="18" charset="0"/>
                <a:cs typeface="Times New Roman" panose="02020603050405020304" pitchFamily="18" charset="0"/>
              </a:rPr>
              <a:t>75%</a:t>
            </a:r>
            <a:endParaRPr lang="zh-CN" altLang="en-US" b="1" dirty="0">
              <a:solidFill>
                <a:srgbClr val="1C3F62"/>
              </a:solidFill>
              <a:latin typeface="Times New Roman" panose="02020603050405020304" pitchFamily="18" charset="0"/>
              <a:cs typeface="Times New Roman" panose="02020603050405020304" pitchFamily="18" charset="0"/>
            </a:endParaRPr>
          </a:p>
        </p:txBody>
      </p:sp>
      <p:sp>
        <p:nvSpPr>
          <p:cNvPr id="14" name="矩形: 圆角 13">
            <a:extLst>
              <a:ext uri="{FF2B5EF4-FFF2-40B4-BE49-F238E27FC236}">
                <a16:creationId xmlns:a16="http://schemas.microsoft.com/office/drawing/2014/main" id="{3C41590C-C127-D3C2-9ECB-C3CF92F33986}"/>
              </a:ext>
            </a:extLst>
          </p:cNvPr>
          <p:cNvSpPr/>
          <p:nvPr/>
        </p:nvSpPr>
        <p:spPr>
          <a:xfrm>
            <a:off x="1189164" y="2026289"/>
            <a:ext cx="1402080" cy="36444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Finger</a:t>
            </a:r>
          </a:p>
        </p:txBody>
      </p:sp>
      <p:sp>
        <p:nvSpPr>
          <p:cNvPr id="15" name="矩形: 圆角 14">
            <a:extLst>
              <a:ext uri="{FF2B5EF4-FFF2-40B4-BE49-F238E27FC236}">
                <a16:creationId xmlns:a16="http://schemas.microsoft.com/office/drawing/2014/main" id="{1A080589-D68A-C5D6-DB70-951EF63BE5CF}"/>
              </a:ext>
            </a:extLst>
          </p:cNvPr>
          <p:cNvSpPr/>
          <p:nvPr/>
        </p:nvSpPr>
        <p:spPr>
          <a:xfrm>
            <a:off x="1189164" y="2999240"/>
            <a:ext cx="1402080" cy="36444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Palm</a:t>
            </a:r>
          </a:p>
        </p:txBody>
      </p:sp>
      <p:sp>
        <p:nvSpPr>
          <p:cNvPr id="16" name="矩形: 圆角 15">
            <a:extLst>
              <a:ext uri="{FF2B5EF4-FFF2-40B4-BE49-F238E27FC236}">
                <a16:creationId xmlns:a16="http://schemas.microsoft.com/office/drawing/2014/main" id="{ADB575B2-9951-7AEF-BF54-8ABEF2771705}"/>
              </a:ext>
            </a:extLst>
          </p:cNvPr>
          <p:cNvSpPr/>
          <p:nvPr/>
        </p:nvSpPr>
        <p:spPr>
          <a:xfrm>
            <a:off x="1189164" y="3994121"/>
            <a:ext cx="1402080" cy="36444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Waist</a:t>
            </a:r>
          </a:p>
        </p:txBody>
      </p:sp>
      <p:sp>
        <p:nvSpPr>
          <p:cNvPr id="17" name="矩形: 圆角 16">
            <a:extLst>
              <a:ext uri="{FF2B5EF4-FFF2-40B4-BE49-F238E27FC236}">
                <a16:creationId xmlns:a16="http://schemas.microsoft.com/office/drawing/2014/main" id="{1C24AC52-FED3-F8C1-6CC0-843E2E72C3B4}"/>
              </a:ext>
            </a:extLst>
          </p:cNvPr>
          <p:cNvSpPr/>
          <p:nvPr/>
        </p:nvSpPr>
        <p:spPr>
          <a:xfrm>
            <a:off x="1189164" y="4959324"/>
            <a:ext cx="1402080" cy="36444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Times New Roman" panose="02020603050405020304" pitchFamily="18" charset="0"/>
                <a:cs typeface="Times New Roman" panose="02020603050405020304" pitchFamily="18" charset="0"/>
              </a:rPr>
              <a:t>Forearm</a:t>
            </a:r>
          </a:p>
        </p:txBody>
      </p:sp>
      <p:sp>
        <p:nvSpPr>
          <p:cNvPr id="20" name="箭头: 右 19">
            <a:extLst>
              <a:ext uri="{FF2B5EF4-FFF2-40B4-BE49-F238E27FC236}">
                <a16:creationId xmlns:a16="http://schemas.microsoft.com/office/drawing/2014/main" id="{766F1856-A1CD-753D-4E7C-2DE56E2B810C}"/>
              </a:ext>
            </a:extLst>
          </p:cNvPr>
          <p:cNvSpPr/>
          <p:nvPr/>
        </p:nvSpPr>
        <p:spPr>
          <a:xfrm rot="5400000">
            <a:off x="1636299" y="3617156"/>
            <a:ext cx="418686" cy="172433"/>
          </a:xfrm>
          <a:prstGeom prst="rightArrow">
            <a:avLst>
              <a:gd name="adj1" fmla="val 50000"/>
              <a:gd name="adj2" fmla="val 69433"/>
            </a:avLst>
          </a:prstGeom>
          <a:solidFill>
            <a:srgbClr val="1C3F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箭头: 右 20">
            <a:extLst>
              <a:ext uri="{FF2B5EF4-FFF2-40B4-BE49-F238E27FC236}">
                <a16:creationId xmlns:a16="http://schemas.microsoft.com/office/drawing/2014/main" id="{B7E862B6-1B2E-3B24-EB77-E03AAD87A043}"/>
              </a:ext>
            </a:extLst>
          </p:cNvPr>
          <p:cNvSpPr/>
          <p:nvPr/>
        </p:nvSpPr>
        <p:spPr>
          <a:xfrm rot="5400000">
            <a:off x="1636299" y="4590390"/>
            <a:ext cx="418686" cy="172433"/>
          </a:xfrm>
          <a:prstGeom prst="rightArrow">
            <a:avLst>
              <a:gd name="adj1" fmla="val 50000"/>
              <a:gd name="adj2" fmla="val 69433"/>
            </a:avLst>
          </a:prstGeom>
          <a:solidFill>
            <a:srgbClr val="1C3F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箭头: 右 27">
            <a:extLst>
              <a:ext uri="{FF2B5EF4-FFF2-40B4-BE49-F238E27FC236}">
                <a16:creationId xmlns:a16="http://schemas.microsoft.com/office/drawing/2014/main" id="{AEE327B3-93E5-141D-5721-365EE0D46078}"/>
              </a:ext>
            </a:extLst>
          </p:cNvPr>
          <p:cNvSpPr/>
          <p:nvPr/>
        </p:nvSpPr>
        <p:spPr>
          <a:xfrm>
            <a:off x="5645945" y="3705225"/>
            <a:ext cx="940594" cy="207491"/>
          </a:xfrm>
          <a:prstGeom prst="rightArrow">
            <a:avLst>
              <a:gd name="adj1" fmla="val 61048"/>
              <a:gd name="adj2" fmla="val 69433"/>
            </a:avLst>
          </a:prstGeom>
          <a:solidFill>
            <a:srgbClr val="1C3F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C04824DF-11FA-E5B7-CD1A-2AB1BCB830D7}"/>
              </a:ext>
            </a:extLst>
          </p:cNvPr>
          <p:cNvSpPr txBox="1"/>
          <p:nvPr/>
        </p:nvSpPr>
        <p:spPr>
          <a:xfrm>
            <a:off x="1931859" y="2492510"/>
            <a:ext cx="900551" cy="369332"/>
          </a:xfrm>
          <a:prstGeom prst="rect">
            <a:avLst/>
          </a:prstGeom>
          <a:noFill/>
        </p:spPr>
        <p:txBody>
          <a:bodyPr wrap="square" rtlCol="0">
            <a:spAutoFit/>
          </a:bodyPr>
          <a:lstStyle/>
          <a:p>
            <a:r>
              <a:rPr lang="en-US" altLang="zh-CN" b="1" dirty="0">
                <a:solidFill>
                  <a:srgbClr val="1C3F62"/>
                </a:solidFill>
                <a:latin typeface="Times New Roman" panose="02020603050405020304" pitchFamily="18" charset="0"/>
                <a:cs typeface="Times New Roman" panose="02020603050405020304" pitchFamily="18" charset="0"/>
              </a:rPr>
              <a:t>100%</a:t>
            </a:r>
            <a:endParaRPr lang="zh-CN" altLang="en-US" b="1" dirty="0">
              <a:solidFill>
                <a:srgbClr val="1C3F62"/>
              </a:solidFill>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041D4F05-6027-F61D-33D9-1E80AF0D831C}"/>
              </a:ext>
            </a:extLst>
          </p:cNvPr>
          <p:cNvSpPr txBox="1"/>
          <p:nvPr/>
        </p:nvSpPr>
        <p:spPr>
          <a:xfrm>
            <a:off x="1931859" y="3492274"/>
            <a:ext cx="900551" cy="369332"/>
          </a:xfrm>
          <a:prstGeom prst="rect">
            <a:avLst/>
          </a:prstGeom>
          <a:noFill/>
        </p:spPr>
        <p:txBody>
          <a:bodyPr wrap="square" rtlCol="0">
            <a:spAutoFit/>
          </a:bodyPr>
          <a:lstStyle/>
          <a:p>
            <a:r>
              <a:rPr lang="en-US" altLang="zh-CN" b="1" dirty="0">
                <a:solidFill>
                  <a:srgbClr val="1C3F62"/>
                </a:solidFill>
                <a:latin typeface="Times New Roman" panose="02020603050405020304" pitchFamily="18" charset="0"/>
                <a:cs typeface="Times New Roman" panose="02020603050405020304" pitchFamily="18" charset="0"/>
              </a:rPr>
              <a:t>90%</a:t>
            </a:r>
            <a:endParaRPr lang="zh-CN" altLang="en-US" b="1" dirty="0">
              <a:solidFill>
                <a:srgbClr val="1C3F62"/>
              </a:solidFill>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C9C7630E-A2F2-926C-7536-19A7CAE126B1}"/>
              </a:ext>
            </a:extLst>
          </p:cNvPr>
          <p:cNvSpPr txBox="1"/>
          <p:nvPr/>
        </p:nvSpPr>
        <p:spPr>
          <a:xfrm>
            <a:off x="1931859" y="4481047"/>
            <a:ext cx="900551" cy="369332"/>
          </a:xfrm>
          <a:prstGeom prst="rect">
            <a:avLst/>
          </a:prstGeom>
          <a:noFill/>
        </p:spPr>
        <p:txBody>
          <a:bodyPr wrap="square" rtlCol="0">
            <a:spAutoFit/>
          </a:bodyPr>
          <a:lstStyle/>
          <a:p>
            <a:r>
              <a:rPr lang="en-US" altLang="zh-CN" b="1" dirty="0">
                <a:solidFill>
                  <a:srgbClr val="1C3F62"/>
                </a:solidFill>
                <a:latin typeface="Times New Roman" panose="02020603050405020304" pitchFamily="18" charset="0"/>
                <a:cs typeface="Times New Roman" panose="02020603050405020304" pitchFamily="18" charset="0"/>
              </a:rPr>
              <a:t>20%</a:t>
            </a:r>
            <a:endParaRPr lang="zh-CN" altLang="en-US" b="1" dirty="0">
              <a:solidFill>
                <a:srgbClr val="1C3F62"/>
              </a:solidFill>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73282FC8-2C84-A0F7-0CFD-AD0F54DB7CE1}"/>
              </a:ext>
            </a:extLst>
          </p:cNvPr>
          <p:cNvPicPr>
            <a:picLocks noChangeAspect="1"/>
          </p:cNvPicPr>
          <p:nvPr/>
        </p:nvPicPr>
        <p:blipFill>
          <a:blip r:embed="rId5">
            <a:extLst>
              <a:ext uri="{28A0092B-C50C-407E-A947-70E740481C1C}">
                <a14:useLocalDpi xmlns:a14="http://schemas.microsoft.com/office/drawing/2010/main" val="0"/>
              </a:ext>
            </a:extLst>
          </a:blip>
          <a:srcRect l="17999" t="9071" r="20049" b="2319"/>
          <a:stretch>
            <a:fillRect/>
          </a:stretch>
        </p:blipFill>
        <p:spPr>
          <a:xfrm rot="10800000">
            <a:off x="2761499" y="1419130"/>
            <a:ext cx="2585350" cy="4932377"/>
          </a:xfrm>
          <a:prstGeom prst="rect">
            <a:avLst/>
          </a:prstGeom>
        </p:spPr>
      </p:pic>
    </p:spTree>
    <p:extLst>
      <p:ext uri="{BB962C8B-B14F-4D97-AF65-F5344CB8AC3E}">
        <p14:creationId xmlns:p14="http://schemas.microsoft.com/office/powerpoint/2010/main" val="142758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6600-DB55-0EAF-4EED-D5EB2EAA7E6C}"/>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7DAFE9B7-A1BF-D057-D97A-154DE3F016D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5400000">
            <a:off x="-55677" y="2019103"/>
            <a:ext cx="5016848" cy="3761166"/>
          </a:xfrm>
          <a:prstGeom prst="rect">
            <a:avLst/>
          </a:prstGeom>
        </p:spPr>
      </p:pic>
      <p:sp>
        <p:nvSpPr>
          <p:cNvPr id="2" name="灯片编号占位符 1">
            <a:extLst>
              <a:ext uri="{FF2B5EF4-FFF2-40B4-BE49-F238E27FC236}">
                <a16:creationId xmlns:a16="http://schemas.microsoft.com/office/drawing/2014/main" id="{3AC3EE88-7CEB-DCD4-A8F0-630099FBDC10}"/>
              </a:ext>
            </a:extLst>
          </p:cNvPr>
          <p:cNvSpPr>
            <a:spLocks noGrp="1"/>
          </p:cNvSpPr>
          <p:nvPr>
            <p:ph type="sldNum" sz="quarter" idx="12"/>
          </p:nvPr>
        </p:nvSpPr>
        <p:spPr>
          <a:xfrm>
            <a:off x="9444383" y="6472228"/>
            <a:ext cx="2743200" cy="365125"/>
          </a:xfrm>
        </p:spPr>
        <p:txBody>
          <a:bodyPr/>
          <a:lstStyle/>
          <a:p>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p:txBody>
      </p:sp>
      <p:pic>
        <p:nvPicPr>
          <p:cNvPr id="3" name="Picture 4" descr="院长寄语 | 香港中文大学(深圳)金融EMBA">
            <a:extLst>
              <a:ext uri="{FF2B5EF4-FFF2-40B4-BE49-F238E27FC236}">
                <a16:creationId xmlns:a16="http://schemas.microsoft.com/office/drawing/2014/main" id="{956AEC5F-0589-8ACE-A874-AF32B93A02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F3292D78-96CE-110B-2E57-9B98DDBD0D17}"/>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Mechanical structure</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8" name="矩形 7">
            <a:extLst>
              <a:ext uri="{FF2B5EF4-FFF2-40B4-BE49-F238E27FC236}">
                <a16:creationId xmlns:a16="http://schemas.microsoft.com/office/drawing/2014/main" id="{A4588F01-C3D5-E0C3-4709-7B3768392D27}"/>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Progress</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23" name="矩形 22">
            <a:extLst>
              <a:ext uri="{FF2B5EF4-FFF2-40B4-BE49-F238E27FC236}">
                <a16:creationId xmlns:a16="http://schemas.microsoft.com/office/drawing/2014/main" id="{3CBC49F7-9C69-394C-EE62-B40557C810F3}"/>
              </a:ext>
            </a:extLst>
          </p:cNvPr>
          <p:cNvSpPr/>
          <p:nvPr/>
        </p:nvSpPr>
        <p:spPr>
          <a:xfrm>
            <a:off x="153046" y="772609"/>
            <a:ext cx="11643538" cy="586306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Eras Demi ITC" panose="020B0805030504020804" pitchFamily="34" charset="0"/>
              <a:ea typeface="等线" panose="02010600030101010101" pitchFamily="2" charset="-122"/>
            </a:endParaRPr>
          </a:p>
        </p:txBody>
      </p:sp>
      <p:sp>
        <p:nvSpPr>
          <p:cNvPr id="24" name="矩形 23">
            <a:extLst>
              <a:ext uri="{FF2B5EF4-FFF2-40B4-BE49-F238E27FC236}">
                <a16:creationId xmlns:a16="http://schemas.microsoft.com/office/drawing/2014/main" id="{E5C650C9-4217-4FC2-3159-48C208B522FA}"/>
              </a:ext>
            </a:extLst>
          </p:cNvPr>
          <p:cNvSpPr/>
          <p:nvPr/>
        </p:nvSpPr>
        <p:spPr>
          <a:xfrm>
            <a:off x="140648" y="755646"/>
            <a:ext cx="11643538"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altLang="zh-CN" sz="1400" b="1" dirty="0">
                <a:solidFill>
                  <a:srgbClr val="FFC000"/>
                </a:solidFill>
                <a:latin typeface="Eras Demi ITC" panose="020B0805030504020804" pitchFamily="34" charset="0"/>
                <a:ea typeface="微软雅黑" panose="020B0503020204020204" pitchFamily="34" charset="-122"/>
              </a:rPr>
              <a:t>Finger &amp; Palms &amp; Wrist</a:t>
            </a:r>
            <a:endParaRPr lang="zh-CN" altLang="en-US" sz="1400" b="1" dirty="0">
              <a:solidFill>
                <a:srgbClr val="FFC000"/>
              </a:solidFill>
              <a:latin typeface="Eras Demi ITC" panose="020B0805030504020804" pitchFamily="34" charset="0"/>
              <a:ea typeface="微软雅黑" panose="020B0503020204020204" pitchFamily="34" charset="-122"/>
            </a:endParaRPr>
          </a:p>
        </p:txBody>
      </p:sp>
      <p:sp>
        <p:nvSpPr>
          <p:cNvPr id="12" name="文本框 11">
            <a:extLst>
              <a:ext uri="{FF2B5EF4-FFF2-40B4-BE49-F238E27FC236}">
                <a16:creationId xmlns:a16="http://schemas.microsoft.com/office/drawing/2014/main" id="{3E218E59-64B9-FE59-9474-7DF025351CB1}"/>
              </a:ext>
            </a:extLst>
          </p:cNvPr>
          <p:cNvSpPr txBox="1"/>
          <p:nvPr/>
        </p:nvSpPr>
        <p:spPr>
          <a:xfrm>
            <a:off x="4425613" y="1344709"/>
            <a:ext cx="5018770" cy="1997213"/>
          </a:xfrm>
          <a:prstGeom prst="rect">
            <a:avLst/>
          </a:prstGeom>
          <a:noFill/>
        </p:spPr>
        <p:txBody>
          <a:bodyPr wrap="square">
            <a:spAutoFit/>
          </a:bodyPr>
          <a:lstStyle/>
          <a:p>
            <a:pPr>
              <a:lnSpc>
                <a:spcPct val="150000"/>
              </a:lnSpc>
              <a:buNone/>
            </a:pPr>
            <a:r>
              <a:rPr lang="en-US" altLang="zh-CN" sz="1400" b="1" dirty="0">
                <a:solidFill>
                  <a:srgbClr val="1C3F62"/>
                </a:solidFill>
                <a:latin typeface="Times New Roman" panose="02020603050405020304" pitchFamily="18" charset="0"/>
                <a:ea typeface="宋体" panose="02010600030101010101" pitchFamily="2" charset="-122"/>
                <a:cs typeface="Times New Roman" panose="02020603050405020304" pitchFamily="18" charset="0"/>
              </a:rPr>
              <a:t>Finger</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1400" dirty="0">
                <a:latin typeface="Times New Roman" panose="02020603050405020304" pitchFamily="18" charset="0"/>
                <a:cs typeface="Times New Roman" panose="02020603050405020304" pitchFamily="18" charset="0"/>
              </a:rPr>
              <a:t>Distal interphalangeal (DIP) joint flexion/extension → </a:t>
            </a:r>
            <a:r>
              <a:rPr lang="en-US" altLang="zh-CN" sz="1400" b="1" dirty="0">
                <a:latin typeface="Times New Roman" panose="02020603050405020304" pitchFamily="18" charset="0"/>
                <a:cs typeface="Times New Roman" panose="02020603050405020304" pitchFamily="18" charset="0"/>
              </a:rPr>
              <a:t>1 DOF</a:t>
            </a:r>
          </a:p>
          <a:p>
            <a:pPr>
              <a:lnSpc>
                <a:spcPct val="150000"/>
              </a:lnSpc>
            </a:pPr>
            <a:r>
              <a:rPr lang="en-US" altLang="zh-CN" sz="1400" dirty="0">
                <a:latin typeface="Times New Roman" panose="02020603050405020304" pitchFamily="18" charset="0"/>
                <a:cs typeface="Times New Roman" panose="02020603050405020304" pitchFamily="18" charset="0"/>
              </a:rPr>
              <a:t>Proximal interphalangeal (PIP) joint flexion/extension → </a:t>
            </a:r>
            <a:r>
              <a:rPr lang="en-US" altLang="zh-CN" sz="1400" b="1" dirty="0">
                <a:latin typeface="Times New Roman" panose="02020603050405020304" pitchFamily="18" charset="0"/>
                <a:cs typeface="Times New Roman" panose="02020603050405020304" pitchFamily="18" charset="0"/>
              </a:rPr>
              <a:t>1 DOF</a:t>
            </a:r>
          </a:p>
          <a:p>
            <a:pPr>
              <a:lnSpc>
                <a:spcPct val="150000"/>
              </a:lnSpc>
            </a:pPr>
            <a:r>
              <a:rPr lang="en-US" altLang="zh-CN" sz="1400" dirty="0">
                <a:latin typeface="Times New Roman" panose="02020603050405020304" pitchFamily="18" charset="0"/>
                <a:cs typeface="Times New Roman" panose="02020603050405020304" pitchFamily="18" charset="0"/>
              </a:rPr>
              <a:t>Metacarpophalangeal (MCP) joint flexion/extension and abduction/adduction → </a:t>
            </a:r>
            <a:r>
              <a:rPr lang="en-US" altLang="zh-CN" sz="1400" b="1" dirty="0">
                <a:latin typeface="Times New Roman" panose="02020603050405020304" pitchFamily="18" charset="0"/>
                <a:cs typeface="Times New Roman" panose="02020603050405020304" pitchFamily="18" charset="0"/>
              </a:rPr>
              <a:t>2 DOF</a:t>
            </a:r>
            <a:endParaRPr lang="en-US" altLang="zh-CN" sz="1400" dirty="0">
              <a:latin typeface="Times New Roman" panose="02020603050405020304" pitchFamily="18" charset="0"/>
              <a:cs typeface="Times New Roman" panose="02020603050405020304" pitchFamily="18" charset="0"/>
            </a:endParaRPr>
          </a:p>
          <a:p>
            <a:pPr>
              <a:lnSpc>
                <a:spcPct val="150000"/>
              </a:lnSpc>
              <a:buNone/>
            </a:pPr>
            <a:r>
              <a:rPr lang="en-US" altLang="zh-CN" sz="1400" b="1" dirty="0">
                <a:latin typeface="Times New Roman" panose="02020603050405020304" pitchFamily="18" charset="0"/>
                <a:cs typeface="Times New Roman" panose="02020603050405020304" pitchFamily="18" charset="0"/>
              </a:rPr>
              <a:t>5 fingers × 4 DOF per finger = 20 DOF</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a:extLst>
              <a:ext uri="{FF2B5EF4-FFF2-40B4-BE49-F238E27FC236}">
                <a16:creationId xmlns:a16="http://schemas.microsoft.com/office/drawing/2014/main" id="{34218D68-7EBC-E50C-A3EC-29013B5A11EE}"/>
              </a:ext>
            </a:extLst>
          </p:cNvPr>
          <p:cNvSpPr txBox="1"/>
          <p:nvPr/>
        </p:nvSpPr>
        <p:spPr>
          <a:xfrm>
            <a:off x="4438011" y="5394938"/>
            <a:ext cx="6099048" cy="704552"/>
          </a:xfrm>
          <a:prstGeom prst="rect">
            <a:avLst/>
          </a:prstGeom>
          <a:noFill/>
        </p:spPr>
        <p:txBody>
          <a:bodyPr wrap="square">
            <a:spAutoFit/>
          </a:bodyPr>
          <a:lstStyle/>
          <a:p>
            <a:pPr>
              <a:lnSpc>
                <a:spcPct val="150000"/>
              </a:lnSpc>
              <a:buNone/>
            </a:pPr>
            <a:r>
              <a:rPr lang="en-US" altLang="zh-CN" sz="1400" b="1" dirty="0">
                <a:solidFill>
                  <a:srgbClr val="1C3F62"/>
                </a:solidFill>
                <a:latin typeface="Times New Roman" panose="02020603050405020304" pitchFamily="18" charset="0"/>
                <a:ea typeface="宋体" panose="02010600030101010101" pitchFamily="2" charset="-122"/>
                <a:cs typeface="Times New Roman" panose="02020603050405020304" pitchFamily="18" charset="0"/>
              </a:rPr>
              <a:t>Wrist</a:t>
            </a:r>
          </a:p>
          <a:p>
            <a:pPr>
              <a:lnSpc>
                <a:spcPct val="150000"/>
              </a:lnSpc>
              <a:buNone/>
            </a:pPr>
            <a:r>
              <a:rPr lang="en-US" altLang="zh-CN" sz="1400" dirty="0">
                <a:latin typeface="Times New Roman" panose="02020603050405020304" pitchFamily="18" charset="0"/>
                <a:cs typeface="Times New Roman" panose="02020603050405020304" pitchFamily="18" charset="0"/>
              </a:rPr>
              <a:t>The wrist supports </a:t>
            </a:r>
            <a:r>
              <a:rPr lang="en-US" altLang="zh-CN" sz="1400" b="1" dirty="0">
                <a:latin typeface="Times New Roman" panose="02020603050405020304" pitchFamily="18" charset="0"/>
                <a:cs typeface="Times New Roman" panose="02020603050405020304" pitchFamily="18" charset="0"/>
              </a:rPr>
              <a:t>pitch</a:t>
            </a:r>
            <a:r>
              <a:rPr lang="en-US" altLang="zh-CN" sz="1400" dirty="0">
                <a:latin typeface="Times New Roman" panose="02020603050405020304" pitchFamily="18" charset="0"/>
                <a:cs typeface="Times New Roman" panose="02020603050405020304" pitchFamily="18" charset="0"/>
              </a:rPr>
              <a:t> and </a:t>
            </a:r>
            <a:r>
              <a:rPr lang="en-US" altLang="zh-CN" sz="1400" b="1" dirty="0">
                <a:latin typeface="Times New Roman" panose="02020603050405020304" pitchFamily="18" charset="0"/>
                <a:cs typeface="Times New Roman" panose="02020603050405020304" pitchFamily="18" charset="0"/>
              </a:rPr>
              <a:t>yaw</a:t>
            </a:r>
            <a:r>
              <a:rPr lang="en-US" altLang="zh-CN" sz="1400" dirty="0">
                <a:latin typeface="Times New Roman" panose="02020603050405020304" pitchFamily="18" charset="0"/>
                <a:cs typeface="Times New Roman" panose="02020603050405020304" pitchFamily="18" charset="0"/>
              </a:rPr>
              <a:t>, corresponding to </a:t>
            </a:r>
            <a:r>
              <a:rPr lang="en-US" altLang="zh-CN" sz="1400" b="1" dirty="0">
                <a:latin typeface="Times New Roman" panose="02020603050405020304" pitchFamily="18" charset="0"/>
                <a:cs typeface="Times New Roman" panose="02020603050405020304" pitchFamily="18" charset="0"/>
              </a:rPr>
              <a:t>1 + 1 = 2 DOF</a:t>
            </a:r>
            <a:r>
              <a:rPr lang="en-US" altLang="zh-CN" sz="14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24">
            <a:extLst>
              <a:ext uri="{FF2B5EF4-FFF2-40B4-BE49-F238E27FC236}">
                <a16:creationId xmlns:a16="http://schemas.microsoft.com/office/drawing/2014/main" id="{AE261550-AB50-22CE-0D3C-02750ABD80A1}"/>
              </a:ext>
            </a:extLst>
          </p:cNvPr>
          <p:cNvSpPr txBox="1"/>
          <p:nvPr/>
        </p:nvSpPr>
        <p:spPr>
          <a:xfrm>
            <a:off x="4425613" y="3507060"/>
            <a:ext cx="7037638" cy="1669496"/>
          </a:xfrm>
          <a:prstGeom prst="rect">
            <a:avLst/>
          </a:prstGeom>
          <a:noFill/>
        </p:spPr>
        <p:txBody>
          <a:bodyPr wrap="square">
            <a:spAutoFit/>
          </a:bodyPr>
          <a:lstStyle/>
          <a:p>
            <a:pPr>
              <a:lnSpc>
                <a:spcPct val="150000"/>
              </a:lnSpc>
              <a:buNone/>
            </a:pPr>
            <a:r>
              <a:rPr lang="en-US" altLang="zh-CN" sz="1400" b="1" dirty="0">
                <a:solidFill>
                  <a:srgbClr val="1C3F62"/>
                </a:solidFill>
                <a:latin typeface="Times New Roman" panose="02020603050405020304" pitchFamily="18" charset="0"/>
                <a:ea typeface="宋体" panose="02010600030101010101" pitchFamily="2" charset="-122"/>
                <a:cs typeface="Times New Roman" panose="02020603050405020304" pitchFamily="18" charset="0"/>
              </a:rPr>
              <a:t>Palm</a:t>
            </a:r>
          </a:p>
          <a:p>
            <a:pPr>
              <a:lnSpc>
                <a:spcPct val="150000"/>
              </a:lnSpc>
              <a:buNone/>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The palm houses key components such as springs and servo motors.</a:t>
            </a:r>
          </a:p>
          <a:p>
            <a:pPr>
              <a:lnSpc>
                <a:spcPct val="150000"/>
              </a:lnSpc>
              <a:buNone/>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Springs provide the restoring force for finger motion.</a:t>
            </a:r>
          </a:p>
          <a:p>
            <a:pPr>
              <a:lnSpc>
                <a:spcPct val="150000"/>
              </a:lnSpc>
              <a:buNone/>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Tubes protect the tendons and prevent cable entanglement.</a:t>
            </a:r>
          </a:p>
          <a:p>
            <a:pPr>
              <a:lnSpc>
                <a:spcPct val="150000"/>
              </a:lnSpc>
              <a:buNone/>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Each finger is actuated by two servo motors for lateral motion.</a:t>
            </a:r>
          </a:p>
        </p:txBody>
      </p:sp>
      <p:cxnSp>
        <p:nvCxnSpPr>
          <p:cNvPr id="45" name="直接箭头连接符 44">
            <a:extLst>
              <a:ext uri="{FF2B5EF4-FFF2-40B4-BE49-F238E27FC236}">
                <a16:creationId xmlns:a16="http://schemas.microsoft.com/office/drawing/2014/main" id="{7F5FB7A8-6230-42D9-F7B2-57BFE409C8E0}"/>
              </a:ext>
            </a:extLst>
          </p:cNvPr>
          <p:cNvCxnSpPr>
            <a:cxnSpLocks/>
          </p:cNvCxnSpPr>
          <p:nvPr/>
        </p:nvCxnSpPr>
        <p:spPr>
          <a:xfrm flipH="1" flipV="1">
            <a:off x="3053443" y="3221805"/>
            <a:ext cx="1441148" cy="1454299"/>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8" name="直接箭头连接符 47">
            <a:extLst>
              <a:ext uri="{FF2B5EF4-FFF2-40B4-BE49-F238E27FC236}">
                <a16:creationId xmlns:a16="http://schemas.microsoft.com/office/drawing/2014/main" id="{ECCC9818-1C04-EFE0-4E09-A95D61911F92}"/>
              </a:ext>
            </a:extLst>
          </p:cNvPr>
          <p:cNvCxnSpPr>
            <a:cxnSpLocks/>
          </p:cNvCxnSpPr>
          <p:nvPr/>
        </p:nvCxnSpPr>
        <p:spPr>
          <a:xfrm flipH="1" flipV="1">
            <a:off x="2976035" y="3624829"/>
            <a:ext cx="1506158" cy="139460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7" name="直接箭头连接符 56">
            <a:extLst>
              <a:ext uri="{FF2B5EF4-FFF2-40B4-BE49-F238E27FC236}">
                <a16:creationId xmlns:a16="http://schemas.microsoft.com/office/drawing/2014/main" id="{C0CDEB86-E681-4902-C7AE-F2FB7FF5DF77}"/>
              </a:ext>
            </a:extLst>
          </p:cNvPr>
          <p:cNvCxnSpPr>
            <a:cxnSpLocks/>
          </p:cNvCxnSpPr>
          <p:nvPr/>
        </p:nvCxnSpPr>
        <p:spPr>
          <a:xfrm flipH="1" flipV="1">
            <a:off x="3053443" y="4204936"/>
            <a:ext cx="1428750" cy="823748"/>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直接箭头连接符 10">
            <a:extLst>
              <a:ext uri="{FF2B5EF4-FFF2-40B4-BE49-F238E27FC236}">
                <a16:creationId xmlns:a16="http://schemas.microsoft.com/office/drawing/2014/main" id="{96BF6E20-FC10-8B2A-E8F4-C67AD36E3EEB}"/>
              </a:ext>
            </a:extLst>
          </p:cNvPr>
          <p:cNvCxnSpPr>
            <a:cxnSpLocks/>
            <a:stCxn id="22" idx="1"/>
          </p:cNvCxnSpPr>
          <p:nvPr/>
        </p:nvCxnSpPr>
        <p:spPr>
          <a:xfrm flipH="1" flipV="1">
            <a:off x="2618509" y="5212284"/>
            <a:ext cx="1819502" cy="534930"/>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6" name="矩形 45">
            <a:extLst>
              <a:ext uri="{FF2B5EF4-FFF2-40B4-BE49-F238E27FC236}">
                <a16:creationId xmlns:a16="http://schemas.microsoft.com/office/drawing/2014/main" id="{13C53AD5-7CA2-D9D8-29BA-2C6CD09D4857}"/>
              </a:ext>
            </a:extLst>
          </p:cNvPr>
          <p:cNvSpPr/>
          <p:nvPr/>
        </p:nvSpPr>
        <p:spPr>
          <a:xfrm>
            <a:off x="1442358" y="1548919"/>
            <a:ext cx="1872343" cy="1607056"/>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7" name="矩形 46">
            <a:extLst>
              <a:ext uri="{FF2B5EF4-FFF2-40B4-BE49-F238E27FC236}">
                <a16:creationId xmlns:a16="http://schemas.microsoft.com/office/drawing/2014/main" id="{38690676-1BC6-F9EE-2D32-8E718ECB647A}"/>
              </a:ext>
            </a:extLst>
          </p:cNvPr>
          <p:cNvSpPr/>
          <p:nvPr/>
        </p:nvSpPr>
        <p:spPr>
          <a:xfrm>
            <a:off x="572164" y="3313634"/>
            <a:ext cx="3520116" cy="1549912"/>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9" name="矩形 48">
            <a:extLst>
              <a:ext uri="{FF2B5EF4-FFF2-40B4-BE49-F238E27FC236}">
                <a16:creationId xmlns:a16="http://schemas.microsoft.com/office/drawing/2014/main" id="{94DF782B-1EDF-65ED-4C38-293623A975BB}"/>
              </a:ext>
            </a:extLst>
          </p:cNvPr>
          <p:cNvSpPr/>
          <p:nvPr/>
        </p:nvSpPr>
        <p:spPr>
          <a:xfrm>
            <a:off x="1788965" y="4929377"/>
            <a:ext cx="1327564" cy="938198"/>
          </a:xfrm>
          <a:prstGeom prst="rect">
            <a:avLst/>
          </a:prstGeom>
          <a:noFill/>
          <a:ln w="285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pic>
        <p:nvPicPr>
          <p:cNvPr id="28" name="图片 27">
            <a:extLst>
              <a:ext uri="{FF2B5EF4-FFF2-40B4-BE49-F238E27FC236}">
                <a16:creationId xmlns:a16="http://schemas.microsoft.com/office/drawing/2014/main" id="{DC4FB40A-9E35-D0B0-386E-BD5AFA032532}"/>
              </a:ext>
            </a:extLst>
          </p:cNvPr>
          <p:cNvPicPr>
            <a:picLocks noChangeAspect="1"/>
          </p:cNvPicPr>
          <p:nvPr/>
        </p:nvPicPr>
        <p:blipFill>
          <a:blip r:embed="rId5">
            <a:extLst>
              <a:ext uri="{28A0092B-C50C-407E-A947-70E740481C1C}">
                <a14:useLocalDpi xmlns:a14="http://schemas.microsoft.com/office/drawing/2010/main" val="0"/>
              </a:ext>
            </a:extLst>
          </a:blip>
          <a:srcRect l="29322" t="20266" r="30625" b="12339"/>
          <a:stretch>
            <a:fillRect/>
          </a:stretch>
        </p:blipFill>
        <p:spPr>
          <a:xfrm>
            <a:off x="9731223" y="1445400"/>
            <a:ext cx="889260" cy="1995830"/>
          </a:xfrm>
          <a:prstGeom prst="rect">
            <a:avLst/>
          </a:prstGeom>
        </p:spPr>
      </p:pic>
      <p:cxnSp>
        <p:nvCxnSpPr>
          <p:cNvPr id="29" name="直接箭头连接符 28">
            <a:extLst>
              <a:ext uri="{FF2B5EF4-FFF2-40B4-BE49-F238E27FC236}">
                <a16:creationId xmlns:a16="http://schemas.microsoft.com/office/drawing/2014/main" id="{03A43D09-7F05-BFDE-D38D-D684DEF9F1AF}"/>
              </a:ext>
            </a:extLst>
          </p:cNvPr>
          <p:cNvCxnSpPr>
            <a:cxnSpLocks/>
          </p:cNvCxnSpPr>
          <p:nvPr/>
        </p:nvCxnSpPr>
        <p:spPr>
          <a:xfrm flipV="1">
            <a:off x="9052560" y="1790102"/>
            <a:ext cx="929639" cy="92840"/>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接箭头连接符 35">
            <a:extLst>
              <a:ext uri="{FF2B5EF4-FFF2-40B4-BE49-F238E27FC236}">
                <a16:creationId xmlns:a16="http://schemas.microsoft.com/office/drawing/2014/main" id="{1BCC0179-BD31-5D9A-C773-4C0C0651FD3D}"/>
              </a:ext>
            </a:extLst>
          </p:cNvPr>
          <p:cNvCxnSpPr>
            <a:cxnSpLocks/>
          </p:cNvCxnSpPr>
          <p:nvPr/>
        </p:nvCxnSpPr>
        <p:spPr>
          <a:xfrm>
            <a:off x="9247902" y="2227242"/>
            <a:ext cx="588620" cy="159207"/>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直接箭头连接符 38">
            <a:extLst>
              <a:ext uri="{FF2B5EF4-FFF2-40B4-BE49-F238E27FC236}">
                <a16:creationId xmlns:a16="http://schemas.microsoft.com/office/drawing/2014/main" id="{A2754B9B-D6C4-3C87-B54A-76A79280958D}"/>
              </a:ext>
            </a:extLst>
          </p:cNvPr>
          <p:cNvCxnSpPr>
            <a:cxnSpLocks/>
          </p:cNvCxnSpPr>
          <p:nvPr/>
        </p:nvCxnSpPr>
        <p:spPr>
          <a:xfrm>
            <a:off x="6833133" y="2855129"/>
            <a:ext cx="3593376" cy="484415"/>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726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01CE81C-EED2-7D8D-7CF8-4E1CC3D12D8A}"/>
              </a:ext>
            </a:extLst>
          </p:cNvPr>
          <p:cNvSpPr>
            <a:spLocks noGrp="1"/>
          </p:cNvSpPr>
          <p:nvPr>
            <p:ph type="sldNum" sz="quarter" idx="12"/>
          </p:nvPr>
        </p:nvSpPr>
        <p:spPr>
          <a:xfrm>
            <a:off x="9444383" y="6472228"/>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5</a:t>
            </a:fld>
            <a:endParaRPr lang="zh-CN" altLang="en-US" dirty="0">
              <a:latin typeface="Times New Roman" panose="02020603050405020304" pitchFamily="18" charset="0"/>
              <a:cs typeface="Times New Roman" panose="02020603050405020304" pitchFamily="18" charset="0"/>
            </a:endParaRPr>
          </a:p>
        </p:txBody>
      </p:sp>
      <p:pic>
        <p:nvPicPr>
          <p:cNvPr id="3" name="Picture 4" descr="院长寄语 | 香港中文大学(深圳)金融EMBA">
            <a:extLst>
              <a:ext uri="{FF2B5EF4-FFF2-40B4-BE49-F238E27FC236}">
                <a16:creationId xmlns:a16="http://schemas.microsoft.com/office/drawing/2014/main" id="{689B3200-22B3-88AF-6F37-4764A762A1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22B4F24E-A264-EC57-1B8B-1059884C1E07}"/>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Electronics and Embedded Testing</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8" name="矩形 7">
            <a:extLst>
              <a:ext uri="{FF2B5EF4-FFF2-40B4-BE49-F238E27FC236}">
                <a16:creationId xmlns:a16="http://schemas.microsoft.com/office/drawing/2014/main" id="{85317F09-4B6F-5854-BE51-3BA460ADCC74}"/>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Progress</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23" name="矩形 22">
            <a:extLst>
              <a:ext uri="{FF2B5EF4-FFF2-40B4-BE49-F238E27FC236}">
                <a16:creationId xmlns:a16="http://schemas.microsoft.com/office/drawing/2014/main" id="{9B538853-D3C7-B1C8-7EBC-048282C34ED6}"/>
              </a:ext>
            </a:extLst>
          </p:cNvPr>
          <p:cNvSpPr/>
          <p:nvPr/>
        </p:nvSpPr>
        <p:spPr>
          <a:xfrm>
            <a:off x="103414" y="772609"/>
            <a:ext cx="4904587" cy="586306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Eras Demi ITC" panose="020B0805030504020804" pitchFamily="34" charset="0"/>
              <a:ea typeface="等线" panose="02010600030101010101" pitchFamily="2" charset="-122"/>
            </a:endParaRPr>
          </a:p>
        </p:txBody>
      </p:sp>
      <p:sp>
        <p:nvSpPr>
          <p:cNvPr id="24" name="矩形 23">
            <a:extLst>
              <a:ext uri="{FF2B5EF4-FFF2-40B4-BE49-F238E27FC236}">
                <a16:creationId xmlns:a16="http://schemas.microsoft.com/office/drawing/2014/main" id="{4116089A-0DE1-99CA-CFCD-4836AB3E3873}"/>
              </a:ext>
            </a:extLst>
          </p:cNvPr>
          <p:cNvSpPr/>
          <p:nvPr/>
        </p:nvSpPr>
        <p:spPr>
          <a:xfrm>
            <a:off x="91016" y="755646"/>
            <a:ext cx="4904587" cy="364449"/>
          </a:xfrm>
          <a:prstGeom prst="rect">
            <a:avLst/>
          </a:prstGeom>
          <a:solidFill>
            <a:srgbClr val="1C3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C000"/>
                </a:solidFill>
                <a:latin typeface="Eras Demi ITC" panose="020B0805030504020804" pitchFamily="34" charset="0"/>
                <a:ea typeface="微软雅黑" panose="020B0503020204020204" pitchFamily="34" charset="-122"/>
              </a:rPr>
              <a:t>Main Control</a:t>
            </a:r>
            <a:endParaRPr lang="zh-CN" altLang="en-US" sz="1400" b="1" dirty="0">
              <a:solidFill>
                <a:srgbClr val="FFC000"/>
              </a:solidFill>
              <a:latin typeface="Eras Demi ITC" panose="020B0805030504020804" pitchFamily="34" charset="0"/>
              <a:ea typeface="微软雅黑" panose="020B0503020204020204" pitchFamily="34" charset="-122"/>
            </a:endParaRPr>
          </a:p>
        </p:txBody>
      </p:sp>
      <p:pic>
        <p:nvPicPr>
          <p:cNvPr id="5" name="图片 4">
            <a:extLst>
              <a:ext uri="{FF2B5EF4-FFF2-40B4-BE49-F238E27FC236}">
                <a16:creationId xmlns:a16="http://schemas.microsoft.com/office/drawing/2014/main" id="{B4F26370-5152-FD7A-C0F3-330CA0A8B7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201973" y="727767"/>
            <a:ext cx="2453831" cy="3272414"/>
          </a:xfrm>
          <a:prstGeom prst="rect">
            <a:avLst/>
          </a:prstGeom>
        </p:spPr>
      </p:pic>
      <p:sp>
        <p:nvSpPr>
          <p:cNvPr id="10" name="文本框 9">
            <a:extLst>
              <a:ext uri="{FF2B5EF4-FFF2-40B4-BE49-F238E27FC236}">
                <a16:creationId xmlns:a16="http://schemas.microsoft.com/office/drawing/2014/main" id="{F3530AAA-0376-726D-3993-97EE6AAC236B}"/>
              </a:ext>
            </a:extLst>
          </p:cNvPr>
          <p:cNvSpPr txBox="1"/>
          <p:nvPr/>
        </p:nvSpPr>
        <p:spPr>
          <a:xfrm>
            <a:off x="1084609" y="3590890"/>
            <a:ext cx="2688557" cy="369332"/>
          </a:xfrm>
          <a:prstGeom prst="rect">
            <a:avLst/>
          </a:prstGeom>
          <a:noFill/>
        </p:spPr>
        <p:txBody>
          <a:bodyPr wrap="none" rtlCol="0">
            <a:spAutoFit/>
          </a:bodyPr>
          <a:lstStyle/>
          <a:p>
            <a:r>
              <a:rPr lang="en-US" altLang="zh-CN" dirty="0"/>
              <a:t>Assembled control board</a:t>
            </a:r>
            <a:endParaRPr lang="zh-CN" altLang="en-US" dirty="0"/>
          </a:p>
        </p:txBody>
      </p:sp>
      <p:pic>
        <p:nvPicPr>
          <p:cNvPr id="12" name="图片 11">
            <a:extLst>
              <a:ext uri="{FF2B5EF4-FFF2-40B4-BE49-F238E27FC236}">
                <a16:creationId xmlns:a16="http://schemas.microsoft.com/office/drawing/2014/main" id="{A02E2F21-0732-E78D-E09B-ADCE1F4A6A77}"/>
              </a:ext>
            </a:extLst>
          </p:cNvPr>
          <p:cNvPicPr>
            <a:picLocks noChangeAspect="1"/>
          </p:cNvPicPr>
          <p:nvPr/>
        </p:nvPicPr>
        <p:blipFill>
          <a:blip r:embed="rId5"/>
          <a:stretch>
            <a:fillRect/>
          </a:stretch>
        </p:blipFill>
        <p:spPr>
          <a:xfrm>
            <a:off x="440018" y="4178113"/>
            <a:ext cx="4010847" cy="2030492"/>
          </a:xfrm>
          <a:prstGeom prst="rect">
            <a:avLst/>
          </a:prstGeom>
        </p:spPr>
      </p:pic>
      <p:sp>
        <p:nvSpPr>
          <p:cNvPr id="13" name="文本框 12">
            <a:extLst>
              <a:ext uri="{FF2B5EF4-FFF2-40B4-BE49-F238E27FC236}">
                <a16:creationId xmlns:a16="http://schemas.microsoft.com/office/drawing/2014/main" id="{6356F24F-E280-9CF0-FBDB-A1D7475834D5}"/>
              </a:ext>
            </a:extLst>
          </p:cNvPr>
          <p:cNvSpPr txBox="1"/>
          <p:nvPr/>
        </p:nvSpPr>
        <p:spPr>
          <a:xfrm>
            <a:off x="1494977" y="6190618"/>
            <a:ext cx="1867819" cy="369332"/>
          </a:xfrm>
          <a:prstGeom prst="rect">
            <a:avLst/>
          </a:prstGeom>
          <a:noFill/>
        </p:spPr>
        <p:txBody>
          <a:bodyPr wrap="none" rtlCol="0">
            <a:spAutoFit/>
          </a:bodyPr>
          <a:lstStyle/>
          <a:p>
            <a:r>
              <a:rPr lang="en-US" altLang="zh-CN" dirty="0"/>
              <a:t>Build and upload</a:t>
            </a:r>
            <a:endParaRPr lang="zh-CN" altLang="en-US" dirty="0"/>
          </a:p>
        </p:txBody>
      </p:sp>
      <p:sp>
        <p:nvSpPr>
          <p:cNvPr id="15" name="文本框 14">
            <a:extLst>
              <a:ext uri="{FF2B5EF4-FFF2-40B4-BE49-F238E27FC236}">
                <a16:creationId xmlns:a16="http://schemas.microsoft.com/office/drawing/2014/main" id="{334030D9-E775-44B4-675A-5D75A5CF892E}"/>
              </a:ext>
            </a:extLst>
          </p:cNvPr>
          <p:cNvSpPr txBox="1"/>
          <p:nvPr/>
        </p:nvSpPr>
        <p:spPr>
          <a:xfrm>
            <a:off x="5432060" y="1137058"/>
            <a:ext cx="6099048" cy="5028556"/>
          </a:xfrm>
          <a:prstGeom prst="rect">
            <a:avLst/>
          </a:prstGeom>
          <a:noFill/>
        </p:spPr>
        <p:txBody>
          <a:bodyPr wrap="square">
            <a:spAutoFit/>
          </a:bodyPr>
          <a:lstStyle/>
          <a:p>
            <a:pPr>
              <a:lnSpc>
                <a:spcPct val="150000"/>
              </a:lnSpc>
              <a:buNone/>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Completed Work</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Completed PCB soldering and control board preparation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Finished firmware flashing for the controller board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Expanded the related circuit connections for hardware testing </a:t>
            </a:r>
          </a:p>
          <a:p>
            <a:pPr>
              <a:lnSpc>
                <a:spcPct val="150000"/>
              </a:lnSpc>
              <a:buNone/>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Current Status</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The control board can be programmed successfully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Basic circuit expansion has been completed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The hardware platform is ready for actuator-level testing </a:t>
            </a:r>
          </a:p>
          <a:p>
            <a:pPr>
              <a:lnSpc>
                <a:spcPct val="150000"/>
              </a:lnSpc>
              <a:buNone/>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Next Step</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Connect the board to the servo system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Verify signal output and actuator response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宋体" panose="02010600030101010101" pitchFamily="2" charset="-122"/>
                <a:cs typeface="Times New Roman" panose="02020603050405020304" pitchFamily="18" charset="0"/>
              </a:rPr>
              <a:t>Continue integrated debugging with the mechanical structure</a:t>
            </a:r>
          </a:p>
        </p:txBody>
      </p:sp>
    </p:spTree>
    <p:extLst>
      <p:ext uri="{BB962C8B-B14F-4D97-AF65-F5344CB8AC3E}">
        <p14:creationId xmlns:p14="http://schemas.microsoft.com/office/powerpoint/2010/main" val="1019589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D30DB-883D-1144-2431-E4AEC5C1499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C0346CE-893A-5EC8-C226-AC0E28A62A89}"/>
              </a:ext>
            </a:extLst>
          </p:cNvPr>
          <p:cNvSpPr>
            <a:spLocks noGrp="1"/>
          </p:cNvSpPr>
          <p:nvPr>
            <p:ph type="sldNum" sz="quarter" idx="12"/>
          </p:nvPr>
        </p:nvSpPr>
        <p:spPr>
          <a:xfrm>
            <a:off x="9444383" y="6472228"/>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6</a:t>
            </a:fld>
            <a:endParaRPr lang="zh-CN" altLang="en-US" dirty="0">
              <a:latin typeface="Times New Roman" panose="02020603050405020304" pitchFamily="18" charset="0"/>
              <a:cs typeface="Times New Roman" panose="02020603050405020304" pitchFamily="18" charset="0"/>
            </a:endParaRPr>
          </a:p>
        </p:txBody>
      </p:sp>
      <p:pic>
        <p:nvPicPr>
          <p:cNvPr id="3" name="Picture 4" descr="院长寄语 | 香港中文大学(深圳)金融EMBA">
            <a:extLst>
              <a:ext uri="{FF2B5EF4-FFF2-40B4-BE49-F238E27FC236}">
                <a16:creationId xmlns:a16="http://schemas.microsoft.com/office/drawing/2014/main" id="{3A8057C8-7FB4-A577-803D-69E18E2D6F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7416D8EB-D8A8-D092-7DB1-6CFEE6B410AC}"/>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RL Learning and Environment Setup</a:t>
            </a:r>
            <a:endParaRPr kumimoji="0" lang="zh-CN" altLang="en-US" sz="16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8" name="矩形 7">
            <a:extLst>
              <a:ext uri="{FF2B5EF4-FFF2-40B4-BE49-F238E27FC236}">
                <a16:creationId xmlns:a16="http://schemas.microsoft.com/office/drawing/2014/main" id="{9F0626FC-C6F8-EAA7-0B9D-B1357EF9C71F}"/>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Progress</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23" name="矩形 22">
            <a:extLst>
              <a:ext uri="{FF2B5EF4-FFF2-40B4-BE49-F238E27FC236}">
                <a16:creationId xmlns:a16="http://schemas.microsoft.com/office/drawing/2014/main" id="{6D735D4E-79B6-CE1C-8850-3FC7BD4D35F7}"/>
              </a:ext>
            </a:extLst>
          </p:cNvPr>
          <p:cNvSpPr/>
          <p:nvPr/>
        </p:nvSpPr>
        <p:spPr>
          <a:xfrm>
            <a:off x="157322" y="1082820"/>
            <a:ext cx="11799346" cy="5515575"/>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Eras Demi ITC" panose="020B0805030504020804" pitchFamily="34" charset="0"/>
              <a:ea typeface="等线" panose="02010600030101010101" pitchFamily="2" charset="-122"/>
            </a:endParaRPr>
          </a:p>
        </p:txBody>
      </p:sp>
      <p:grpSp>
        <p:nvGrpSpPr>
          <p:cNvPr id="18" name="组合 17">
            <a:extLst>
              <a:ext uri="{FF2B5EF4-FFF2-40B4-BE49-F238E27FC236}">
                <a16:creationId xmlns:a16="http://schemas.microsoft.com/office/drawing/2014/main" id="{E6E42FE8-149F-D3D0-941B-AC460662097E}"/>
              </a:ext>
            </a:extLst>
          </p:cNvPr>
          <p:cNvGrpSpPr/>
          <p:nvPr/>
        </p:nvGrpSpPr>
        <p:grpSpPr>
          <a:xfrm>
            <a:off x="226188" y="1828126"/>
            <a:ext cx="5400318" cy="2115318"/>
            <a:chOff x="237891" y="2221203"/>
            <a:chExt cx="6627342" cy="2989119"/>
          </a:xfrm>
        </p:grpSpPr>
        <p:pic>
          <p:nvPicPr>
            <p:cNvPr id="1026" name="Picture 2">
              <a:extLst>
                <a:ext uri="{FF2B5EF4-FFF2-40B4-BE49-F238E27FC236}">
                  <a16:creationId xmlns:a16="http://schemas.microsoft.com/office/drawing/2014/main" id="{DB696B69-8EC8-74F9-FB9F-7D8CFDF9B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891" y="2221203"/>
              <a:ext cx="6488087" cy="2773299"/>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16">
              <a:extLst>
                <a:ext uri="{FF2B5EF4-FFF2-40B4-BE49-F238E27FC236}">
                  <a16:creationId xmlns:a16="http://schemas.microsoft.com/office/drawing/2014/main" id="{34F86BF7-900B-D57A-20EB-31CEF387D271}"/>
                </a:ext>
              </a:extLst>
            </p:cNvPr>
            <p:cNvPicPr>
              <a:picLocks noChangeAspect="1"/>
            </p:cNvPicPr>
            <p:nvPr/>
          </p:nvPicPr>
          <p:blipFill>
            <a:blip r:embed="rId5"/>
            <a:stretch>
              <a:fillRect/>
            </a:stretch>
          </p:blipFill>
          <p:spPr>
            <a:xfrm>
              <a:off x="4845829" y="4638793"/>
              <a:ext cx="2019404" cy="571529"/>
            </a:xfrm>
            <a:prstGeom prst="rect">
              <a:avLst/>
            </a:prstGeom>
          </p:spPr>
        </p:pic>
      </p:grpSp>
      <p:sp>
        <p:nvSpPr>
          <p:cNvPr id="20" name="文本框 19">
            <a:extLst>
              <a:ext uri="{FF2B5EF4-FFF2-40B4-BE49-F238E27FC236}">
                <a16:creationId xmlns:a16="http://schemas.microsoft.com/office/drawing/2014/main" id="{11DC49DA-F67A-6463-4DDF-CC46EE1394EF}"/>
              </a:ext>
            </a:extLst>
          </p:cNvPr>
          <p:cNvSpPr txBox="1"/>
          <p:nvPr/>
        </p:nvSpPr>
        <p:spPr>
          <a:xfrm>
            <a:off x="5604793" y="1733612"/>
            <a:ext cx="6099048" cy="4520725"/>
          </a:xfrm>
          <a:prstGeom prst="rect">
            <a:avLst/>
          </a:prstGeom>
          <a:noFill/>
        </p:spPr>
        <p:txBody>
          <a:bodyPr wrap="square">
            <a:spAutoFit/>
          </a:bodyPr>
          <a:lstStyle/>
          <a:p>
            <a:pPr>
              <a:lnSpc>
                <a:spcPct val="150000"/>
              </a:lnSpc>
              <a:buNone/>
            </a:pPr>
            <a:r>
              <a:rPr lang="en-US" altLang="zh-CN" b="1" dirty="0">
                <a:latin typeface="Times New Roman" panose="02020603050405020304" pitchFamily="18" charset="0"/>
                <a:cs typeface="Times New Roman" panose="02020603050405020304" pitchFamily="18" charset="0"/>
              </a:rPr>
              <a:t>RL Learning</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Studying the basic concepts of reinforcement learning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Learning the formulation of state, action, and reward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Reviewing RL workflows for dexterous hand control </a:t>
            </a:r>
          </a:p>
          <a:p>
            <a:pPr>
              <a:lnSpc>
                <a:spcPct val="150000"/>
              </a:lnSpc>
              <a:buNone/>
            </a:pPr>
            <a:r>
              <a:rPr lang="en-US" altLang="zh-CN" b="1" dirty="0">
                <a:latin typeface="Times New Roman" panose="02020603050405020304" pitchFamily="18" charset="0"/>
                <a:cs typeface="Times New Roman" panose="02020603050405020304" pitchFamily="18" charset="0"/>
              </a:rPr>
              <a:t>Environment Setup</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Started building the simulation environment in </a:t>
            </a:r>
            <a:r>
              <a:rPr lang="en-US" altLang="zh-CN" sz="1600" dirty="0" err="1">
                <a:latin typeface="Times New Roman" panose="02020603050405020304" pitchFamily="18" charset="0"/>
                <a:cs typeface="Times New Roman" panose="02020603050405020304" pitchFamily="18" charset="0"/>
              </a:rPr>
              <a:t>MuJoCo</a:t>
            </a:r>
            <a:r>
              <a:rPr lang="en-US" altLang="zh-CN" sz="1600"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Exported the dexterous hand model from ROS </a:t>
            </a:r>
            <a:r>
              <a:rPr lang="en-US" altLang="zh-CN" sz="1600" b="1" dirty="0">
                <a:latin typeface="Times New Roman" panose="02020603050405020304" pitchFamily="18" charset="0"/>
                <a:cs typeface="Times New Roman" panose="02020603050405020304" pitchFamily="18" charset="0"/>
              </a:rPr>
              <a:t>URDF</a:t>
            </a:r>
            <a:r>
              <a:rPr lang="en-US" altLang="zh-CN" sz="1600" dirty="0">
                <a:latin typeface="Times New Roman" panose="02020603050405020304" pitchFamily="18" charset="0"/>
                <a:cs typeface="Times New Roman" panose="02020603050405020304" pitchFamily="18" charset="0"/>
              </a:rPr>
              <a:t> to </a:t>
            </a:r>
            <a:r>
              <a:rPr lang="en-US" altLang="zh-CN" sz="1600" b="1" dirty="0">
                <a:latin typeface="Times New Roman" panose="02020603050405020304" pitchFamily="18" charset="0"/>
                <a:cs typeface="Times New Roman" panose="02020603050405020304" pitchFamily="18" charset="0"/>
              </a:rPr>
              <a:t>XML</a:t>
            </a:r>
            <a:endParaRPr lang="en-US" altLang="zh-CN" sz="1600" dirty="0">
              <a:latin typeface="Times New Roman" panose="02020603050405020304" pitchFamily="18" charset="0"/>
              <a:cs typeface="Times New Roman" panose="02020603050405020304" pitchFamily="18" charset="0"/>
            </a:endParaRPr>
          </a:p>
          <a:p>
            <a:pPr>
              <a:lnSpc>
                <a:spcPct val="150000"/>
              </a:lnSpc>
              <a:buNone/>
            </a:pPr>
            <a:r>
              <a:rPr lang="en-US" altLang="zh-CN" b="1" dirty="0">
                <a:latin typeface="Times New Roman" panose="02020603050405020304" pitchFamily="18" charset="0"/>
                <a:cs typeface="Times New Roman" panose="02020603050405020304" pitchFamily="18" charset="0"/>
              </a:rPr>
              <a:t>Next Step</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Validate the imported hand model in </a:t>
            </a:r>
            <a:r>
              <a:rPr lang="en-US" altLang="zh-CN" dirty="0" err="1">
                <a:latin typeface="Times New Roman" panose="02020603050405020304" pitchFamily="18" charset="0"/>
                <a:cs typeface="Times New Roman" panose="02020603050405020304" pitchFamily="18" charset="0"/>
              </a:rPr>
              <a:t>MuJoCo</a:t>
            </a:r>
            <a:r>
              <a:rPr lang="en-US" altLang="zh-CN" dirty="0">
                <a:latin typeface="Times New Roman" panose="02020603050405020304" pitchFamily="18" charset="0"/>
                <a:cs typeface="Times New Roman" panose="02020603050405020304" pitchFamily="18" charset="0"/>
              </a:rPr>
              <a:t>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Refine the simulation environment for control tasks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Begin preliminary RL-related experiments on hand motion </a:t>
            </a:r>
          </a:p>
        </p:txBody>
      </p:sp>
      <p:sp>
        <p:nvSpPr>
          <p:cNvPr id="21" name="矩形 20">
            <a:extLst>
              <a:ext uri="{FF2B5EF4-FFF2-40B4-BE49-F238E27FC236}">
                <a16:creationId xmlns:a16="http://schemas.microsoft.com/office/drawing/2014/main" id="{837C9C66-BB31-38CC-68CC-1D02B80C72E9}"/>
              </a:ext>
            </a:extLst>
          </p:cNvPr>
          <p:cNvSpPr/>
          <p:nvPr/>
        </p:nvSpPr>
        <p:spPr>
          <a:xfrm>
            <a:off x="820863" y="5038344"/>
            <a:ext cx="1047560" cy="5760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ROS</a:t>
            </a:r>
            <a:b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URDF</a:t>
            </a:r>
            <a:endPar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65933334-D2EE-D64D-875B-8C421C1E77CF}"/>
              </a:ext>
            </a:extLst>
          </p:cNvPr>
          <p:cNvSpPr/>
          <p:nvPr/>
        </p:nvSpPr>
        <p:spPr>
          <a:xfrm>
            <a:off x="2926347" y="5038344"/>
            <a:ext cx="1047560" cy="5760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Mujoco</a:t>
            </a:r>
            <a:b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r>
              <a:rPr lang="en-US" altLang="zh-CN"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Xml</a:t>
            </a:r>
            <a:endParaRPr lang="zh-CN" altLang="en-US"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6" name="直接箭头连接符 25">
            <a:extLst>
              <a:ext uri="{FF2B5EF4-FFF2-40B4-BE49-F238E27FC236}">
                <a16:creationId xmlns:a16="http://schemas.microsoft.com/office/drawing/2014/main" id="{35F46221-D24D-1B67-A697-D31C4BDAE9CD}"/>
              </a:ext>
            </a:extLst>
          </p:cNvPr>
          <p:cNvCxnSpPr>
            <a:stCxn id="21" idx="3"/>
            <a:endCxn id="22" idx="1"/>
          </p:cNvCxnSpPr>
          <p:nvPr/>
        </p:nvCxnSpPr>
        <p:spPr>
          <a:xfrm>
            <a:off x="1868423" y="5326380"/>
            <a:ext cx="1057924"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8" name="矩形 27">
            <a:extLst>
              <a:ext uri="{FF2B5EF4-FFF2-40B4-BE49-F238E27FC236}">
                <a16:creationId xmlns:a16="http://schemas.microsoft.com/office/drawing/2014/main" id="{6B577BE4-4D0B-152F-1353-A6D16E6CF73A}"/>
              </a:ext>
            </a:extLst>
          </p:cNvPr>
          <p:cNvSpPr/>
          <p:nvPr/>
        </p:nvSpPr>
        <p:spPr>
          <a:xfrm>
            <a:off x="621791" y="4675826"/>
            <a:ext cx="1522435" cy="13011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96243DB7-BD05-F02F-6AB5-D2A80FC613B1}"/>
              </a:ext>
            </a:extLst>
          </p:cNvPr>
          <p:cNvSpPr/>
          <p:nvPr/>
        </p:nvSpPr>
        <p:spPr>
          <a:xfrm>
            <a:off x="2650119" y="4675826"/>
            <a:ext cx="1645520" cy="13011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4D8DD82C-2513-E51C-8AB4-B2673508B399}"/>
              </a:ext>
            </a:extLst>
          </p:cNvPr>
          <p:cNvSpPr txBox="1"/>
          <p:nvPr/>
        </p:nvSpPr>
        <p:spPr>
          <a:xfrm>
            <a:off x="1150686" y="6058942"/>
            <a:ext cx="2723823" cy="369332"/>
          </a:xfrm>
          <a:prstGeom prst="rect">
            <a:avLst/>
          </a:prstGeom>
          <a:noFill/>
        </p:spPr>
        <p:txBody>
          <a:bodyPr wrap="none" rtlCol="0">
            <a:spAutoFit/>
          </a:bodyPr>
          <a:lstStyle/>
          <a:p>
            <a:pPr algn="ctr"/>
            <a:r>
              <a:rPr lang="en-US" altLang="zh-CN" dirty="0">
                <a:latin typeface="Times New Roman" panose="02020603050405020304" pitchFamily="18" charset="0"/>
                <a:cs typeface="Times New Roman" panose="02020603050405020304" pitchFamily="18" charset="0"/>
              </a:rPr>
              <a:t>Model Conversion Pipeline</a:t>
            </a:r>
            <a:endParaRPr lang="zh-CN" altLang="en-US"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F9DFCC33-7969-0B52-D120-0DEC586878A1}"/>
              </a:ext>
            </a:extLst>
          </p:cNvPr>
          <p:cNvSpPr txBox="1"/>
          <p:nvPr/>
        </p:nvSpPr>
        <p:spPr>
          <a:xfrm>
            <a:off x="1246115" y="3840608"/>
            <a:ext cx="2727792" cy="369332"/>
          </a:xfrm>
          <a:prstGeom prst="rect">
            <a:avLst/>
          </a:prstGeom>
          <a:noFill/>
        </p:spPr>
        <p:txBody>
          <a:bodyPr wrap="square">
            <a:spAutoFit/>
          </a:bodyPr>
          <a:lstStyle/>
          <a:p>
            <a:pPr algn="ctr"/>
            <a:r>
              <a:rPr lang="en-US" altLang="zh-CN" dirty="0">
                <a:latin typeface="Times New Roman" panose="02020603050405020304" pitchFamily="18" charset="0"/>
                <a:cs typeface="Times New Roman" panose="02020603050405020304" pitchFamily="18" charset="0"/>
              </a:rPr>
              <a:t>Basic RL Workflow</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073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DF9E-421F-839C-6FC0-4AB635BAEFBA}"/>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10B020-691C-EE3C-0DE1-C8A99EC976A6}"/>
              </a:ext>
            </a:extLst>
          </p:cNvPr>
          <p:cNvSpPr>
            <a:spLocks noGrp="1"/>
          </p:cNvSpPr>
          <p:nvPr>
            <p:ph type="sldNum" sz="quarter" idx="12"/>
          </p:nvPr>
        </p:nvSpPr>
        <p:spPr>
          <a:xfrm>
            <a:off x="9448800" y="6472237"/>
            <a:ext cx="2743200" cy="365125"/>
          </a:xfrm>
        </p:spPr>
        <p:txBody>
          <a:bodyPr/>
          <a:lstStyle/>
          <a:p>
            <a:r>
              <a:rPr lang="en-US" altLang="zh-CN" dirty="0">
                <a:latin typeface="Times New Roman" panose="02020603050405020304" pitchFamily="18" charset="0"/>
                <a:cs typeface="Times New Roman" panose="02020603050405020304" pitchFamily="18" charset="0"/>
              </a:rPr>
              <a:t>7</a:t>
            </a:r>
            <a:endParaRPr lang="zh-CN" altLang="en-US" dirty="0">
              <a:latin typeface="Times New Roman" panose="02020603050405020304" pitchFamily="18" charset="0"/>
              <a:cs typeface="Times New Roman" panose="02020603050405020304" pitchFamily="18" charset="0"/>
            </a:endParaRPr>
          </a:p>
        </p:txBody>
      </p:sp>
      <p:pic>
        <p:nvPicPr>
          <p:cNvPr id="6" name="Picture 4" descr="院长寄语 | 香港中文大学(深圳)金融EMBA">
            <a:extLst>
              <a:ext uri="{FF2B5EF4-FFF2-40B4-BE49-F238E27FC236}">
                <a16:creationId xmlns:a16="http://schemas.microsoft.com/office/drawing/2014/main" id="{02E73E8E-8258-9023-A405-F366DB923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0A6F22A6-AA5D-B996-548E-E24A76C761C9}"/>
              </a:ext>
            </a:extLst>
          </p:cNvPr>
          <p:cNvSpPr/>
          <p:nvPr/>
        </p:nvSpPr>
        <p:spPr>
          <a:xfrm>
            <a:off x="2095120" y="93054"/>
            <a:ext cx="502413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tLang="zh-CN" dirty="0">
                <a:solidFill>
                  <a:schemeClr val="tx1"/>
                </a:solidFill>
                <a:latin typeface="Eras Demi ITC" panose="020B0805030504020804" pitchFamily="34" charset="0"/>
                <a:ea typeface="思源黑体 CN Normal" panose="020B0400000000000000" pitchFamily="34" charset="-122"/>
              </a:rPr>
              <a:t>Next Step Plan &amp; Expected Final Outcomes</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16" name="矩形 15">
            <a:extLst>
              <a:ext uri="{FF2B5EF4-FFF2-40B4-BE49-F238E27FC236}">
                <a16:creationId xmlns:a16="http://schemas.microsoft.com/office/drawing/2014/main" id="{CA713FF3-AE6F-BAD4-EE71-80ECF869C71D}"/>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lvl="0" algn="ctr">
              <a:defRPr/>
            </a:pPr>
            <a:r>
              <a:rPr lang="en-US" altLang="zh-CN" sz="2400" b="1" dirty="0">
                <a:solidFill>
                  <a:prstClr val="white"/>
                </a:solidFill>
                <a:latin typeface="Eras Demi ITC" panose="020B0805030504020804" pitchFamily="34" charset="0"/>
                <a:ea typeface="思源黑体 CN Bold" panose="020B0800000000000000" pitchFamily="34" charset="-122"/>
              </a:rPr>
              <a:t>Future work</a:t>
            </a:r>
            <a:endParaRPr lang="zh-CN" altLang="en-US" sz="2400" b="1" dirty="0">
              <a:solidFill>
                <a:prstClr val="white"/>
              </a:solidFill>
              <a:latin typeface="Eras Demi ITC" panose="020B0805030504020804" pitchFamily="34" charset="0"/>
              <a:ea typeface="思源黑体 CN Bold" panose="020B0800000000000000" pitchFamily="34" charset="-122"/>
            </a:endParaRPr>
          </a:p>
        </p:txBody>
      </p:sp>
      <p:sp>
        <p:nvSpPr>
          <p:cNvPr id="11" name="矩形 10">
            <a:extLst>
              <a:ext uri="{FF2B5EF4-FFF2-40B4-BE49-F238E27FC236}">
                <a16:creationId xmlns:a16="http://schemas.microsoft.com/office/drawing/2014/main" id="{CC0D0DEE-DACD-1C91-1EAF-BD8C721654FC}"/>
              </a:ext>
            </a:extLst>
          </p:cNvPr>
          <p:cNvSpPr/>
          <p:nvPr/>
        </p:nvSpPr>
        <p:spPr>
          <a:xfrm>
            <a:off x="132178" y="682581"/>
            <a:ext cx="11653422" cy="4163311"/>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aphicFrame>
        <p:nvGraphicFramePr>
          <p:cNvPr id="8" name="表格 7">
            <a:extLst>
              <a:ext uri="{FF2B5EF4-FFF2-40B4-BE49-F238E27FC236}">
                <a16:creationId xmlns:a16="http://schemas.microsoft.com/office/drawing/2014/main" id="{3CBC221C-6519-98A1-ACEE-EE42AEEBD00E}"/>
              </a:ext>
            </a:extLst>
          </p:cNvPr>
          <p:cNvGraphicFramePr>
            <a:graphicFrameLocks noGrp="1"/>
          </p:cNvGraphicFramePr>
          <p:nvPr>
            <p:extLst>
              <p:ext uri="{D42A27DB-BD31-4B8C-83A1-F6EECF244321}">
                <p14:modId xmlns:p14="http://schemas.microsoft.com/office/powerpoint/2010/main" val="700332445"/>
              </p:ext>
            </p:extLst>
          </p:nvPr>
        </p:nvGraphicFramePr>
        <p:xfrm>
          <a:off x="132177" y="682581"/>
          <a:ext cx="11653423" cy="1968299"/>
        </p:xfrm>
        <a:graphic>
          <a:graphicData uri="http://schemas.openxmlformats.org/drawingml/2006/table">
            <a:tbl>
              <a:tblPr firstRow="1" bandRow="1">
                <a:tableStyleId>{6E25E649-3F16-4E02-A733-19D2CDBF48F0}</a:tableStyleId>
              </a:tblPr>
              <a:tblGrid>
                <a:gridCol w="3479703">
                  <a:extLst>
                    <a:ext uri="{9D8B030D-6E8A-4147-A177-3AD203B41FA5}">
                      <a16:colId xmlns:a16="http://schemas.microsoft.com/office/drawing/2014/main" val="3489930416"/>
                    </a:ext>
                  </a:extLst>
                </a:gridCol>
                <a:gridCol w="8173720">
                  <a:extLst>
                    <a:ext uri="{9D8B030D-6E8A-4147-A177-3AD203B41FA5}">
                      <a16:colId xmlns:a16="http://schemas.microsoft.com/office/drawing/2014/main" val="2506253478"/>
                    </a:ext>
                  </a:extLst>
                </a:gridCol>
              </a:tblGrid>
              <a:tr h="343932">
                <a:tc>
                  <a:txBody>
                    <a:bodyPr/>
                    <a:lstStyle/>
                    <a:p>
                      <a:pPr algn="ctr">
                        <a:buNone/>
                      </a:pPr>
                      <a:r>
                        <a:rPr lang="en-US" sz="1600" b="1" dirty="0">
                          <a:latin typeface="Times New Roman" panose="02020603050405020304" pitchFamily="18" charset="0"/>
                          <a:cs typeface="Times New Roman" panose="02020603050405020304" pitchFamily="18" charset="0"/>
                        </a:rPr>
                        <a:t>Work Area</a:t>
                      </a:r>
                      <a:endParaRPr lang="en-US" sz="1600" dirty="0">
                        <a:latin typeface="Times New Roman" panose="02020603050405020304" pitchFamily="18" charset="0"/>
                        <a:cs typeface="Times New Roman" panose="02020603050405020304" pitchFamily="18" charset="0"/>
                      </a:endParaRPr>
                    </a:p>
                  </a:txBody>
                  <a:tcPr marL="83680" marR="83680" marT="41840" marB="4184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tc>
                  <a:txBody>
                    <a:bodyPr/>
                    <a:lstStyle/>
                    <a:p>
                      <a:pPr algn="ctr">
                        <a:buNone/>
                      </a:pPr>
                      <a:r>
                        <a:rPr lang="en-US" altLang="zh-CN" sz="1600" dirty="0">
                          <a:latin typeface="Times New Roman" panose="02020603050405020304" pitchFamily="18" charset="0"/>
                          <a:cs typeface="Times New Roman" panose="02020603050405020304" pitchFamily="18" charset="0"/>
                        </a:rPr>
                        <a:t>Planned</a:t>
                      </a:r>
                      <a:r>
                        <a:rPr lang="en-US" altLang="zh-CN" sz="1600" dirty="0"/>
                        <a:t> Tasks</a:t>
                      </a:r>
                      <a:endParaRPr lang="en-US" sz="1600" dirty="0">
                        <a:latin typeface="Times New Roman" panose="02020603050405020304" pitchFamily="18" charset="0"/>
                        <a:cs typeface="Times New Roman" panose="02020603050405020304" pitchFamily="18" charset="0"/>
                      </a:endParaRP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extLst>
                  <a:ext uri="{0D108BD9-81ED-4DB2-BD59-A6C34878D82A}">
                    <a16:rowId xmlns:a16="http://schemas.microsoft.com/office/drawing/2014/main" val="3926165430"/>
                  </a:ext>
                </a:extLst>
              </a:tr>
              <a:tr h="496155">
                <a:tc>
                  <a:txBody>
                    <a:bodyPr/>
                    <a:lstStyle/>
                    <a:p>
                      <a:pPr algn="ctr">
                        <a:buNone/>
                      </a:pPr>
                      <a:r>
                        <a:rPr lang="en-US" b="1">
                          <a:latin typeface="Times New Roman" panose="02020603050405020304" pitchFamily="18" charset="0"/>
                          <a:cs typeface="Times New Roman" panose="02020603050405020304" pitchFamily="18" charset="0"/>
                        </a:rPr>
                        <a:t>Mechanical</a:t>
                      </a:r>
                      <a:endParaRPr lang="en-US">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buNone/>
                      </a:pPr>
                      <a:r>
                        <a:rPr lang="en-US" sz="1600" kern="1200" dirty="0">
                          <a:solidFill>
                            <a:schemeClr val="dk1"/>
                          </a:solidFill>
                          <a:latin typeface="Times New Roman" panose="02020603050405020304" pitchFamily="18" charset="0"/>
                          <a:ea typeface="+mn-ea"/>
                          <a:cs typeface="Times New Roman" panose="02020603050405020304" pitchFamily="18" charset="0"/>
                        </a:rPr>
                        <a:t>Complete the full hand assembly; finish tendon routing and joint adjustment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3227494"/>
                  </a:ext>
                </a:extLst>
              </a:tr>
              <a:tr h="549092">
                <a:tc>
                  <a:txBody>
                    <a:bodyPr/>
                    <a:lstStyle/>
                    <a:p>
                      <a:pPr algn="ctr">
                        <a:buNone/>
                      </a:pPr>
                      <a:r>
                        <a:rPr lang="en-US" b="1" dirty="0">
                          <a:latin typeface="Times New Roman" panose="02020603050405020304" pitchFamily="18" charset="0"/>
                          <a:cs typeface="Times New Roman" panose="02020603050405020304" pitchFamily="18" charset="0"/>
                        </a:rPr>
                        <a:t>Electronics</a:t>
                      </a:r>
                      <a:endParaRPr lang="en-US"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buNone/>
                      </a:pPr>
                      <a:r>
                        <a:rPr lang="en-US" sz="1600" kern="1200" dirty="0">
                          <a:solidFill>
                            <a:schemeClr val="dk1"/>
                          </a:solidFill>
                          <a:latin typeface="Times New Roman" panose="02020603050405020304" pitchFamily="18" charset="0"/>
                          <a:ea typeface="+mn-ea"/>
                          <a:cs typeface="Times New Roman" panose="02020603050405020304" pitchFamily="18" charset="0"/>
                        </a:rPr>
                        <a:t>Continue control board and actuator testing; integrate the servo system with the hardware 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2714049"/>
                  </a:ext>
                </a:extLst>
              </a:tr>
              <a:tr h="549092">
                <a:tc>
                  <a:txBody>
                    <a:bodyPr/>
                    <a:lstStyle/>
                    <a:p>
                      <a:pPr algn="ctr">
                        <a:buNone/>
                      </a:pPr>
                      <a:r>
                        <a:rPr lang="en-US" b="1" dirty="0">
                          <a:latin typeface="Times New Roman" panose="02020603050405020304" pitchFamily="18" charset="0"/>
                          <a:cs typeface="Times New Roman" panose="02020603050405020304" pitchFamily="18" charset="0"/>
                        </a:rPr>
                        <a:t>RL / Intelligent Control</a:t>
                      </a:r>
                      <a:endParaRPr lang="en-US"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buNone/>
                      </a:pPr>
                      <a:r>
                        <a:rPr lang="en-US" sz="1600" kern="1200" dirty="0">
                          <a:solidFill>
                            <a:schemeClr val="dk1"/>
                          </a:solidFill>
                          <a:latin typeface="Times New Roman" panose="02020603050405020304" pitchFamily="18" charset="0"/>
                          <a:ea typeface="+mn-ea"/>
                          <a:cs typeface="Times New Roman" panose="02020603050405020304" pitchFamily="18" charset="0"/>
                        </a:rPr>
                        <a:t>Validate the </a:t>
                      </a:r>
                      <a:r>
                        <a:rPr lang="en-US" sz="1600" kern="1200" dirty="0" err="1">
                          <a:solidFill>
                            <a:schemeClr val="dk1"/>
                          </a:solidFill>
                          <a:latin typeface="Times New Roman" panose="02020603050405020304" pitchFamily="18" charset="0"/>
                          <a:ea typeface="+mn-ea"/>
                          <a:cs typeface="Times New Roman" panose="02020603050405020304" pitchFamily="18" charset="0"/>
                        </a:rPr>
                        <a:t>MuJoCo</a:t>
                      </a:r>
                      <a:r>
                        <a:rPr lang="en-US" sz="1600" kern="1200" dirty="0">
                          <a:solidFill>
                            <a:schemeClr val="dk1"/>
                          </a:solidFill>
                          <a:latin typeface="Times New Roman" panose="02020603050405020304" pitchFamily="18" charset="0"/>
                          <a:ea typeface="+mn-ea"/>
                          <a:cs typeface="Times New Roman" panose="02020603050405020304" pitchFamily="18" charset="0"/>
                        </a:rPr>
                        <a:t> model; refine the environment for later intelligent control exploration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4273258"/>
                  </a:ext>
                </a:extLst>
              </a:tr>
            </a:tbl>
          </a:graphicData>
        </a:graphic>
      </p:graphicFrame>
      <p:graphicFrame>
        <p:nvGraphicFramePr>
          <p:cNvPr id="13" name="表格 12">
            <a:extLst>
              <a:ext uri="{FF2B5EF4-FFF2-40B4-BE49-F238E27FC236}">
                <a16:creationId xmlns:a16="http://schemas.microsoft.com/office/drawing/2014/main" id="{9EEA77B7-5AC0-0792-EDFB-5B47E448098E}"/>
              </a:ext>
            </a:extLst>
          </p:cNvPr>
          <p:cNvGraphicFramePr>
            <a:graphicFrameLocks noGrp="1"/>
          </p:cNvGraphicFramePr>
          <p:nvPr>
            <p:extLst>
              <p:ext uri="{D42A27DB-BD31-4B8C-83A1-F6EECF244321}">
                <p14:modId xmlns:p14="http://schemas.microsoft.com/office/powerpoint/2010/main" val="4273695703"/>
              </p:ext>
            </p:extLst>
          </p:nvPr>
        </p:nvGraphicFramePr>
        <p:xfrm>
          <a:off x="132178" y="2650880"/>
          <a:ext cx="11653422" cy="2195012"/>
        </p:xfrm>
        <a:graphic>
          <a:graphicData uri="http://schemas.openxmlformats.org/drawingml/2006/table">
            <a:tbl>
              <a:tblPr firstRow="1" bandRow="1">
                <a:tableStyleId>{6E25E649-3F16-4E02-A733-19D2CDBF48F0}</a:tableStyleId>
              </a:tblPr>
              <a:tblGrid>
                <a:gridCol w="3488846">
                  <a:extLst>
                    <a:ext uri="{9D8B030D-6E8A-4147-A177-3AD203B41FA5}">
                      <a16:colId xmlns:a16="http://schemas.microsoft.com/office/drawing/2014/main" val="3489930416"/>
                    </a:ext>
                  </a:extLst>
                </a:gridCol>
                <a:gridCol w="8164576">
                  <a:extLst>
                    <a:ext uri="{9D8B030D-6E8A-4147-A177-3AD203B41FA5}">
                      <a16:colId xmlns:a16="http://schemas.microsoft.com/office/drawing/2014/main" val="2506253478"/>
                    </a:ext>
                  </a:extLst>
                </a:gridCol>
              </a:tblGrid>
              <a:tr h="343932">
                <a:tc>
                  <a:txBody>
                    <a:bodyPr/>
                    <a:lstStyle/>
                    <a:p>
                      <a:pPr algn="ctr">
                        <a:buNone/>
                      </a:pPr>
                      <a:r>
                        <a:rPr lang="en-US" b="1" dirty="0">
                          <a:latin typeface="Times New Roman" panose="02020603050405020304" pitchFamily="18" charset="0"/>
                          <a:cs typeface="Times New Roman" panose="02020603050405020304" pitchFamily="18" charset="0"/>
                        </a:rPr>
                        <a:t>Outcome Area</a:t>
                      </a:r>
                      <a:endParaRPr lang="en-US"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tc>
                  <a:txBody>
                    <a:bodyPr/>
                    <a:lstStyle/>
                    <a:p>
                      <a:pPr algn="ctr">
                        <a:buNone/>
                      </a:pPr>
                      <a:r>
                        <a:rPr lang="en-US" b="1" dirty="0">
                          <a:latin typeface="Times New Roman" panose="02020603050405020304" pitchFamily="18" charset="0"/>
                          <a:cs typeface="Times New Roman" panose="02020603050405020304" pitchFamily="18" charset="0"/>
                        </a:rPr>
                        <a:t>Target Result</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1C3F62"/>
                    </a:solidFill>
                  </a:tcPr>
                </a:tc>
                <a:extLst>
                  <a:ext uri="{0D108BD9-81ED-4DB2-BD59-A6C34878D82A}">
                    <a16:rowId xmlns:a16="http://schemas.microsoft.com/office/drawing/2014/main" val="3926165430"/>
                  </a:ext>
                </a:extLst>
              </a:tr>
              <a:tr h="496155">
                <a:tc>
                  <a:txBody>
                    <a:bodyPr/>
                    <a:lstStyle/>
                    <a:p>
                      <a:pPr>
                        <a:buNone/>
                      </a:pPr>
                      <a:r>
                        <a:rPr lang="en-US" b="1">
                          <a:latin typeface="Times New Roman" panose="02020603050405020304" pitchFamily="18" charset="0"/>
                          <a:cs typeface="Times New Roman" panose="02020603050405020304" pitchFamily="18" charset="0"/>
                        </a:rPr>
                        <a:t>Hand Prototype</a:t>
                      </a:r>
                      <a:endParaRPr lang="en-US">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dirty="0">
                          <a:latin typeface="Times New Roman" panose="02020603050405020304" pitchFamily="18" charset="0"/>
                          <a:cs typeface="Times New Roman" panose="02020603050405020304" pitchFamily="18" charset="0"/>
                        </a:rPr>
                        <a:t>A functional dexterous hand prototype with integrated mechanical and electronic modules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13227494"/>
                  </a:ext>
                </a:extLst>
              </a:tr>
              <a:tr h="549092">
                <a:tc>
                  <a:txBody>
                    <a:bodyPr/>
                    <a:lstStyle/>
                    <a:p>
                      <a:pPr>
                        <a:buNone/>
                      </a:pPr>
                      <a:r>
                        <a:rPr lang="en-US" b="1">
                          <a:latin typeface="Times New Roman" panose="02020603050405020304" pitchFamily="18" charset="0"/>
                          <a:cs typeface="Times New Roman" panose="02020603050405020304" pitchFamily="18" charset="0"/>
                        </a:rPr>
                        <a:t>System Verification</a:t>
                      </a:r>
                      <a:endParaRPr lang="en-US">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dirty="0">
                          <a:latin typeface="Times New Roman" panose="02020603050405020304" pitchFamily="18" charset="0"/>
                          <a:cs typeface="Times New Roman" panose="02020603050405020304" pitchFamily="18" charset="0"/>
                        </a:rPr>
                        <a:t>Verified actuator control and basic hand motion capability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2714049"/>
                  </a:ext>
                </a:extLst>
              </a:tr>
              <a:tr h="549092">
                <a:tc>
                  <a:txBody>
                    <a:bodyPr/>
                    <a:lstStyle/>
                    <a:p>
                      <a:pPr>
                        <a:buNone/>
                      </a:pPr>
                      <a:r>
                        <a:rPr lang="en-US" b="1" dirty="0">
                          <a:latin typeface="Times New Roman" panose="02020603050405020304" pitchFamily="18" charset="0"/>
                          <a:cs typeface="Times New Roman" panose="02020603050405020304" pitchFamily="18" charset="0"/>
                        </a:rPr>
                        <a:t>Simulation-to-Hardware</a:t>
                      </a:r>
                      <a:endParaRPr lang="en-US"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dirty="0">
                          <a:latin typeface="Times New Roman" panose="02020603050405020304" pitchFamily="18" charset="0"/>
                          <a:cs typeface="Times New Roman" panose="02020603050405020304" pitchFamily="18" charset="0"/>
                        </a:rPr>
                        <a:t>Initial validation of the </a:t>
                      </a:r>
                      <a:r>
                        <a:rPr lang="en-US" dirty="0" err="1">
                          <a:latin typeface="Times New Roman" panose="02020603050405020304" pitchFamily="18" charset="0"/>
                          <a:cs typeface="Times New Roman" panose="02020603050405020304" pitchFamily="18" charset="0"/>
                        </a:rPr>
                        <a:t>DexHand</a:t>
                      </a:r>
                      <a:r>
                        <a:rPr lang="en-US" dirty="0">
                          <a:latin typeface="Times New Roman" panose="02020603050405020304" pitchFamily="18" charset="0"/>
                          <a:cs typeface="Times New Roman" panose="02020603050405020304" pitchFamily="18" charset="0"/>
                        </a:rPr>
                        <a:t> workflow from simulation to physical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4273258"/>
                  </a:ext>
                </a:extLst>
              </a:tr>
            </a:tbl>
          </a:graphicData>
        </a:graphic>
      </p:graphicFrame>
      <p:pic>
        <p:nvPicPr>
          <p:cNvPr id="25" name="图片 24">
            <a:extLst>
              <a:ext uri="{FF2B5EF4-FFF2-40B4-BE49-F238E27FC236}">
                <a16:creationId xmlns:a16="http://schemas.microsoft.com/office/drawing/2014/main" id="{4F347089-D708-6225-8D7C-D0065533164A}"/>
              </a:ext>
            </a:extLst>
          </p:cNvPr>
          <p:cNvPicPr>
            <a:picLocks noChangeAspect="1"/>
          </p:cNvPicPr>
          <p:nvPr/>
        </p:nvPicPr>
        <p:blipFill>
          <a:blip r:embed="rId4"/>
          <a:srcRect t="23246" b="38654"/>
          <a:stretch>
            <a:fillRect/>
          </a:stretch>
        </p:blipFill>
        <p:spPr>
          <a:xfrm>
            <a:off x="2360359" y="4865363"/>
            <a:ext cx="6928019" cy="1971999"/>
          </a:xfrm>
          <a:prstGeom prst="rect">
            <a:avLst/>
          </a:prstGeom>
        </p:spPr>
      </p:pic>
    </p:spTree>
    <p:extLst>
      <p:ext uri="{BB962C8B-B14F-4D97-AF65-F5344CB8AC3E}">
        <p14:creationId xmlns:p14="http://schemas.microsoft.com/office/powerpoint/2010/main" val="73326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CA5C-E8C6-5DC5-A812-7E6C61A30AD7}"/>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37F90350-84FE-CF8D-B2E3-308E90F6AB8C}"/>
              </a:ext>
            </a:extLst>
          </p:cNvPr>
          <p:cNvSpPr txBox="1"/>
          <p:nvPr/>
        </p:nvSpPr>
        <p:spPr>
          <a:xfrm>
            <a:off x="263331" y="6336754"/>
            <a:ext cx="6096000" cy="400110"/>
          </a:xfrm>
          <a:prstGeom prst="rect">
            <a:avLst/>
          </a:prstGeom>
          <a:noFill/>
        </p:spPr>
        <p:txBody>
          <a:bodyPr wrap="square">
            <a:spAutoFit/>
          </a:bodyPr>
          <a:lstStyle/>
          <a:p>
            <a:r>
              <a:rPr lang="en-US" altLang="zh-CN" sz="1000" dirty="0">
                <a:latin typeface="Times New Roman" panose="02020603050405020304" pitchFamily="18" charset="0"/>
                <a:cs typeface="Times New Roman" panose="02020603050405020304" pitchFamily="18" charset="0"/>
              </a:rPr>
              <a:t>Other: 4cm*6cm Arduino</a:t>
            </a:r>
            <a:r>
              <a:rPr lang="zh-CN" altLang="en-US" sz="1000" dirty="0">
                <a:latin typeface="Times New Roman" panose="02020603050405020304" pitchFamily="18" charset="0"/>
                <a:cs typeface="Times New Roman" panose="02020603050405020304" pitchFamily="18" charset="0"/>
              </a:rPr>
              <a:t>通用原型板</a:t>
            </a:r>
            <a:r>
              <a:rPr lang="en-US" altLang="zh-CN" sz="1000" dirty="0">
                <a:latin typeface="Times New Roman" panose="02020603050405020304" pitchFamily="18" charset="0"/>
                <a:cs typeface="Times New Roman" panose="02020603050405020304" pitchFamily="18" charset="0"/>
              </a:rPr>
              <a:t>/2.54 </a:t>
            </a:r>
            <a:r>
              <a:rPr lang="zh-CN" altLang="en-US" sz="1000" dirty="0">
                <a:latin typeface="Times New Roman" panose="02020603050405020304" pitchFamily="18" charset="0"/>
                <a:cs typeface="Times New Roman" panose="02020603050405020304" pitchFamily="18" charset="0"/>
              </a:rPr>
              <a:t>排母</a:t>
            </a:r>
            <a:r>
              <a:rPr lang="en-US" altLang="zh-CN" sz="1000" dirty="0">
                <a:latin typeface="Times New Roman" panose="02020603050405020304" pitchFamily="18" charset="0"/>
                <a:cs typeface="Times New Roman" panose="02020603050405020304" pitchFamily="18" charset="0"/>
              </a:rPr>
              <a:t>20pin/2.54 </a:t>
            </a:r>
            <a:r>
              <a:rPr lang="zh-CN" altLang="en-US" sz="1000" dirty="0">
                <a:latin typeface="Times New Roman" panose="02020603050405020304" pitchFamily="18" charset="0"/>
                <a:cs typeface="Times New Roman" panose="02020603050405020304" pitchFamily="18" charset="0"/>
              </a:rPr>
              <a:t>排针</a:t>
            </a:r>
            <a:r>
              <a:rPr lang="en-US" altLang="zh-CN" sz="1000" dirty="0">
                <a:latin typeface="Times New Roman" panose="02020603050405020304" pitchFamily="18" charset="0"/>
                <a:cs typeface="Times New Roman" panose="02020603050405020304" pitchFamily="18" charset="0"/>
              </a:rPr>
              <a:t>20pin/</a:t>
            </a:r>
            <a:r>
              <a:rPr lang="zh-CN" altLang="en-US" sz="1000" dirty="0">
                <a:latin typeface="Times New Roman" panose="02020603050405020304" pitchFamily="18" charset="0"/>
                <a:cs typeface="Times New Roman" panose="02020603050405020304" pitchFamily="18" charset="0"/>
              </a:rPr>
              <a:t>圆柱销套件</a:t>
            </a:r>
            <a:r>
              <a:rPr lang="en-US" altLang="zh-CN" sz="1000" dirty="0">
                <a:latin typeface="Times New Roman" panose="02020603050405020304" pitchFamily="18" charset="0"/>
                <a:cs typeface="Times New Roman" panose="02020603050405020304" pitchFamily="18" charset="0"/>
              </a:rPr>
              <a:t>/M2 </a:t>
            </a:r>
            <a:r>
              <a:rPr lang="zh-CN" altLang="en-US" sz="1000" dirty="0">
                <a:latin typeface="Times New Roman" panose="02020603050405020304" pitchFamily="18" charset="0"/>
                <a:cs typeface="Times New Roman" panose="02020603050405020304" pitchFamily="18" charset="0"/>
              </a:rPr>
              <a:t>螺丝及垫片</a:t>
            </a:r>
            <a:r>
              <a:rPr lang="en-US" altLang="zh-CN"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cs typeface="Times New Roman" panose="02020603050405020304" pitchFamily="18" charset="0"/>
              </a:rPr>
              <a:t>螺纹嵌件</a:t>
            </a:r>
            <a:r>
              <a:rPr lang="en-US" altLang="zh-CN" sz="1000" dirty="0">
                <a:latin typeface="Times New Roman" panose="02020603050405020304" pitchFamily="18" charset="0"/>
                <a:cs typeface="Times New Roman" panose="02020603050405020304" pitchFamily="18" charset="0"/>
              </a:rPr>
              <a:t>m2*4*3.5/12</a:t>
            </a:r>
            <a:r>
              <a:rPr lang="zh-CN" altLang="en-US" sz="1000" dirty="0">
                <a:latin typeface="Times New Roman" panose="02020603050405020304" pitchFamily="18" charset="0"/>
                <a:cs typeface="Times New Roman" panose="02020603050405020304" pitchFamily="18" charset="0"/>
              </a:rPr>
              <a:t>编</a:t>
            </a:r>
            <a:r>
              <a:rPr lang="en-US" altLang="zh-CN" sz="1000" dirty="0">
                <a:latin typeface="Times New Roman" panose="02020603050405020304" pitchFamily="18" charset="0"/>
                <a:cs typeface="Times New Roman" panose="02020603050405020304" pitchFamily="18" charset="0"/>
              </a:rPr>
              <a:t>100m</a:t>
            </a:r>
            <a:r>
              <a:rPr lang="zh-CN" altLang="en-US" sz="1000" dirty="0">
                <a:latin typeface="Times New Roman" panose="02020603050405020304" pitchFamily="18" charset="0"/>
                <a:cs typeface="Times New Roman" panose="02020603050405020304" pitchFamily="18" charset="0"/>
              </a:rPr>
              <a:t>灰色</a:t>
            </a:r>
            <a:r>
              <a:rPr lang="en-US" altLang="zh-CN" sz="1000" dirty="0">
                <a:latin typeface="Times New Roman" panose="02020603050405020304" pitchFamily="18" charset="0"/>
                <a:cs typeface="Times New Roman" panose="02020603050405020304" pitchFamily="18" charset="0"/>
              </a:rPr>
              <a:t>/6103</a:t>
            </a:r>
            <a:r>
              <a:rPr lang="zh-CN" altLang="en-US" sz="1000" dirty="0">
                <a:latin typeface="Times New Roman" panose="02020603050405020304" pitchFamily="18" charset="0"/>
                <a:cs typeface="Times New Roman" panose="02020603050405020304" pitchFamily="18" charset="0"/>
              </a:rPr>
              <a:t>滚珠轴承</a:t>
            </a:r>
            <a:r>
              <a:rPr lang="en-US" altLang="zh-CN" sz="1000" dirty="0">
                <a:latin typeface="Times New Roman" panose="02020603050405020304" pitchFamily="18" charset="0"/>
                <a:cs typeface="Times New Roman" panose="02020603050405020304" pitchFamily="18" charset="0"/>
              </a:rPr>
              <a:t>/263</a:t>
            </a:r>
            <a:r>
              <a:rPr lang="zh-CN" altLang="en-US" sz="1000" dirty="0">
                <a:latin typeface="Times New Roman" panose="02020603050405020304" pitchFamily="18" charset="0"/>
                <a:cs typeface="Times New Roman" panose="02020603050405020304" pitchFamily="18" charset="0"/>
              </a:rPr>
              <a:t>滚珠轴承</a:t>
            </a:r>
            <a:r>
              <a:rPr lang="en-US" altLang="zh-CN"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cs typeface="Times New Roman" panose="02020603050405020304" pitchFamily="18" charset="0"/>
              </a:rPr>
              <a:t>深沟球轴承</a:t>
            </a:r>
            <a:r>
              <a:rPr lang="en-US" altLang="zh-CN" sz="1000" dirty="0">
                <a:latin typeface="Times New Roman" panose="02020603050405020304" pitchFamily="18" charset="0"/>
                <a:cs typeface="Times New Roman" panose="02020603050405020304" pitchFamily="18" charset="0"/>
              </a:rPr>
              <a:t>6702ZZ/693zz 384/m3*60/m3*70</a:t>
            </a:r>
          </a:p>
        </p:txBody>
      </p:sp>
      <p:sp>
        <p:nvSpPr>
          <p:cNvPr id="11" name="灯片编号占位符 10">
            <a:extLst>
              <a:ext uri="{FF2B5EF4-FFF2-40B4-BE49-F238E27FC236}">
                <a16:creationId xmlns:a16="http://schemas.microsoft.com/office/drawing/2014/main" id="{B9331C05-AC56-F4E6-6E6C-D597748456B0}"/>
              </a:ext>
            </a:extLst>
          </p:cNvPr>
          <p:cNvSpPr>
            <a:spLocks noGrp="1"/>
          </p:cNvSpPr>
          <p:nvPr>
            <p:ph type="sldNum" sz="quarter" idx="12"/>
          </p:nvPr>
        </p:nvSpPr>
        <p:spPr>
          <a:xfrm>
            <a:off x="9448800" y="6492875"/>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8</a:t>
            </a:fld>
            <a:endParaRPr lang="zh-CN" altLang="en-US">
              <a:latin typeface="Times New Roman" panose="02020603050405020304" pitchFamily="18" charset="0"/>
              <a:cs typeface="Times New Roman" panose="02020603050405020304" pitchFamily="18" charset="0"/>
            </a:endParaRPr>
          </a:p>
        </p:txBody>
      </p:sp>
      <p:pic>
        <p:nvPicPr>
          <p:cNvPr id="15" name="Picture 4" descr="院长寄语 | 香港中文大学(深圳)金融EMBA">
            <a:extLst>
              <a:ext uri="{FF2B5EF4-FFF2-40B4-BE49-F238E27FC236}">
                <a16:creationId xmlns:a16="http://schemas.microsoft.com/office/drawing/2014/main" id="{CB36E7A8-4336-6461-744F-56CBD13CB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23" name="矩形 22">
            <a:extLst>
              <a:ext uri="{FF2B5EF4-FFF2-40B4-BE49-F238E27FC236}">
                <a16:creationId xmlns:a16="http://schemas.microsoft.com/office/drawing/2014/main" id="{67C400F4-956C-1192-D4F2-CD7654D5E063}"/>
              </a:ext>
            </a:extLst>
          </p:cNvPr>
          <p:cNvSpPr/>
          <p:nvPr/>
        </p:nvSpPr>
        <p:spPr>
          <a:xfrm>
            <a:off x="2095120" y="93054"/>
            <a:ext cx="4085797" cy="461664"/>
          </a:xfrm>
          <a:prstGeom prst="rect">
            <a:avLst/>
          </a:prstGeom>
          <a:noFill/>
          <a:ln w="28575">
            <a:solidFill>
              <a:srgbClr val="1C3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rPr>
              <a:t>Material and Progress</a:t>
            </a:r>
            <a:endParaRPr kumimoji="0" lang="zh-CN" altLang="en-US" sz="1800" b="0" i="0" u="none" strike="noStrike" kern="1200" cap="none" spc="0" normalizeH="0" baseline="0" noProof="0" dirty="0">
              <a:ln>
                <a:noFill/>
              </a:ln>
              <a:solidFill>
                <a:schemeClr val="tx1"/>
              </a:solidFill>
              <a:effectLst/>
              <a:uLnTx/>
              <a:uFillTx/>
              <a:latin typeface="Eras Demi ITC" panose="020B0805030504020804" pitchFamily="34" charset="0"/>
              <a:ea typeface="思源黑体 CN Normal" panose="020B0400000000000000" pitchFamily="34" charset="-122"/>
            </a:endParaRPr>
          </a:p>
        </p:txBody>
      </p:sp>
      <p:sp>
        <p:nvSpPr>
          <p:cNvPr id="24" name="矩形 23">
            <a:extLst>
              <a:ext uri="{FF2B5EF4-FFF2-40B4-BE49-F238E27FC236}">
                <a16:creationId xmlns:a16="http://schemas.microsoft.com/office/drawing/2014/main" id="{E35328C5-26B7-C4DB-B573-2E9DC8B752BB}"/>
              </a:ext>
            </a:extLst>
          </p:cNvPr>
          <p:cNvSpPr/>
          <p:nvPr/>
        </p:nvSpPr>
        <p:spPr>
          <a:xfrm>
            <a:off x="0" y="93053"/>
            <a:ext cx="2095120" cy="461665"/>
          </a:xfrm>
          <a:prstGeom prst="rect">
            <a:avLst/>
          </a:prstGeom>
          <a:solidFill>
            <a:srgbClr val="1C3F62"/>
          </a:solidFill>
          <a:ln w="28575">
            <a:solidFill>
              <a:srgbClr val="1C3F6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rPr>
              <a:t>Cost</a:t>
            </a:r>
            <a:endParaRPr kumimoji="0" lang="zh-CN" altLang="en-US" sz="2400" b="1" i="0" u="none" strike="noStrike" kern="1200" cap="none" spc="0" normalizeH="0" baseline="0" noProof="0" dirty="0">
              <a:ln>
                <a:noFill/>
              </a:ln>
              <a:solidFill>
                <a:prstClr val="white"/>
              </a:solidFill>
              <a:effectLst/>
              <a:uLnTx/>
              <a:uFillTx/>
              <a:latin typeface="Eras Demi ITC" panose="020B0805030504020804" pitchFamily="34" charset="0"/>
              <a:ea typeface="思源黑体 CN Bold" panose="020B0800000000000000" pitchFamily="34" charset="-122"/>
              <a:cs typeface="Open Sans" panose="020B0606030504020204" pitchFamily="34" charset="0"/>
            </a:endParaRPr>
          </a:p>
        </p:txBody>
      </p:sp>
      <p:graphicFrame>
        <p:nvGraphicFramePr>
          <p:cNvPr id="27" name="表格 26">
            <a:extLst>
              <a:ext uri="{FF2B5EF4-FFF2-40B4-BE49-F238E27FC236}">
                <a16:creationId xmlns:a16="http://schemas.microsoft.com/office/drawing/2014/main" id="{9881B0AD-1495-A4E6-F2CC-5F4C1BE8776C}"/>
              </a:ext>
            </a:extLst>
          </p:cNvPr>
          <p:cNvGraphicFramePr>
            <a:graphicFrameLocks noGrp="1"/>
          </p:cNvGraphicFramePr>
          <p:nvPr>
            <p:extLst>
              <p:ext uri="{D42A27DB-BD31-4B8C-83A1-F6EECF244321}">
                <p14:modId xmlns:p14="http://schemas.microsoft.com/office/powerpoint/2010/main" val="3788105093"/>
              </p:ext>
            </p:extLst>
          </p:nvPr>
        </p:nvGraphicFramePr>
        <p:xfrm>
          <a:off x="124919" y="720944"/>
          <a:ext cx="6565655" cy="5494675"/>
        </p:xfrm>
        <a:graphic>
          <a:graphicData uri="http://schemas.openxmlformats.org/drawingml/2006/table">
            <a:tbl>
              <a:tblPr>
                <a:tableStyleId>{5C22544A-7EE6-4342-B048-85BDC9FD1C3A}</a:tableStyleId>
              </a:tblPr>
              <a:tblGrid>
                <a:gridCol w="818535">
                  <a:extLst>
                    <a:ext uri="{9D8B030D-6E8A-4147-A177-3AD203B41FA5}">
                      <a16:colId xmlns:a16="http://schemas.microsoft.com/office/drawing/2014/main" val="1312982672"/>
                    </a:ext>
                  </a:extLst>
                </a:gridCol>
                <a:gridCol w="1923091">
                  <a:extLst>
                    <a:ext uri="{9D8B030D-6E8A-4147-A177-3AD203B41FA5}">
                      <a16:colId xmlns:a16="http://schemas.microsoft.com/office/drawing/2014/main" val="2279809333"/>
                    </a:ext>
                  </a:extLst>
                </a:gridCol>
                <a:gridCol w="1156814">
                  <a:extLst>
                    <a:ext uri="{9D8B030D-6E8A-4147-A177-3AD203B41FA5}">
                      <a16:colId xmlns:a16="http://schemas.microsoft.com/office/drawing/2014/main" val="4216173525"/>
                    </a:ext>
                  </a:extLst>
                </a:gridCol>
                <a:gridCol w="831273">
                  <a:extLst>
                    <a:ext uri="{9D8B030D-6E8A-4147-A177-3AD203B41FA5}">
                      <a16:colId xmlns:a16="http://schemas.microsoft.com/office/drawing/2014/main" val="1064946901"/>
                    </a:ext>
                  </a:extLst>
                </a:gridCol>
                <a:gridCol w="1835942">
                  <a:extLst>
                    <a:ext uri="{9D8B030D-6E8A-4147-A177-3AD203B41FA5}">
                      <a16:colId xmlns:a16="http://schemas.microsoft.com/office/drawing/2014/main" val="2732220978"/>
                    </a:ext>
                  </a:extLst>
                </a:gridCol>
              </a:tblGrid>
              <a:tr h="278379">
                <a:tc gridSpan="2">
                  <a:txBody>
                    <a:bodyPr/>
                    <a:lstStyle/>
                    <a:p>
                      <a:pPr algn="ctr" fontAlgn="ctr"/>
                      <a:r>
                        <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rPr>
                        <a:t>C</a:t>
                      </a:r>
                      <a:r>
                        <a:rPr lang="en-US" altLang="zh-CN"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rPr>
                        <a:t>omponents</a:t>
                      </a:r>
                      <a:endPar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4443" marR="4443" marT="4443"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dirty="0"/>
                    </a:p>
                  </a:txBody>
                  <a:tcPr marL="4443" marR="4443" marT="4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rPr>
                        <a:t>Cost</a:t>
                      </a:r>
                    </a:p>
                  </a:txBody>
                  <a:tcPr marL="4443" marR="4443" marT="4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ctr"/>
                      <a:r>
                        <a:rPr lang="en-US" sz="1800" b="1" u="none" strike="noStrike" dirty="0">
                          <a:solidFill>
                            <a:sysClr val="windowText" lastClr="000000"/>
                          </a:solidFill>
                          <a:effectLst/>
                          <a:latin typeface="Times New Roman" panose="02020603050405020304" pitchFamily="18" charset="0"/>
                          <a:cs typeface="Times New Roman" panose="02020603050405020304" pitchFamily="18" charset="0"/>
                        </a:rPr>
                        <a:t>Ratio</a:t>
                      </a:r>
                      <a:endPar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4443" marR="4443" marT="4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ctr"/>
                      <a:r>
                        <a:rPr lang="en-US" sz="1800" b="1" u="none" strike="noStrike" dirty="0" err="1">
                          <a:solidFill>
                            <a:sysClr val="windowText" lastClr="000000"/>
                          </a:solidFill>
                          <a:effectLst/>
                          <a:latin typeface="Times New Roman" panose="02020603050405020304" pitchFamily="18" charset="0"/>
                          <a:cs typeface="Times New Roman" panose="02020603050405020304" pitchFamily="18" charset="0"/>
                        </a:rPr>
                        <a:t>Satus</a:t>
                      </a:r>
                      <a:endParaRPr lang="en-US" sz="1800" b="1" i="0" u="none" strike="noStrike" dirty="0">
                        <a:solidFill>
                          <a:sysClr val="windowText" lastClr="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4443" marR="4443" marT="4443"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3958479"/>
                  </a:ext>
                </a:extLst>
              </a:tr>
              <a:tr h="327751">
                <a:tc rowSpan="5">
                  <a:txBody>
                    <a:bodyPr/>
                    <a:lstStyle/>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endPar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Finger</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Thumb</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36.41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1.66%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2003304542"/>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Index</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50.68</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2.31%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445087867"/>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Middle</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81.34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3.71%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848557562"/>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Ring</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48.41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2.21%</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88358228"/>
                  </a:ext>
                </a:extLst>
              </a:tr>
              <a:tr h="327751">
                <a:tc vMerge="1">
                  <a:txBody>
                    <a:bodyPr/>
                    <a:lstStyle/>
                    <a:p>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Little</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50.77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2.32%</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665822985"/>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Wrist</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102.67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4.67%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768316687"/>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Forearm</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45.05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2.06%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45327300"/>
                  </a:ext>
                </a:extLst>
              </a:tr>
              <a:tr h="3277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Forearm</a:t>
                      </a:r>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Shell</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313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14.29%</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4064533338"/>
                  </a:ext>
                </a:extLst>
              </a:tr>
              <a:tr h="327751">
                <a:tc gridSpan="2">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tendon-spools</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1.55%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745708517"/>
                  </a:ext>
                </a:extLst>
              </a:tr>
              <a:tr h="327751">
                <a:tc gridSpan="2">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Arduino Nano RP2040 Connect</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1*200=200</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9.13%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449084752"/>
                  </a:ext>
                </a:extLst>
              </a:tr>
              <a:tr h="292482">
                <a:tc gridSpan="2">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ES3301 Servo</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16*26.1=417.6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19.07%</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2418060421"/>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FEETECH SCS2332</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2*148=296</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13.52%</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662421154"/>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FEETECH SCS15</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1*83=83</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3.79%</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989154257"/>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Fishing line No. 8 </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1*88.4=88.4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4.04%</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2867476057"/>
                  </a:ext>
                </a:extLst>
              </a:tr>
              <a:tr h="27394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Other</a:t>
                      </a:r>
                      <a:r>
                        <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(See the BOM table for details)</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142.38</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6.50%</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rgbClr val="FFFFFF"/>
                          </a:solidFill>
                          <a:effectLst/>
                          <a:latin typeface="Times New Roman" panose="02020603050405020304" pitchFamily="18" charset="0"/>
                          <a:ea typeface="+mn-ea"/>
                          <a:cs typeface="Times New Roman" panose="02020603050405020304" pitchFamily="18" charset="0"/>
                        </a:rPr>
                        <a:t>Purchased</a:t>
                      </a:r>
                      <a:endParaRPr lang="zh-CN" altLang="en-US" sz="1200" u="none" strike="noStrike" kern="1200" dirty="0">
                        <a:solidFill>
                          <a:srgbClr val="FFFFFF"/>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extLst>
                  <a:ext uri="{0D108BD9-81ED-4DB2-BD59-A6C34878D82A}">
                    <a16:rowId xmlns:a16="http://schemas.microsoft.com/office/drawing/2014/main" val="1096829257"/>
                  </a:ext>
                </a:extLst>
              </a:tr>
              <a:tr h="142955">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0" u="none" strike="noStrike" kern="1200" dirty="0">
                          <a:solidFill>
                            <a:srgbClr val="FF0000"/>
                          </a:solidFill>
                          <a:effectLst/>
                          <a:latin typeface="Times New Roman" panose="02020603050405020304" pitchFamily="18" charset="0"/>
                          <a:ea typeface="+mn-ea"/>
                          <a:cs typeface="Times New Roman" panose="02020603050405020304" pitchFamily="18" charset="0"/>
                        </a:rPr>
                        <a:t>Additional Materials (</a:t>
                      </a:r>
                      <a:r>
                        <a:rPr lang="en-US" altLang="zh-CN" sz="1200" b="0" dirty="0">
                          <a:solidFill>
                            <a:srgbClr val="FF0000"/>
                          </a:solidFill>
                          <a:latin typeface="Times New Roman" panose="02020603050405020304" pitchFamily="18" charset="0"/>
                          <a:cs typeface="Times New Roman" panose="02020603050405020304" pitchFamily="18" charset="0"/>
                        </a:rPr>
                        <a:t>Outside </a:t>
                      </a:r>
                      <a:r>
                        <a:rPr lang="en-US" altLang="zh-CN" sz="1200" b="0" u="none" strike="noStrike" kern="1200" dirty="0">
                          <a:solidFill>
                            <a:srgbClr val="FF0000"/>
                          </a:solidFill>
                          <a:effectLst/>
                          <a:latin typeface="Times New Roman" panose="02020603050405020304" pitchFamily="18" charset="0"/>
                          <a:ea typeface="+mn-ea"/>
                          <a:cs typeface="Times New Roman" panose="02020603050405020304" pitchFamily="18" charset="0"/>
                        </a:rPr>
                        <a:t>the BOM)</a:t>
                      </a:r>
                      <a:endParaRPr lang="zh-CN" altLang="en-US" sz="1200" b="0" u="none" strike="noStrike" kern="1200" dirty="0">
                        <a:solidFill>
                          <a:srgbClr val="FF0000"/>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a:solidFill>
                            <a:srgbClr val="FF0000"/>
                          </a:solidFill>
                          <a:latin typeface="Times New Roman" panose="02020603050405020304" pitchFamily="18" charset="0"/>
                          <a:cs typeface="Times New Roman" panose="02020603050405020304" pitchFamily="18" charset="0"/>
                        </a:rPr>
                        <a:t>About 200</a:t>
                      </a:r>
                      <a:endParaRPr lang="zh-CN" altLang="en-US" sz="12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b="0" u="none" strike="noStrike" kern="1200" dirty="0">
                          <a:solidFill>
                            <a:srgbClr val="FF0000"/>
                          </a:solidFill>
                          <a:effectLst/>
                          <a:latin typeface="Times New Roman" panose="02020603050405020304" pitchFamily="18" charset="0"/>
                          <a:ea typeface="+mn-ea"/>
                          <a:cs typeface="Times New Roman" panose="02020603050405020304" pitchFamily="18" charset="0"/>
                        </a:rPr>
                        <a:t>9.13%</a:t>
                      </a:r>
                      <a:endParaRPr lang="zh-CN" altLang="en-US" sz="1200" b="0" u="none" strike="noStrike" kern="1200" dirty="0">
                        <a:solidFill>
                          <a:srgbClr val="FF0000"/>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0" dirty="0">
                          <a:solidFill>
                            <a:srgbClr val="FF0000"/>
                          </a:solidFill>
                          <a:latin typeface="Times New Roman" panose="02020603050405020304" pitchFamily="18" charset="0"/>
                          <a:cs typeface="Times New Roman" panose="02020603050405020304" pitchFamily="18" charset="0"/>
                        </a:rPr>
                        <a:t>In Preparation</a:t>
                      </a:r>
                      <a:endParaRPr lang="zh-CN" altLang="en-US" sz="1200" b="0" u="none" strike="noStrike" kern="1200" dirty="0">
                        <a:solidFill>
                          <a:srgbClr val="FF0000"/>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165709"/>
                  </a:ext>
                </a:extLst>
              </a:tr>
              <a:tr h="163876">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Total</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tc>
                <a:tc>
                  <a:txBody>
                    <a:bodyPr/>
                    <a:lstStyle/>
                    <a:p>
                      <a:pPr algn="ctr"/>
                      <a:r>
                        <a:rPr lang="en-US" altLang="zh-CN" sz="1200" dirty="0">
                          <a:latin typeface="Times New Roman" panose="02020603050405020304" pitchFamily="18" charset="0"/>
                          <a:cs typeface="Times New Roman" panose="02020603050405020304" pitchFamily="18" charset="0"/>
                        </a:rPr>
                        <a:t>1989.71+200</a:t>
                      </a:r>
                      <a:endParaRPr lang="zh-CN" altLang="en-US"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r>
                        <a:rPr lang="en-US" altLang="zh-CN" sz="1200" u="none" strike="noStrike" kern="1200" dirty="0">
                          <a:solidFill>
                            <a:schemeClr val="dk1"/>
                          </a:solidFill>
                          <a:effectLst/>
                          <a:latin typeface="Times New Roman" panose="02020603050405020304" pitchFamily="18" charset="0"/>
                          <a:ea typeface="+mn-ea"/>
                          <a:cs typeface="Times New Roman" panose="02020603050405020304" pitchFamily="18" charset="0"/>
                        </a:rPr>
                        <a:t>100%</a:t>
                      </a:r>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endParaRPr lang="zh-CN" altLang="en-US" sz="12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0041136"/>
                  </a:ext>
                </a:extLst>
              </a:tr>
            </a:tbl>
          </a:graphicData>
        </a:graphic>
      </p:graphicFrame>
      <p:sp>
        <p:nvSpPr>
          <p:cNvPr id="28" name="矩形 27">
            <a:extLst>
              <a:ext uri="{FF2B5EF4-FFF2-40B4-BE49-F238E27FC236}">
                <a16:creationId xmlns:a16="http://schemas.microsoft.com/office/drawing/2014/main" id="{E7669ACB-6108-FA26-D71B-3EFACFA4F766}"/>
              </a:ext>
            </a:extLst>
          </p:cNvPr>
          <p:cNvSpPr/>
          <p:nvPr/>
        </p:nvSpPr>
        <p:spPr>
          <a:xfrm>
            <a:off x="124920" y="720944"/>
            <a:ext cx="6565655" cy="6137056"/>
          </a:xfrm>
          <a:prstGeom prst="rect">
            <a:avLst/>
          </a:prstGeom>
          <a:noFill/>
          <a:ln w="38100">
            <a:solidFill>
              <a:srgbClr val="1C3F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F1A5E104-1ED4-B03A-3543-A612C4FE51E5}"/>
              </a:ext>
            </a:extLst>
          </p:cNvPr>
          <p:cNvPicPr>
            <a:picLocks noChangeAspect="1"/>
          </p:cNvPicPr>
          <p:nvPr/>
        </p:nvPicPr>
        <p:blipFill>
          <a:blip r:embed="rId4"/>
          <a:stretch>
            <a:fillRect/>
          </a:stretch>
        </p:blipFill>
        <p:spPr>
          <a:xfrm>
            <a:off x="6359331" y="1670705"/>
            <a:ext cx="6469417" cy="3924073"/>
          </a:xfrm>
          <a:prstGeom prst="rect">
            <a:avLst/>
          </a:prstGeom>
        </p:spPr>
      </p:pic>
    </p:spTree>
    <p:extLst>
      <p:ext uri="{BB962C8B-B14F-4D97-AF65-F5344CB8AC3E}">
        <p14:creationId xmlns:p14="http://schemas.microsoft.com/office/powerpoint/2010/main" val="2949454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4F81579-2E1D-CBF7-6867-BB6C5477B56F}"/>
              </a:ext>
            </a:extLst>
          </p:cNvPr>
          <p:cNvSpPr/>
          <p:nvPr/>
        </p:nvSpPr>
        <p:spPr>
          <a:xfrm>
            <a:off x="0" y="0"/>
            <a:ext cx="12192000" cy="6858000"/>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pic>
        <p:nvPicPr>
          <p:cNvPr id="6" name="图片 5">
            <a:extLst>
              <a:ext uri="{FF2B5EF4-FFF2-40B4-BE49-F238E27FC236}">
                <a16:creationId xmlns:a16="http://schemas.microsoft.com/office/drawing/2014/main" id="{867B1FEC-B703-91B4-9974-B971068CE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826" y="0"/>
            <a:ext cx="9074717" cy="6803378"/>
          </a:xfrm>
          <a:prstGeom prst="rect">
            <a:avLst/>
          </a:prstGeom>
        </p:spPr>
      </p:pic>
      <p:sp>
        <p:nvSpPr>
          <p:cNvPr id="2" name="灯片编号占位符 1">
            <a:extLst>
              <a:ext uri="{FF2B5EF4-FFF2-40B4-BE49-F238E27FC236}">
                <a16:creationId xmlns:a16="http://schemas.microsoft.com/office/drawing/2014/main" id="{D456C875-0639-E55F-5F62-8D9D11E93DAF}"/>
              </a:ext>
            </a:extLst>
          </p:cNvPr>
          <p:cNvSpPr>
            <a:spLocks noGrp="1"/>
          </p:cNvSpPr>
          <p:nvPr>
            <p:ph type="sldNum" sz="quarter" idx="12"/>
          </p:nvPr>
        </p:nvSpPr>
        <p:spPr>
          <a:xfrm>
            <a:off x="9447943" y="6487186"/>
            <a:ext cx="2743200" cy="365125"/>
          </a:xfrm>
        </p:spPr>
        <p:txBody>
          <a:bodyPr/>
          <a:lstStyle/>
          <a:p>
            <a:fld id="{B902579E-E4E5-4A9F-9BB8-B4A9B8D6FEA4}" type="slidenum">
              <a:rPr lang="zh-CN" altLang="en-US" smtClean="0">
                <a:latin typeface="Times New Roman" panose="02020603050405020304" pitchFamily="18" charset="0"/>
                <a:cs typeface="Times New Roman" panose="02020603050405020304" pitchFamily="18" charset="0"/>
              </a:rPr>
              <a:t>9</a:t>
            </a:fld>
            <a:endParaRPr lang="zh-CN" altLang="en-US" dirty="0">
              <a:latin typeface="Times New Roman" panose="02020603050405020304" pitchFamily="18" charset="0"/>
              <a:cs typeface="Times New Roman" panose="02020603050405020304" pitchFamily="18" charset="0"/>
            </a:endParaRPr>
          </a:p>
        </p:txBody>
      </p:sp>
      <p:pic>
        <p:nvPicPr>
          <p:cNvPr id="9" name="Picture 4" descr="院长寄语 | 香港中文大学(深圳)金融EMBA">
            <a:extLst>
              <a:ext uri="{FF2B5EF4-FFF2-40B4-BE49-F238E27FC236}">
                <a16:creationId xmlns:a16="http://schemas.microsoft.com/office/drawing/2014/main" id="{FF92A82D-99B3-7478-950A-F26186CCFA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576" y="-62498"/>
            <a:ext cx="4155247" cy="835107"/>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C7A3F6BA-918F-4C2A-216A-234F9B28191B}"/>
              </a:ext>
            </a:extLst>
          </p:cNvPr>
          <p:cNvSpPr txBox="1"/>
          <p:nvPr/>
        </p:nvSpPr>
        <p:spPr>
          <a:xfrm>
            <a:off x="724620" y="2040985"/>
            <a:ext cx="10742759"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u="none" strike="noStrike" kern="1200" cap="none" spc="0" normalizeH="0" baseline="0" noProof="0" dirty="0">
                <a:ln>
                  <a:noFill/>
                </a:ln>
                <a:effectLst/>
                <a:uLnTx/>
                <a:uFillTx/>
                <a:latin typeface="Eras Demi ITC" panose="020B0805030504020804" pitchFamily="34" charset="0"/>
                <a:ea typeface="阿里巴巴普惠体 2.0 95 ExtraBold" panose="00020600040101010101" pitchFamily="18" charset="-122"/>
                <a:cs typeface="阿里巴巴普惠体 2.0 95 ExtraBold" panose="00020600040101010101" pitchFamily="18" charset="-122"/>
              </a:rPr>
              <a:t>Thank you for listening!</a:t>
            </a:r>
            <a:endParaRPr kumimoji="0" lang="zh-CN" altLang="en-US" sz="6000" b="1" u="none" strike="noStrike" kern="1200" cap="none" spc="0" normalizeH="0" baseline="0" noProof="0" dirty="0">
              <a:ln>
                <a:noFill/>
              </a:ln>
              <a:effectLst/>
              <a:uLnTx/>
              <a:uFillTx/>
              <a:latin typeface="Eras Demi ITC" panose="020B0805030504020804" pitchFamily="34" charset="0"/>
              <a:ea typeface="阿里巴巴普惠体 2.0 95 ExtraBold" panose="00020600040101010101" pitchFamily="18" charset="-122"/>
              <a:cs typeface="阿里巴巴普惠体 2.0 95 ExtraBold" panose="00020600040101010101" pitchFamily="18" charset="-122"/>
            </a:endParaRPr>
          </a:p>
        </p:txBody>
      </p:sp>
      <p:sp>
        <p:nvSpPr>
          <p:cNvPr id="14" name="文本框 13">
            <a:extLst>
              <a:ext uri="{FF2B5EF4-FFF2-40B4-BE49-F238E27FC236}">
                <a16:creationId xmlns:a16="http://schemas.microsoft.com/office/drawing/2014/main" id="{209F2D71-5ECA-AF9F-5A53-FC13CF1EA2C1}"/>
              </a:ext>
            </a:extLst>
          </p:cNvPr>
          <p:cNvSpPr txBox="1"/>
          <p:nvPr/>
        </p:nvSpPr>
        <p:spPr>
          <a:xfrm>
            <a:off x="1994039" y="5959101"/>
            <a:ext cx="85612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effectLst/>
                <a:uLnTx/>
                <a:uFillTx/>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Team Members: </a:t>
            </a:r>
            <a:r>
              <a:rPr lang="en-US" altLang="zh-CN" b="1" dirty="0">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Jincheng Tian, </a:t>
            </a:r>
            <a:r>
              <a:rPr lang="en-US" altLang="zh-CN" b="1" dirty="0" err="1">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GuangTian</a:t>
            </a:r>
            <a:r>
              <a:rPr lang="en-US" altLang="zh-CN" b="1" dirty="0">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Liu, </a:t>
            </a:r>
            <a:r>
              <a:rPr lang="en-US" altLang="zh-CN" b="1" dirty="0" err="1">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ZhongHao</a:t>
            </a:r>
            <a:r>
              <a:rPr lang="en-US" altLang="zh-CN" b="1" dirty="0">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rPr>
              <a:t> Zhao</a:t>
            </a:r>
            <a:endParaRPr lang="en-US" altLang="zh-CN" sz="1800" dirty="0">
              <a:latin typeface="Eras Demi ITC" panose="020B0805030504020804" pitchFamily="34" charset="0"/>
              <a:ea typeface="阿里巴巴普惠体 2.0 55 Regular" panose="00020600040101010101" pitchFamily="18" charset="-122"/>
              <a:cs typeface="阿里巴巴普惠体 2.0 55 Regular" panose="00020600040101010101" pitchFamily="18" charset="-122"/>
            </a:endParaRPr>
          </a:p>
        </p:txBody>
      </p:sp>
      <p:sp>
        <p:nvSpPr>
          <p:cNvPr id="15" name="文本框 14">
            <a:extLst>
              <a:ext uri="{FF2B5EF4-FFF2-40B4-BE49-F238E27FC236}">
                <a16:creationId xmlns:a16="http://schemas.microsoft.com/office/drawing/2014/main" id="{E7176DCC-5627-35A7-3A1D-FC93F90B3BBA}"/>
              </a:ext>
            </a:extLst>
          </p:cNvPr>
          <p:cNvSpPr txBox="1"/>
          <p:nvPr/>
        </p:nvSpPr>
        <p:spPr>
          <a:xfrm>
            <a:off x="2838334" y="6328433"/>
            <a:ext cx="6111024" cy="369332"/>
          </a:xfrm>
          <a:prstGeom prst="rect">
            <a:avLst/>
          </a:prstGeom>
          <a:noFill/>
        </p:spPr>
        <p:txBody>
          <a:bodyPr wrap="square">
            <a:spAutoFit/>
          </a:bodyPr>
          <a:lstStyle/>
          <a:p>
            <a:pPr lvl="0" algn="ctr">
              <a:defRPr/>
            </a:pPr>
            <a:r>
              <a:rPr lang="en-US" altLang="zh-CN" dirty="0">
                <a:latin typeface="Times New Roman" panose="02020603050405020304" pitchFamily="18" charset="0"/>
                <a:cs typeface="Times New Roman" panose="02020603050405020304" pitchFamily="18" charset="0"/>
              </a:rPr>
              <a:t>2026/4/10</a:t>
            </a:r>
            <a:endParaRPr kumimoji="0" lang="zh-CN" altLang="en-US" i="0" u="none" strike="noStrike" kern="1200" cap="none" spc="0" normalizeH="0" baseline="0" noProof="0" dirty="0">
              <a:ln>
                <a:noFill/>
              </a:ln>
              <a:effectLst/>
              <a:uLnTx/>
              <a:uFillTx/>
              <a:latin typeface="Times New Roman" panose="02020603050405020304" pitchFamily="18" charset="0"/>
              <a:ea typeface="阿里巴巴普惠体 2.0 55 Regular" panose="00020600040101010101" pitchFamily="18"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1470</Words>
  <Application>Microsoft Office PowerPoint</Application>
  <PresentationFormat>宽屏</PresentationFormat>
  <Paragraphs>230</Paragraphs>
  <Slides>9</Slides>
  <Notes>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阿里巴巴普惠体 2.0 75 SemiBold</vt:lpstr>
      <vt:lpstr>等线</vt:lpstr>
      <vt:lpstr>等线 Light</vt:lpstr>
      <vt:lpstr>Arial</vt:lpstr>
      <vt:lpstr>Eras Demi ITC</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Jincheng Tian (SSE,225015075)</dc:creator>
  <cp:lastModifiedBy>广天 刘</cp:lastModifiedBy>
  <cp:revision>32</cp:revision>
  <dcterms:created xsi:type="dcterms:W3CDTF">2026-04-10T01:44:34Z</dcterms:created>
  <dcterms:modified xsi:type="dcterms:W3CDTF">2026-04-10T08:18:04Z</dcterms:modified>
</cp:coreProperties>
</file>